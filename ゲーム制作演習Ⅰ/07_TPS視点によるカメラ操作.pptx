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4" r:id="rId2"/>
    <p:sldId id="263" r:id="rId3"/>
    <p:sldId id="534" r:id="rId4"/>
    <p:sldId id="535" r:id="rId5"/>
    <p:sldId id="536" r:id="rId6"/>
    <p:sldId id="539" r:id="rId7"/>
    <p:sldId id="540" r:id="rId8"/>
    <p:sldId id="480" r:id="rId9"/>
    <p:sldId id="526" r:id="rId10"/>
    <p:sldId id="531" r:id="rId11"/>
    <p:sldId id="532" r:id="rId12"/>
    <p:sldId id="533" r:id="rId13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0000"/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70" d="100"/>
          <a:sy n="70" d="100"/>
        </p:scale>
        <p:origin x="43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2026/4/27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615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48749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0863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92465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TPS</a:t>
            </a: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視点のカメラ操作が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できるようになる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7 TPS</a:t>
            </a:r>
            <a:r>
              <a:rPr lang="ja-JP" altLang="en-US" dirty="0"/>
              <a:t>視点によるカメラ操作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520699" y="1938411"/>
            <a:ext cx="795337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ゲーム制作時に使用頻度が高いのは、</a:t>
            </a:r>
            <a:r>
              <a:rPr lang="en-US" altLang="ja-JP" sz="2263" b="1" dirty="0"/>
              <a:t>TPS</a:t>
            </a:r>
            <a:r>
              <a:rPr lang="ja-JP" altLang="en-US" sz="2263" b="1" dirty="0"/>
              <a:t>のカメラ操作となる。</a:t>
            </a:r>
            <a:endParaRPr lang="en-US" altLang="ja-JP" sz="2263" b="1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[TPS</a:t>
            </a:r>
            <a:r>
              <a:rPr lang="ja-JP" altLang="en-US" sz="2263" b="1" dirty="0"/>
              <a:t>視点のカメラ操作を行うために</a:t>
            </a:r>
            <a:r>
              <a:rPr lang="en-US" altLang="ja-JP" sz="2263" b="1" dirty="0"/>
              <a:t>]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691" y="2673085"/>
            <a:ext cx="3810000" cy="2143125"/>
          </a:xfrm>
          <a:prstGeom prst="rect">
            <a:avLst/>
          </a:prstGeom>
        </p:spPr>
      </p:pic>
      <p:sp>
        <p:nvSpPr>
          <p:cNvPr id="4" name="円/楕円 3"/>
          <p:cNvSpPr/>
          <p:nvPr/>
        </p:nvSpPr>
        <p:spPr>
          <a:xfrm>
            <a:off x="5652120" y="3284984"/>
            <a:ext cx="1099571" cy="172819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右矢印 5"/>
          <p:cNvSpPr/>
          <p:nvPr/>
        </p:nvSpPr>
        <p:spPr>
          <a:xfrm>
            <a:off x="3995936" y="3744647"/>
            <a:ext cx="1440160" cy="692465"/>
          </a:xfrm>
          <a:prstGeom prst="rightArrow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320923" y="3509060"/>
            <a:ext cx="3458630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プレイヤーの後ろに</a:t>
            </a:r>
            <a:br>
              <a:rPr lang="en-US" altLang="ja-JP" sz="2263" b="1" dirty="0"/>
            </a:br>
            <a:r>
              <a:rPr lang="ja-JP" altLang="en-US" sz="2263" b="1" dirty="0"/>
              <a:t>カメラがついてくるような</a:t>
            </a:r>
            <a:br>
              <a:rPr lang="en-US" altLang="ja-JP" sz="2263" b="1" dirty="0"/>
            </a:br>
            <a:r>
              <a:rPr lang="ja-JP" altLang="en-US" sz="2263" b="1" dirty="0"/>
              <a:t>動作のもの。</a:t>
            </a:r>
            <a:endParaRPr lang="en-US" altLang="ja-JP" sz="2263" b="1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694968" y="5259761"/>
            <a:ext cx="7953375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最近のゲームでは、プレイヤーが快適に遊べるように様々な</a:t>
            </a:r>
            <a:br>
              <a:rPr lang="en-US" altLang="ja-JP" sz="2263" b="1" dirty="0"/>
            </a:br>
            <a:r>
              <a:rPr lang="ja-JP" altLang="en-US" sz="2263" b="1" dirty="0"/>
              <a:t>工夫が取り込まれているが、その分制作難易度も高い。</a:t>
            </a:r>
            <a:br>
              <a:rPr lang="en-US" altLang="ja-JP" sz="2263" b="1" dirty="0"/>
            </a:br>
            <a:r>
              <a:rPr lang="ja-JP" altLang="en-US" sz="2263" b="1" dirty="0"/>
              <a:t>まずは、</a:t>
            </a:r>
            <a:r>
              <a:rPr lang="ja-JP" altLang="en-US" sz="2263" b="1" dirty="0">
                <a:solidFill>
                  <a:srgbClr val="FF0000"/>
                </a:solidFill>
              </a:rPr>
              <a:t>プレイヤーの後ろを追従するだけ</a:t>
            </a:r>
            <a:r>
              <a:rPr lang="ja-JP" altLang="en-US" sz="2263" b="1" dirty="0"/>
              <a:t>の、</a:t>
            </a:r>
            <a:br>
              <a:rPr lang="en-US" altLang="ja-JP" sz="2263" b="1" dirty="0"/>
            </a:br>
            <a:r>
              <a:rPr lang="ja-JP" altLang="en-US" sz="2263" b="1" dirty="0"/>
              <a:t>簡単仕様のカメラを作成していく。</a:t>
            </a:r>
            <a:endParaRPr lang="en-US" altLang="ja-JP" sz="2263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B6CCCF34-2BE3-4A4A-92AB-BF8FED98E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922" y="1392451"/>
            <a:ext cx="3251566" cy="2613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279844" y="237345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カメラのクラス化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677917"/>
            <a:ext cx="82525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前回同様、カメラ用の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とヘッダーをまずは用意する。</a:t>
            </a:r>
            <a:endParaRPr lang="en-US" altLang="ja-JP" sz="2263" b="1" dirty="0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755576" y="1694064"/>
            <a:ext cx="4527433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①カメラ用のフォルダを作成し、</a:t>
            </a:r>
            <a:br>
              <a:rPr lang="en-US" altLang="ja-JP" sz="2263" b="1" dirty="0"/>
            </a:br>
            <a:r>
              <a:rPr lang="ja-JP" altLang="en-US" sz="2263" b="1" dirty="0"/>
              <a:t>　 ゲーム中の操作カメラをまとめる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/>
              <a:t>MainCamera.cpp/.h</a:t>
            </a:r>
            <a:r>
              <a:rPr lang="ja-JP" altLang="en-US" sz="2263" b="1" dirty="0"/>
              <a:t>を入れる。</a:t>
            </a:r>
            <a:endParaRPr lang="en-US" altLang="ja-JP" sz="2263" b="1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46" y="3192929"/>
            <a:ext cx="1344542" cy="1539552"/>
          </a:xfrm>
          <a:prstGeom prst="rect">
            <a:avLst/>
          </a:prstGeom>
        </p:spPr>
      </p:pic>
      <p:sp>
        <p:nvSpPr>
          <p:cNvPr id="10" name="角丸四角形吹き出し 9"/>
          <p:cNvSpPr/>
          <p:nvPr/>
        </p:nvSpPr>
        <p:spPr>
          <a:xfrm>
            <a:off x="2147571" y="3386641"/>
            <a:ext cx="3391467" cy="1152128"/>
          </a:xfrm>
          <a:prstGeom prst="wedgeRoundRectCallout">
            <a:avLst>
              <a:gd name="adj1" fmla="val -60995"/>
              <a:gd name="adj2" fmla="val 11602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「ゲーム中のカメラ用」って、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これ他にもカメラが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存在するの</a:t>
            </a:r>
            <a:r>
              <a:rPr lang="en-US" altLang="ja-JP" sz="2000" b="1" dirty="0">
                <a:latin typeface="ＭＳ Ｐゴシック"/>
              </a:rPr>
              <a:t>?</a:t>
            </a:r>
            <a:endParaRPr lang="ja-JP" altLang="en-US" sz="2000" b="1" dirty="0">
              <a:latin typeface="ＭＳ Ｐゴシック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64" y="5015280"/>
            <a:ext cx="1317174" cy="1718053"/>
          </a:xfrm>
          <a:prstGeom prst="rect">
            <a:avLst/>
          </a:prstGeom>
        </p:spPr>
      </p:pic>
      <p:sp>
        <p:nvSpPr>
          <p:cNvPr id="13" name="角丸四角形吹き出し 12"/>
          <p:cNvSpPr/>
          <p:nvPr/>
        </p:nvSpPr>
        <p:spPr>
          <a:xfrm>
            <a:off x="1083078" y="5395786"/>
            <a:ext cx="5688632" cy="1152128"/>
          </a:xfrm>
          <a:prstGeom prst="wedgeRoundRectCallout">
            <a:avLst>
              <a:gd name="adj1" fmla="val 58627"/>
              <a:gd name="adj2" fmla="val -3182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ゲーム中にも「特殊なイベント」の時は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カメラの動きが変わります。また、デバッグモード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などもカメラの動作が大きく変わりますね。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F71F2CF-C36D-4DA8-98F1-B1523CE0FDD1}"/>
              </a:ext>
            </a:extLst>
          </p:cNvPr>
          <p:cNvSpPr/>
          <p:nvPr/>
        </p:nvSpPr>
        <p:spPr>
          <a:xfrm>
            <a:off x="6776150" y="2858414"/>
            <a:ext cx="2188338" cy="8859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907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>
            <a:extLst>
              <a:ext uri="{FF2B5EF4-FFF2-40B4-BE49-F238E27FC236}">
                <a16:creationId xmlns:a16="http://schemas.microsoft.com/office/drawing/2014/main" id="{E7F28CD0-DD97-452C-B767-625CE6DAA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143497"/>
            <a:ext cx="5706271" cy="3381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28819" y="332656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②ヘッダーにクラスを作成し、必要なメンバ変数を追加する。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39C6D96-500A-457C-BB99-B3FD50CEF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58" y="773227"/>
            <a:ext cx="4127796" cy="1431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623041F-F2A5-42C2-9AB0-2CE7A1820453}"/>
              </a:ext>
            </a:extLst>
          </p:cNvPr>
          <p:cNvCxnSpPr>
            <a:cxnSpLocks/>
          </p:cNvCxnSpPr>
          <p:nvPr/>
        </p:nvCxnSpPr>
        <p:spPr>
          <a:xfrm>
            <a:off x="1259632" y="2158257"/>
            <a:ext cx="115212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22E834C8-783F-45A2-809D-6372E9469917}"/>
              </a:ext>
            </a:extLst>
          </p:cNvPr>
          <p:cNvCxnSpPr>
            <a:cxnSpLocks/>
          </p:cNvCxnSpPr>
          <p:nvPr/>
        </p:nvCxnSpPr>
        <p:spPr>
          <a:xfrm flipH="1">
            <a:off x="4914420" y="1196752"/>
            <a:ext cx="676073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9" name="Text Box 5">
            <a:extLst>
              <a:ext uri="{FF2B5EF4-FFF2-40B4-BE49-F238E27FC236}">
                <a16:creationId xmlns:a16="http://schemas.microsoft.com/office/drawing/2014/main" id="{848516D6-25D9-40C8-A849-137124BAC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6130" y="802349"/>
            <a:ext cx="3395870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0000FF"/>
                </a:solidFill>
              </a:rPr>
              <a:t>上方向を変更することは</a:t>
            </a:r>
            <a:br>
              <a:rPr lang="en-US" altLang="ja-JP" sz="2263" b="1" dirty="0">
                <a:solidFill>
                  <a:srgbClr val="0000FF"/>
                </a:solidFill>
              </a:rPr>
            </a:br>
            <a:r>
              <a:rPr lang="ja-JP" altLang="en-US" sz="2263" b="1" dirty="0">
                <a:solidFill>
                  <a:srgbClr val="0000FF"/>
                </a:solidFill>
              </a:rPr>
              <a:t>ほとんどない・・・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17045C0A-6997-477F-B945-A73BA4CBB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70" y="2628390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③カメラ情報のセット、更新に必要なメソッドを用意する。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1026" name="Picture 2" descr="数学者のイラスト">
            <a:extLst>
              <a:ext uri="{FF2B5EF4-FFF2-40B4-BE49-F238E27FC236}">
                <a16:creationId xmlns:a16="http://schemas.microsoft.com/office/drawing/2014/main" id="{A20B4391-0D57-452E-B2B8-7FF55F529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1620" y="5125883"/>
            <a:ext cx="1600774" cy="1744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角丸四角形吹き出し 12">
            <a:extLst>
              <a:ext uri="{FF2B5EF4-FFF2-40B4-BE49-F238E27FC236}">
                <a16:creationId xmlns:a16="http://schemas.microsoft.com/office/drawing/2014/main" id="{60A8FDC3-27F1-4DDA-B40C-15F0F2521B61}"/>
              </a:ext>
            </a:extLst>
          </p:cNvPr>
          <p:cNvSpPr/>
          <p:nvPr/>
        </p:nvSpPr>
        <p:spPr>
          <a:xfrm>
            <a:off x="5366963" y="3143497"/>
            <a:ext cx="3635896" cy="1744712"/>
          </a:xfrm>
          <a:prstGeom prst="wedgeRoundRectCallout">
            <a:avLst>
              <a:gd name="adj1" fmla="val 24860"/>
              <a:gd name="adj2" fmla="val 7399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データ読込や描画は基本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不要なのでありません。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の引数は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FF00FF"/>
                </a:solidFill>
                <a:latin typeface="ＭＳ Ｐゴシック"/>
              </a:rPr>
              <a:t>プレイヤーの座標</a:t>
            </a:r>
            <a:r>
              <a:rPr lang="ja-JP" altLang="en-US" sz="2000" b="1" dirty="0">
                <a:latin typeface="ＭＳ Ｐゴシック"/>
              </a:rPr>
              <a:t>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solidFill>
                  <a:srgbClr val="00B0F0"/>
                </a:solidFill>
                <a:latin typeface="ＭＳ Ｐゴシック"/>
              </a:rPr>
              <a:t>プレイヤーの角度</a:t>
            </a:r>
            <a:r>
              <a:rPr lang="ja-JP" altLang="en-US" sz="2000" b="1" dirty="0">
                <a:latin typeface="ＭＳ Ｐゴシック"/>
              </a:rPr>
              <a:t>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398843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30235C1-041D-43BD-B13C-2CACACF5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16" y="657528"/>
            <a:ext cx="5322568" cy="60923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6838B2AF-D912-488A-A3B1-CF9640F04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670" y="108110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④初期化周りのメソッドを作成していく。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2" name="角丸四角形吹き出し 12">
            <a:extLst>
              <a:ext uri="{FF2B5EF4-FFF2-40B4-BE49-F238E27FC236}">
                <a16:creationId xmlns:a16="http://schemas.microsoft.com/office/drawing/2014/main" id="{31D38F83-6200-4E04-AFDD-BFD80494E247}"/>
              </a:ext>
            </a:extLst>
          </p:cNvPr>
          <p:cNvSpPr/>
          <p:nvPr/>
        </p:nvSpPr>
        <p:spPr>
          <a:xfrm>
            <a:off x="4335829" y="3118655"/>
            <a:ext cx="2657457" cy="648072"/>
          </a:xfrm>
          <a:prstGeom prst="wedgeRoundRectCallout">
            <a:avLst>
              <a:gd name="adj1" fmla="val -70663"/>
              <a:gd name="adj2" fmla="val 5295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実はデストラクタは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なくても大丈夫！</a:t>
            </a:r>
          </a:p>
        </p:txBody>
      </p:sp>
      <p:sp>
        <p:nvSpPr>
          <p:cNvPr id="14" name="角丸四角形吹き出し 12">
            <a:extLst>
              <a:ext uri="{FF2B5EF4-FFF2-40B4-BE49-F238E27FC236}">
                <a16:creationId xmlns:a16="http://schemas.microsoft.com/office/drawing/2014/main" id="{C4CCC8AC-5202-4A80-8288-0097E03A62EE}"/>
              </a:ext>
            </a:extLst>
          </p:cNvPr>
          <p:cNvSpPr/>
          <p:nvPr/>
        </p:nvSpPr>
        <p:spPr>
          <a:xfrm>
            <a:off x="5796136" y="5552400"/>
            <a:ext cx="3168352" cy="648072"/>
          </a:xfrm>
          <a:prstGeom prst="wedgeRoundRectCallout">
            <a:avLst>
              <a:gd name="adj1" fmla="val -70663"/>
              <a:gd name="adj2" fmla="val 5295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こちらは一度で十分なので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ここで設定。</a:t>
            </a:r>
          </a:p>
        </p:txBody>
      </p:sp>
    </p:spTree>
    <p:extLst>
      <p:ext uri="{BB962C8B-B14F-4D97-AF65-F5344CB8AC3E}">
        <p14:creationId xmlns:p14="http://schemas.microsoft.com/office/powerpoint/2010/main" val="6636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28818" y="332656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⑤カメラの情報を更新するために毎フレーム呼ぶメソッドと。</a:t>
            </a:r>
            <a:br>
              <a:rPr lang="en-US" altLang="ja-JP" sz="2263" b="1" dirty="0"/>
            </a:br>
            <a:r>
              <a:rPr lang="ja-JP" altLang="en-US" sz="2263" b="1" dirty="0"/>
              <a:t>　 カメラ情報を更新するメソッドを作成する。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66180"/>
            <a:ext cx="1344542" cy="1539552"/>
          </a:xfrm>
          <a:prstGeom prst="rect">
            <a:avLst/>
          </a:prstGeom>
        </p:spPr>
      </p:pic>
      <p:sp>
        <p:nvSpPr>
          <p:cNvPr id="9" name="角丸四角形吹き出し 8"/>
          <p:cNvSpPr/>
          <p:nvPr/>
        </p:nvSpPr>
        <p:spPr>
          <a:xfrm>
            <a:off x="2329272" y="4368645"/>
            <a:ext cx="5343575" cy="566242"/>
          </a:xfrm>
          <a:prstGeom prst="wedgeRoundRectCallout">
            <a:avLst>
              <a:gd name="adj1" fmla="val -55183"/>
              <a:gd name="adj2" fmla="val 3902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>
                <a:latin typeface="ＭＳ Ｐゴシック"/>
              </a:rPr>
              <a:t>Step</a:t>
            </a:r>
            <a:r>
              <a:rPr lang="ja-JP" altLang="en-US" sz="2000" b="1" dirty="0">
                <a:latin typeface="ＭＳ Ｐゴシック"/>
              </a:rPr>
              <a:t>と</a:t>
            </a:r>
            <a:r>
              <a:rPr lang="en-US" altLang="ja-JP" sz="2000" b="1" dirty="0">
                <a:latin typeface="ＭＳ Ｐゴシック"/>
              </a:rPr>
              <a:t>Update</a:t>
            </a:r>
            <a:r>
              <a:rPr lang="ja-JP" altLang="en-US" sz="2000" b="1" dirty="0" err="1">
                <a:latin typeface="ＭＳ Ｐゴシック"/>
              </a:rPr>
              <a:t>って</a:t>
            </a:r>
            <a:r>
              <a:rPr lang="ja-JP" altLang="en-US" sz="2000" b="1" dirty="0">
                <a:latin typeface="ＭＳ Ｐゴシック"/>
              </a:rPr>
              <a:t>同じようなものじゃないの？</a:t>
            </a:r>
          </a:p>
        </p:txBody>
      </p:sp>
      <p:pic>
        <p:nvPicPr>
          <p:cNvPr id="12" name="図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304" y="4706800"/>
            <a:ext cx="1656184" cy="2160240"/>
          </a:xfrm>
          <a:prstGeom prst="rect">
            <a:avLst/>
          </a:prstGeom>
        </p:spPr>
      </p:pic>
      <p:sp>
        <p:nvSpPr>
          <p:cNvPr id="14" name="角丸四角形吹き出し 13"/>
          <p:cNvSpPr/>
          <p:nvPr/>
        </p:nvSpPr>
        <p:spPr>
          <a:xfrm>
            <a:off x="755576" y="5593493"/>
            <a:ext cx="6336704" cy="1152128"/>
          </a:xfrm>
          <a:prstGeom prst="wedgeRoundRectCallout">
            <a:avLst>
              <a:gd name="adj1" fmla="val 58627"/>
              <a:gd name="adj2" fmla="val -3182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今回は丁寧に、</a:t>
            </a:r>
            <a:r>
              <a:rPr lang="ja-JP" altLang="en-US" sz="2000" b="1" dirty="0">
                <a:solidFill>
                  <a:srgbClr val="0000FF"/>
                </a:solidFill>
                <a:latin typeface="ＭＳ Ｐゴシック"/>
              </a:rPr>
              <a:t>操作</a:t>
            </a:r>
            <a:r>
              <a:rPr lang="en-US" altLang="ja-JP" sz="2000" b="1" dirty="0">
                <a:latin typeface="ＭＳ Ｐゴシック"/>
              </a:rPr>
              <a:t>(Step)</a:t>
            </a:r>
            <a:r>
              <a:rPr lang="ja-JP" altLang="en-US" sz="2000" b="1" dirty="0">
                <a:latin typeface="ＭＳ Ｐゴシック"/>
              </a:rPr>
              <a:t>と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更新</a:t>
            </a:r>
            <a:r>
              <a:rPr lang="en-US" altLang="ja-JP" sz="2000" b="1" dirty="0">
                <a:latin typeface="ＭＳ Ｐゴシック"/>
              </a:rPr>
              <a:t>(Update)</a:t>
            </a:r>
            <a:r>
              <a:rPr lang="ja-JP" altLang="en-US" sz="2000" b="1" dirty="0">
                <a:latin typeface="ＭＳ Ｐゴシック"/>
              </a:rPr>
              <a:t>に分けました。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操作で計算処理を行い、更新で</a:t>
            </a:r>
            <a:r>
              <a:rPr lang="en-US" altLang="ja-JP" sz="2000" b="1" dirty="0" err="1">
                <a:latin typeface="ＭＳ Ｐゴシック"/>
              </a:rPr>
              <a:t>DxLib</a:t>
            </a:r>
            <a:r>
              <a:rPr lang="ja-JP" altLang="en-US" sz="2000" b="1" dirty="0">
                <a:latin typeface="ＭＳ Ｐゴシック"/>
              </a:rPr>
              <a:t>のカメラに新しい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データを渡すようにしています。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14274A0-383E-46FD-98CC-94BFBAEB5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24" y="1252268"/>
            <a:ext cx="6128218" cy="27228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526287FD-0B60-4276-90C1-362161B7D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8084" y="1698872"/>
            <a:ext cx="2664296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ここはひとまず空で</a:t>
            </a:r>
            <a:br>
              <a:rPr lang="en-US" altLang="ja-JP" sz="2263" b="1" dirty="0"/>
            </a:br>
            <a:r>
              <a:rPr lang="ja-JP" altLang="en-US" sz="2263" b="1" dirty="0"/>
              <a:t>後で追加予定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75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28818" y="332656"/>
            <a:ext cx="8219645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</a:t>
            </a:r>
            <a:r>
              <a:rPr lang="en-US" altLang="ja-JP" sz="2263" b="1" dirty="0"/>
              <a:t>Main.cpp</a:t>
            </a:r>
            <a:r>
              <a:rPr lang="ja-JP" altLang="en-US" sz="2263" b="1" dirty="0"/>
              <a:t>は下記の差し替えで全く同じ動きになるはず。</a:t>
            </a:r>
            <a:endParaRPr lang="en-US" altLang="ja-JP" sz="2263" b="1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81011D-D9D2-4363-B8F5-A5BFE5198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98" y="916454"/>
            <a:ext cx="5577806" cy="2944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フローチャート: 処理 3">
            <a:extLst>
              <a:ext uri="{FF2B5EF4-FFF2-40B4-BE49-F238E27FC236}">
                <a16:creationId xmlns:a16="http://schemas.microsoft.com/office/drawing/2014/main" id="{64002E89-78EA-41AF-9E94-3907D42DA393}"/>
              </a:ext>
            </a:extLst>
          </p:cNvPr>
          <p:cNvSpPr/>
          <p:nvPr/>
        </p:nvSpPr>
        <p:spPr>
          <a:xfrm>
            <a:off x="556486" y="1268760"/>
            <a:ext cx="3456384" cy="864096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乗算記号 4">
            <a:extLst>
              <a:ext uri="{FF2B5EF4-FFF2-40B4-BE49-F238E27FC236}">
                <a16:creationId xmlns:a16="http://schemas.microsoft.com/office/drawing/2014/main" id="{CC6A8251-287C-448F-AD76-A2196CA37C64}"/>
              </a:ext>
            </a:extLst>
          </p:cNvPr>
          <p:cNvSpPr/>
          <p:nvPr/>
        </p:nvSpPr>
        <p:spPr>
          <a:xfrm>
            <a:off x="124438" y="1304764"/>
            <a:ext cx="4320480" cy="792088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C1423CFE-BA11-420F-9E55-30271A4926C0}"/>
              </a:ext>
            </a:extLst>
          </p:cNvPr>
          <p:cNvSpPr/>
          <p:nvPr/>
        </p:nvSpPr>
        <p:spPr>
          <a:xfrm>
            <a:off x="556486" y="2132856"/>
            <a:ext cx="1567242" cy="531538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13965F58-C6D2-44F1-85EA-48FC7AD09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788" y="2207205"/>
            <a:ext cx="122413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追加！</a:t>
            </a:r>
            <a:endParaRPr lang="en-US" altLang="ja-JP" sz="2263" b="1" dirty="0"/>
          </a:p>
        </p:txBody>
      </p:sp>
      <p:sp>
        <p:nvSpPr>
          <p:cNvPr id="6" name="矢印: 左 5">
            <a:extLst>
              <a:ext uri="{FF2B5EF4-FFF2-40B4-BE49-F238E27FC236}">
                <a16:creationId xmlns:a16="http://schemas.microsoft.com/office/drawing/2014/main" id="{AC62EEBB-865B-46C9-BF44-70724FE6D3A8}"/>
              </a:ext>
            </a:extLst>
          </p:cNvPr>
          <p:cNvSpPr/>
          <p:nvPr/>
        </p:nvSpPr>
        <p:spPr>
          <a:xfrm>
            <a:off x="2195736" y="2276084"/>
            <a:ext cx="260495" cy="2450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6AFFBFDE-95EC-481A-AF53-AFFE6E854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918" y="1556792"/>
            <a:ext cx="122413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削除</a:t>
            </a:r>
            <a:endParaRPr lang="en-US" altLang="ja-JP" sz="2263" b="1" dirty="0"/>
          </a:p>
        </p:txBody>
      </p:sp>
      <p:sp>
        <p:nvSpPr>
          <p:cNvPr id="11" name="矢印: 左 10">
            <a:extLst>
              <a:ext uri="{FF2B5EF4-FFF2-40B4-BE49-F238E27FC236}">
                <a16:creationId xmlns:a16="http://schemas.microsoft.com/office/drawing/2014/main" id="{0111F6DD-A062-49CB-BA36-4F82E495A76E}"/>
              </a:ext>
            </a:extLst>
          </p:cNvPr>
          <p:cNvSpPr/>
          <p:nvPr/>
        </p:nvSpPr>
        <p:spPr>
          <a:xfrm>
            <a:off x="4107866" y="1625671"/>
            <a:ext cx="260495" cy="2450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28F00A3-98EF-4F5A-830F-FB713962C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096143"/>
            <a:ext cx="7173326" cy="2191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CB702A8E-998F-4324-B641-2A483B3DD269}"/>
              </a:ext>
            </a:extLst>
          </p:cNvPr>
          <p:cNvSpPr/>
          <p:nvPr/>
        </p:nvSpPr>
        <p:spPr>
          <a:xfrm>
            <a:off x="620811" y="5621866"/>
            <a:ext cx="1872208" cy="521175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6FF3E77-60E5-45CC-9F2F-050DE2D12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2079" y="5685853"/>
            <a:ext cx="1224136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追加！</a:t>
            </a:r>
            <a:endParaRPr lang="en-US" altLang="ja-JP" sz="2263" b="1" dirty="0"/>
          </a:p>
        </p:txBody>
      </p:sp>
      <p:sp>
        <p:nvSpPr>
          <p:cNvPr id="16" name="矢印: 左 15">
            <a:extLst>
              <a:ext uri="{FF2B5EF4-FFF2-40B4-BE49-F238E27FC236}">
                <a16:creationId xmlns:a16="http://schemas.microsoft.com/office/drawing/2014/main" id="{3C26A534-74D7-4C70-891C-76A0A46DAB11}"/>
              </a:ext>
            </a:extLst>
          </p:cNvPr>
          <p:cNvSpPr/>
          <p:nvPr/>
        </p:nvSpPr>
        <p:spPr>
          <a:xfrm>
            <a:off x="2565027" y="5754732"/>
            <a:ext cx="260495" cy="24508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3760FE5-2003-4B44-A7E2-19D5CCE97BEF}"/>
              </a:ext>
            </a:extLst>
          </p:cNvPr>
          <p:cNvCxnSpPr>
            <a:cxnSpLocks/>
          </p:cNvCxnSpPr>
          <p:nvPr/>
        </p:nvCxnSpPr>
        <p:spPr>
          <a:xfrm>
            <a:off x="692819" y="5517232"/>
            <a:ext cx="69847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04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237347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プレイヤー情報を他のクラスへ渡す</a:t>
            </a:r>
            <a:r>
              <a:rPr lang="en-US" altLang="ja-JP" sz="2263" b="1" dirty="0"/>
              <a:t>]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445702" y="2204864"/>
            <a:ext cx="8252596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プレイヤーの</a:t>
            </a:r>
            <a:r>
              <a:rPr lang="ja-JP" altLang="en-US" sz="2263" b="1" dirty="0">
                <a:solidFill>
                  <a:srgbClr val="FF00FF"/>
                </a:solidFill>
              </a:rPr>
              <a:t>座標</a:t>
            </a:r>
            <a:r>
              <a:rPr lang="ja-JP" altLang="en-US" sz="2263" b="1" dirty="0"/>
              <a:t>と</a:t>
            </a:r>
            <a:r>
              <a:rPr lang="en-US" altLang="ja-JP" sz="2263" b="1" dirty="0">
                <a:solidFill>
                  <a:srgbClr val="00B050"/>
                </a:solidFill>
              </a:rPr>
              <a:t>Y</a:t>
            </a:r>
            <a:r>
              <a:rPr lang="ja-JP" altLang="en-US" sz="2263" b="1" dirty="0">
                <a:solidFill>
                  <a:srgbClr val="00B050"/>
                </a:solidFill>
              </a:rPr>
              <a:t>軸回転の角度</a:t>
            </a:r>
            <a:r>
              <a:rPr lang="ja-JP" altLang="en-US" sz="2263" b="1" dirty="0"/>
              <a:t>が必要だが、</a:t>
            </a:r>
            <a:br>
              <a:rPr lang="en-US" altLang="ja-JP" sz="2263" b="1" dirty="0"/>
            </a:br>
            <a:r>
              <a:rPr lang="ja-JP" altLang="en-US" sz="2263" b="1" dirty="0"/>
              <a:t>プレイヤーのメンバ変数は全て</a:t>
            </a:r>
            <a:r>
              <a:rPr lang="en-US" altLang="ja-JP" sz="2263" b="1" dirty="0"/>
              <a:t>private</a:t>
            </a:r>
            <a:r>
              <a:rPr lang="ja-JP" altLang="en-US" sz="2263" b="1" dirty="0"/>
              <a:t>である。</a:t>
            </a:r>
            <a:br>
              <a:rPr lang="en-US" altLang="ja-JP" sz="2263" b="1" dirty="0"/>
            </a:br>
            <a:r>
              <a:rPr lang="ja-JP" altLang="en-US" sz="2263" b="1" dirty="0"/>
              <a:t>そのため、</a:t>
            </a:r>
            <a:r>
              <a:rPr lang="ja-JP" altLang="en-US" sz="2263" b="1" dirty="0">
                <a:solidFill>
                  <a:srgbClr val="FF0000"/>
                </a:solidFill>
              </a:rPr>
              <a:t>アクセサ</a:t>
            </a:r>
            <a:r>
              <a:rPr lang="ja-JP" altLang="en-US" sz="2263" b="1" dirty="0"/>
              <a:t>を用意する必要がある。</a:t>
            </a:r>
            <a:endParaRPr lang="en-US" altLang="ja-JP" sz="2263" b="1" dirty="0"/>
          </a:p>
        </p:txBody>
      </p:sp>
      <p:sp>
        <p:nvSpPr>
          <p:cNvPr id="5" name="角丸四角形吹き出し 8">
            <a:extLst>
              <a:ext uri="{FF2B5EF4-FFF2-40B4-BE49-F238E27FC236}">
                <a16:creationId xmlns:a16="http://schemas.microsoft.com/office/drawing/2014/main" id="{937C8410-8A1F-486F-8A2E-2975C47CE5B6}"/>
              </a:ext>
            </a:extLst>
          </p:cNvPr>
          <p:cNvSpPr/>
          <p:nvPr/>
        </p:nvSpPr>
        <p:spPr>
          <a:xfrm>
            <a:off x="786375" y="1135993"/>
            <a:ext cx="5343575" cy="720080"/>
          </a:xfrm>
          <a:prstGeom prst="wedgeRoundRectCallout">
            <a:avLst>
              <a:gd name="adj1" fmla="val 60771"/>
              <a:gd name="adj2" fmla="val 1628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カメラの</a:t>
            </a: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には引数が必要なので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コンパイルエラーになっちゃう・・・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6CBCB04-9511-4930-8DCA-154C7A6C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187" y="3341907"/>
            <a:ext cx="1436657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Player.h</a:t>
            </a:r>
            <a:endParaRPr lang="en-US" altLang="ja-JP" sz="2263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63774B7-68D8-400A-AF9F-D7FBEE90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933056"/>
            <a:ext cx="4032448" cy="28182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 Box 5">
            <a:extLst>
              <a:ext uri="{FF2B5EF4-FFF2-40B4-BE49-F238E27FC236}">
                <a16:creationId xmlns:a16="http://schemas.microsoft.com/office/drawing/2014/main" id="{F7FD7773-73C0-456F-9ACC-4A5CAB42B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4608018"/>
            <a:ext cx="4183112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座標や回転角度は</a:t>
            </a:r>
            <a:br>
              <a:rPr lang="en-US" altLang="ja-JP" sz="2263" b="1" dirty="0"/>
            </a:br>
            <a:r>
              <a:rPr lang="ja-JP" altLang="en-US" sz="2263" b="1" dirty="0"/>
              <a:t>外部で使うことが多いので、</a:t>
            </a:r>
            <a:br>
              <a:rPr lang="en-US" altLang="ja-JP" sz="2263" b="1" dirty="0"/>
            </a:br>
            <a:r>
              <a:rPr lang="en-US" altLang="ja-JP" sz="2263" b="1" dirty="0" err="1"/>
              <a:t>Get,Set</a:t>
            </a:r>
            <a:r>
              <a:rPr lang="ja-JP" altLang="en-US" sz="2263" b="1" dirty="0"/>
              <a:t>両方作っておいた方が</a:t>
            </a:r>
            <a:br>
              <a:rPr lang="en-US" altLang="ja-JP" sz="2263" b="1" dirty="0"/>
            </a:br>
            <a:r>
              <a:rPr lang="ja-JP" altLang="en-US" sz="2263" b="1" dirty="0"/>
              <a:t>後々楽になる。</a:t>
            </a:r>
            <a:endParaRPr lang="en-US" altLang="ja-JP" sz="2263" b="1" dirty="0"/>
          </a:p>
        </p:txBody>
      </p:sp>
      <p:pic>
        <p:nvPicPr>
          <p:cNvPr id="2050" name="Picture 2" descr="■">
            <a:extLst>
              <a:ext uri="{FF2B5EF4-FFF2-40B4-BE49-F238E27FC236}">
                <a16:creationId xmlns:a16="http://schemas.microsoft.com/office/drawing/2014/main" id="{8FF2AFF5-3FC3-442D-8DCB-5D37A12E5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766562"/>
            <a:ext cx="1309401" cy="1458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6150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角丸四角形吹き出し 10"/>
          <p:cNvSpPr/>
          <p:nvPr/>
        </p:nvSpPr>
        <p:spPr>
          <a:xfrm>
            <a:off x="290795" y="390616"/>
            <a:ext cx="2794118" cy="799129"/>
          </a:xfrm>
          <a:prstGeom prst="wedgeRoundRectCallout">
            <a:avLst>
              <a:gd name="adj1" fmla="val 66113"/>
              <a:gd name="adj2" fmla="val 6251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でも、回転角度の方は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Y</a:t>
            </a:r>
            <a:r>
              <a:rPr lang="ja-JP" altLang="en-US" sz="2000" b="1" dirty="0">
                <a:latin typeface="ＭＳ Ｐゴシック"/>
              </a:rPr>
              <a:t>の値だけ欲しいんだ。</a:t>
            </a:r>
          </a:p>
        </p:txBody>
      </p:sp>
      <p:sp>
        <p:nvSpPr>
          <p:cNvPr id="12" name="角丸四角形吹き出し 11"/>
          <p:cNvSpPr/>
          <p:nvPr/>
        </p:nvSpPr>
        <p:spPr>
          <a:xfrm>
            <a:off x="6060246" y="390616"/>
            <a:ext cx="2794118" cy="972471"/>
          </a:xfrm>
          <a:prstGeom prst="wedgeRoundRectCallout">
            <a:avLst>
              <a:gd name="adj1" fmla="val -67822"/>
              <a:gd name="adj2" fmla="val 2770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安心して！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下記のような書き方で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問題解決だよ。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FBDEFFD-4CC3-447B-A247-B6F96C72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918" y="2276872"/>
            <a:ext cx="5306165" cy="7716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6422DE0-4274-4529-86BB-4B9871F106AD}"/>
              </a:ext>
            </a:extLst>
          </p:cNvPr>
          <p:cNvCxnSpPr>
            <a:cxnSpLocks/>
          </p:cNvCxnSpPr>
          <p:nvPr/>
        </p:nvCxnSpPr>
        <p:spPr>
          <a:xfrm>
            <a:off x="5076056" y="2492896"/>
            <a:ext cx="208823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 Box 5">
            <a:extLst>
              <a:ext uri="{FF2B5EF4-FFF2-40B4-BE49-F238E27FC236}">
                <a16:creationId xmlns:a16="http://schemas.microsoft.com/office/drawing/2014/main" id="{44520EEA-A7A4-4827-9BE8-96DD93B1F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3393768"/>
            <a:ext cx="8252596" cy="1311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GetRot</a:t>
            </a:r>
            <a:r>
              <a:rPr lang="en-US" altLang="ja-JP" sz="2263" b="1" dirty="0"/>
              <a:t>()</a:t>
            </a:r>
            <a:r>
              <a:rPr lang="ja-JP" altLang="en-US" sz="2263" b="1" dirty="0"/>
              <a:t>メソッドで</a:t>
            </a:r>
            <a:r>
              <a:rPr lang="en-US" altLang="ja-JP" sz="2263" b="1" dirty="0"/>
              <a:t>VECTOR</a:t>
            </a:r>
            <a:r>
              <a:rPr lang="ja-JP" altLang="en-US" sz="2263" b="1" dirty="0"/>
              <a:t>型の変数を取得したのであれば、</a:t>
            </a:r>
            <a:br>
              <a:rPr lang="en-US" altLang="ja-JP" sz="2263" b="1" dirty="0"/>
            </a:br>
            <a:r>
              <a:rPr lang="ja-JP" altLang="en-US" sz="2263" b="1" dirty="0"/>
              <a:t>その中の</a:t>
            </a:r>
            <a:r>
              <a:rPr lang="en-US" altLang="ja-JP" sz="2263" b="1" dirty="0"/>
              <a:t>Y</a:t>
            </a:r>
            <a:r>
              <a:rPr lang="ja-JP" altLang="en-US" sz="2263" b="1" dirty="0"/>
              <a:t>だけ取得したいなら「</a:t>
            </a:r>
            <a:r>
              <a:rPr lang="en-US" altLang="ja-JP" sz="2263" b="1" dirty="0"/>
              <a:t>.y</a:t>
            </a:r>
            <a:r>
              <a:rPr lang="ja-JP" altLang="en-US" sz="2263" b="1" dirty="0"/>
              <a:t>」と続けて書けばよい。</a:t>
            </a:r>
            <a:endParaRPr lang="en-US" altLang="ja-JP" sz="2263" b="1" dirty="0"/>
          </a:p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これでコンパイルが通るようになる。</a:t>
            </a:r>
            <a:endParaRPr lang="en-US" altLang="ja-JP" sz="2263" b="1" dirty="0"/>
          </a:p>
        </p:txBody>
      </p:sp>
      <p:sp>
        <p:nvSpPr>
          <p:cNvPr id="16" name="角丸四角形吹き出し 11">
            <a:extLst>
              <a:ext uri="{FF2B5EF4-FFF2-40B4-BE49-F238E27FC236}">
                <a16:creationId xmlns:a16="http://schemas.microsoft.com/office/drawing/2014/main" id="{4AFBBBA6-B831-4204-85B9-D43E0E0AE244}"/>
              </a:ext>
            </a:extLst>
          </p:cNvPr>
          <p:cNvSpPr/>
          <p:nvPr/>
        </p:nvSpPr>
        <p:spPr>
          <a:xfrm>
            <a:off x="3275856" y="5252526"/>
            <a:ext cx="5112567" cy="972471"/>
          </a:xfrm>
          <a:prstGeom prst="wedgeRoundRectCallout">
            <a:avLst>
              <a:gd name="adj1" fmla="val -63739"/>
              <a:gd name="adj2" fmla="val 2770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とはいえ、現在はカメラの視点・注視点が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オール</a:t>
            </a:r>
            <a:r>
              <a:rPr lang="en-US" altLang="ja-JP" sz="2000" b="1" dirty="0">
                <a:latin typeface="ＭＳ Ｐゴシック"/>
              </a:rPr>
              <a:t>0</a:t>
            </a:r>
            <a:r>
              <a:rPr lang="ja-JP" altLang="en-US" sz="2000" b="1" dirty="0">
                <a:latin typeface="ＭＳ Ｐゴシック"/>
              </a:rPr>
              <a:t>なので、画面は真っ暗だよ！</a:t>
            </a:r>
          </a:p>
        </p:txBody>
      </p:sp>
      <p:pic>
        <p:nvPicPr>
          <p:cNvPr id="3074" name="Picture 2" descr="同僚を励ます人のイラスト（女性会社員）">
            <a:extLst>
              <a:ext uri="{FF2B5EF4-FFF2-40B4-BE49-F238E27FC236}">
                <a16:creationId xmlns:a16="http://schemas.microsoft.com/office/drawing/2014/main" id="{81DEA134-EE7B-4310-99B4-E955D0E3C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2870" y="232801"/>
            <a:ext cx="1999250" cy="199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苦笑いをする男性のイラスト">
            <a:extLst>
              <a:ext uri="{FF2B5EF4-FFF2-40B4-BE49-F238E27FC236}">
                <a16:creationId xmlns:a16="http://schemas.microsoft.com/office/drawing/2014/main" id="{BAC34087-3495-4AB6-B1B7-A1D798829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236" y="4927761"/>
            <a:ext cx="1427363" cy="162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298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95536" y="19825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カメラをプレイヤー後方へ移動させる</a:t>
            </a:r>
            <a:r>
              <a:rPr lang="en-US" altLang="ja-JP" sz="2263" b="1" dirty="0"/>
              <a:t>]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95312" y="638948"/>
            <a:ext cx="821057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実は、プレイヤーの移動が正しくできれば、</a:t>
            </a:r>
            <a:br>
              <a:rPr lang="en-US" altLang="ja-JP" sz="2263" b="1" dirty="0"/>
            </a:br>
            <a:r>
              <a:rPr lang="ja-JP" altLang="en-US" sz="2263" b="1" dirty="0"/>
              <a:t>カメラを常にプレイヤーの後方に置く事は簡単にできる。</a:t>
            </a:r>
            <a:endParaRPr lang="en-US" altLang="ja-JP" sz="2263" b="1" dirty="0"/>
          </a:p>
        </p:txBody>
      </p:sp>
      <p:sp>
        <p:nvSpPr>
          <p:cNvPr id="18" name="フローチャート: 結合子 17"/>
          <p:cNvSpPr/>
          <p:nvPr/>
        </p:nvSpPr>
        <p:spPr>
          <a:xfrm>
            <a:off x="3923928" y="3768872"/>
            <a:ext cx="1810922" cy="1564232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弧 18"/>
          <p:cNvSpPr/>
          <p:nvPr/>
        </p:nvSpPr>
        <p:spPr>
          <a:xfrm rot="8894688">
            <a:off x="4333169" y="4217312"/>
            <a:ext cx="1249417" cy="934008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フローチャート: 結合子 19"/>
          <p:cNvSpPr/>
          <p:nvPr/>
        </p:nvSpPr>
        <p:spPr>
          <a:xfrm>
            <a:off x="4330695" y="4684316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結合子 20"/>
          <p:cNvSpPr/>
          <p:nvPr/>
        </p:nvSpPr>
        <p:spPr>
          <a:xfrm>
            <a:off x="5032772" y="4696041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下矢印 1"/>
          <p:cNvSpPr/>
          <p:nvPr/>
        </p:nvSpPr>
        <p:spPr>
          <a:xfrm>
            <a:off x="4618727" y="5475052"/>
            <a:ext cx="414045" cy="1161198"/>
          </a:xfrm>
          <a:prstGeom prst="downArrow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ext Box 5"/>
          <p:cNvSpPr txBox="1">
            <a:spLocks noChangeArrowheads="1"/>
          </p:cNvSpPr>
          <p:nvPr/>
        </p:nvSpPr>
        <p:spPr bwMode="auto">
          <a:xfrm>
            <a:off x="5292080" y="5661248"/>
            <a:ext cx="2359227" cy="788806"/>
          </a:xfrm>
          <a:prstGeom prst="rect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先ほど求めた</a:t>
            </a:r>
            <a:br>
              <a:rPr lang="en-US" altLang="ja-JP" sz="2263" b="1" dirty="0"/>
            </a:br>
            <a:r>
              <a:rPr lang="ja-JP" altLang="en-US" sz="2263" b="1" dirty="0"/>
              <a:t>移動方向ベクトル</a:t>
            </a:r>
            <a:endParaRPr lang="en-US" altLang="ja-JP" sz="2263" b="1" dirty="0"/>
          </a:p>
        </p:txBody>
      </p:sp>
      <p:sp>
        <p:nvSpPr>
          <p:cNvPr id="25" name="下矢印 24"/>
          <p:cNvSpPr/>
          <p:nvPr/>
        </p:nvSpPr>
        <p:spPr>
          <a:xfrm flipV="1">
            <a:off x="4599713" y="2409250"/>
            <a:ext cx="432332" cy="126483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5176788" y="2769108"/>
            <a:ext cx="3375989" cy="788806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移動ベクトルの</a:t>
            </a:r>
            <a:br>
              <a:rPr lang="en-US" altLang="ja-JP" sz="2263" b="1" dirty="0"/>
            </a:br>
            <a:r>
              <a:rPr lang="ja-JP" altLang="en-US" sz="2263" b="1" dirty="0"/>
              <a:t>反対方向にカメラ設置</a:t>
            </a:r>
            <a:endParaRPr lang="en-US" altLang="ja-JP" sz="2263" b="1" dirty="0"/>
          </a:p>
        </p:txBody>
      </p:sp>
      <p:grpSp>
        <p:nvGrpSpPr>
          <p:cNvPr id="27" name="グループ化 26"/>
          <p:cNvGrpSpPr/>
          <p:nvPr/>
        </p:nvGrpSpPr>
        <p:grpSpPr>
          <a:xfrm rot="10800000">
            <a:off x="4573721" y="1620319"/>
            <a:ext cx="458324" cy="778141"/>
            <a:chOff x="1835696" y="4375326"/>
            <a:chExt cx="648072" cy="1213914"/>
          </a:xfrm>
        </p:grpSpPr>
        <p:sp>
          <p:nvSpPr>
            <p:cNvPr id="28" name="正方形/長方形 27"/>
            <p:cNvSpPr/>
            <p:nvPr/>
          </p:nvSpPr>
          <p:spPr>
            <a:xfrm>
              <a:off x="1835696" y="4797152"/>
              <a:ext cx="648072" cy="7920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二等辺三角形 28"/>
            <p:cNvSpPr/>
            <p:nvPr/>
          </p:nvSpPr>
          <p:spPr>
            <a:xfrm rot="10800000">
              <a:off x="1835696" y="4375326"/>
              <a:ext cx="648072" cy="57606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79336" y="3948109"/>
            <a:ext cx="382542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計算方法は同じ！</a:t>
            </a:r>
            <a:br>
              <a:rPr lang="en-US" altLang="ja-JP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ベクトルの向きが反対に</a:t>
            </a:r>
            <a:br>
              <a:rPr lang="en-US" altLang="ja-JP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2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なるだけ！！</a:t>
            </a:r>
            <a:endParaRPr lang="en-US" altLang="ja-JP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92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79513" y="2924944"/>
            <a:ext cx="4968552" cy="252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○カメラの視点</a:t>
            </a:r>
            <a:br>
              <a:rPr lang="en-US" altLang="ja-JP" sz="2263" b="1" dirty="0"/>
            </a:br>
            <a:r>
              <a:rPr lang="ja-JP" altLang="en-US" sz="2263" b="1" dirty="0"/>
              <a:t>　　＝プレイヤーから「</a:t>
            </a:r>
            <a:r>
              <a:rPr lang="en-US" altLang="ja-JP" sz="2263" b="1" dirty="0"/>
              <a:t>30</a:t>
            </a:r>
            <a:r>
              <a:rPr lang="ja-JP" altLang="en-US" sz="2263" b="1" dirty="0"/>
              <a:t>」後方</a:t>
            </a:r>
            <a:br>
              <a:rPr lang="en-US" altLang="ja-JP" sz="2263" b="1" dirty="0"/>
            </a:br>
            <a:r>
              <a:rPr lang="ja-JP" altLang="en-US" sz="2263" b="1" dirty="0"/>
              <a:t>○カメラの注視点</a:t>
            </a:r>
            <a:br>
              <a:rPr lang="en-US" altLang="ja-JP" sz="2263" b="1" dirty="0"/>
            </a:br>
            <a:r>
              <a:rPr lang="ja-JP" altLang="en-US" sz="2263" b="1" dirty="0"/>
              <a:t>　　＝プレイヤーの座標</a:t>
            </a: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ja-JP" altLang="en-US" sz="2263" b="1" dirty="0"/>
              <a:t>プレイヤーが移動・回転を行っても</a:t>
            </a:r>
            <a:br>
              <a:rPr lang="en-US" altLang="ja-JP" sz="2263" b="1" dirty="0"/>
            </a:br>
            <a:r>
              <a:rPr lang="ja-JP" altLang="en-US" sz="2263" b="1" dirty="0"/>
              <a:t>常に同じようになるようにすること。</a:t>
            </a:r>
          </a:p>
        </p:txBody>
      </p:sp>
      <p:sp>
        <p:nvSpPr>
          <p:cNvPr id="5" name="右矢印 4"/>
          <p:cNvSpPr/>
          <p:nvPr/>
        </p:nvSpPr>
        <p:spPr>
          <a:xfrm>
            <a:off x="3635896" y="5756310"/>
            <a:ext cx="864096" cy="360040"/>
          </a:xfrm>
          <a:prstGeom prst="rightArrow">
            <a:avLst/>
          </a:prstGeom>
          <a:solidFill>
            <a:srgbClr val="FF993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3" y="5756310"/>
            <a:ext cx="3635896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最初はこのようになるはず</a:t>
            </a:r>
            <a:r>
              <a:rPr lang="en-US" altLang="ja-JP" sz="2263" b="1" dirty="0"/>
              <a:t>!</a:t>
            </a:r>
            <a:endParaRPr lang="ja-JP" altLang="en-US" sz="2263" b="1" dirty="0"/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1B19113-47E4-450D-8189-1BA742B84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724" y="1854222"/>
            <a:ext cx="4968552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カメラを次のような配置で設定しなさい。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4A4BAB7-B1AE-4469-A700-78AD30CD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279" y="4296072"/>
            <a:ext cx="4313092" cy="252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33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/>
          <p:cNvSpPr/>
          <p:nvPr/>
        </p:nvSpPr>
        <p:spPr>
          <a:xfrm>
            <a:off x="2627784" y="3011025"/>
            <a:ext cx="531379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地面</a:t>
            </a:r>
          </a:p>
        </p:txBody>
      </p:sp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899592" y="1854721"/>
            <a:ext cx="763284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先ほどのプログラムでは、以下のようなカメラになってしまう。</a:t>
            </a:r>
          </a:p>
        </p:txBody>
      </p:sp>
      <p:sp>
        <p:nvSpPr>
          <p:cNvPr id="5" name="右矢印 4"/>
          <p:cNvSpPr/>
          <p:nvPr/>
        </p:nvSpPr>
        <p:spPr>
          <a:xfrm>
            <a:off x="2802549" y="2816248"/>
            <a:ext cx="2248758" cy="340041"/>
          </a:xfrm>
          <a:prstGeom prst="rightArrow">
            <a:avLst/>
          </a:prstGeom>
          <a:solidFill>
            <a:srgbClr val="FF993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フローチャート: 結合子 7"/>
          <p:cNvSpPr/>
          <p:nvPr/>
        </p:nvSpPr>
        <p:spPr>
          <a:xfrm>
            <a:off x="5889862" y="2266189"/>
            <a:ext cx="730802" cy="72008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弧 8"/>
          <p:cNvSpPr/>
          <p:nvPr/>
        </p:nvSpPr>
        <p:spPr>
          <a:xfrm rot="10143753">
            <a:off x="6244341" y="2438310"/>
            <a:ext cx="504206" cy="429963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結合子 9"/>
          <p:cNvSpPr/>
          <p:nvPr/>
        </p:nvSpPr>
        <p:spPr>
          <a:xfrm>
            <a:off x="6438326" y="2603886"/>
            <a:ext cx="116236" cy="9881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/>
          <p:cNvGrpSpPr/>
          <p:nvPr/>
        </p:nvGrpSpPr>
        <p:grpSpPr>
          <a:xfrm rot="5400000">
            <a:off x="2094185" y="2572365"/>
            <a:ext cx="458324" cy="778141"/>
            <a:chOff x="1835696" y="4375326"/>
            <a:chExt cx="648072" cy="1213914"/>
          </a:xfrm>
        </p:grpSpPr>
        <p:sp>
          <p:nvSpPr>
            <p:cNvPr id="13" name="正方形/長方形 12"/>
            <p:cNvSpPr/>
            <p:nvPr/>
          </p:nvSpPr>
          <p:spPr>
            <a:xfrm>
              <a:off x="1835696" y="4797152"/>
              <a:ext cx="648072" cy="7920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二等辺三角形 13"/>
            <p:cNvSpPr/>
            <p:nvPr/>
          </p:nvSpPr>
          <p:spPr>
            <a:xfrm rot="10800000">
              <a:off x="1835696" y="4375326"/>
              <a:ext cx="648072" cy="57606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" name="円/楕円 5"/>
          <p:cNvSpPr/>
          <p:nvPr/>
        </p:nvSpPr>
        <p:spPr>
          <a:xfrm>
            <a:off x="6127596" y="2912202"/>
            <a:ext cx="161068" cy="1704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414959" y="2997414"/>
            <a:ext cx="1071733" cy="4405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注視点</a:t>
            </a:r>
            <a:endParaRPr lang="en-US" altLang="ja-JP" sz="2263" b="1" dirty="0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18387" y="3892721"/>
            <a:ext cx="763284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カメラが地面に埋まらないよう、視点・注視点を調整しなさい。</a:t>
            </a:r>
          </a:p>
        </p:txBody>
      </p:sp>
      <p:sp>
        <p:nvSpPr>
          <p:cNvPr id="19" name="正方形/長方形 18"/>
          <p:cNvSpPr/>
          <p:nvPr/>
        </p:nvSpPr>
        <p:spPr>
          <a:xfrm>
            <a:off x="2442020" y="6314942"/>
            <a:ext cx="531379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地面</a:t>
            </a:r>
          </a:p>
        </p:txBody>
      </p:sp>
      <p:sp>
        <p:nvSpPr>
          <p:cNvPr id="20" name="右矢印 19"/>
          <p:cNvSpPr/>
          <p:nvPr/>
        </p:nvSpPr>
        <p:spPr>
          <a:xfrm rot="783969">
            <a:off x="3034940" y="5340313"/>
            <a:ext cx="2248758" cy="340041"/>
          </a:xfrm>
          <a:prstGeom prst="rightArrow">
            <a:avLst/>
          </a:prstGeom>
          <a:solidFill>
            <a:srgbClr val="FF993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ローチャート: 結合子 20"/>
          <p:cNvSpPr/>
          <p:nvPr/>
        </p:nvSpPr>
        <p:spPr>
          <a:xfrm>
            <a:off x="5704098" y="5570106"/>
            <a:ext cx="730802" cy="72008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弧 21"/>
          <p:cNvSpPr/>
          <p:nvPr/>
        </p:nvSpPr>
        <p:spPr>
          <a:xfrm rot="10143753">
            <a:off x="6058577" y="5742227"/>
            <a:ext cx="504206" cy="429963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フローチャート: 結合子 22"/>
          <p:cNvSpPr/>
          <p:nvPr/>
        </p:nvSpPr>
        <p:spPr>
          <a:xfrm>
            <a:off x="6252562" y="5907803"/>
            <a:ext cx="116236" cy="98810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" name="グループ化 23"/>
          <p:cNvGrpSpPr/>
          <p:nvPr/>
        </p:nvGrpSpPr>
        <p:grpSpPr>
          <a:xfrm rot="5400000">
            <a:off x="1941595" y="4705884"/>
            <a:ext cx="458324" cy="778141"/>
            <a:chOff x="1835696" y="4375326"/>
            <a:chExt cx="648072" cy="1213914"/>
          </a:xfrm>
        </p:grpSpPr>
        <p:sp>
          <p:nvSpPr>
            <p:cNvPr id="25" name="正方形/長方形 24"/>
            <p:cNvSpPr/>
            <p:nvPr/>
          </p:nvSpPr>
          <p:spPr>
            <a:xfrm>
              <a:off x="1835696" y="4797152"/>
              <a:ext cx="648072" cy="792088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二等辺三角形 25"/>
            <p:cNvSpPr/>
            <p:nvPr/>
          </p:nvSpPr>
          <p:spPr>
            <a:xfrm rot="10800000">
              <a:off x="1835696" y="4375326"/>
              <a:ext cx="648072" cy="57606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7" name="円/楕円 26"/>
          <p:cNvSpPr/>
          <p:nvPr/>
        </p:nvSpPr>
        <p:spPr>
          <a:xfrm>
            <a:off x="5927400" y="5871996"/>
            <a:ext cx="161068" cy="17042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6529866" y="5489576"/>
            <a:ext cx="2290606" cy="4405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注視点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高さ</a:t>
            </a:r>
            <a:r>
              <a:rPr lang="en-US" altLang="ja-JP" sz="2263" b="1" dirty="0"/>
              <a:t>10)</a:t>
            </a:r>
          </a:p>
        </p:txBody>
      </p:sp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868636" y="5456861"/>
            <a:ext cx="1992882" cy="44057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視点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高さ</a:t>
            </a:r>
            <a:r>
              <a:rPr lang="en-US" altLang="ja-JP" sz="2263" b="1" dirty="0"/>
              <a:t>20)</a:t>
            </a:r>
          </a:p>
        </p:txBody>
      </p:sp>
    </p:spTree>
    <p:extLst>
      <p:ext uri="{BB962C8B-B14F-4D97-AF65-F5344CB8AC3E}">
        <p14:creationId xmlns:p14="http://schemas.microsoft.com/office/powerpoint/2010/main" val="81224679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18654</TotalTime>
  <Words>807</Words>
  <Application>Microsoft Office PowerPoint</Application>
  <PresentationFormat>画面に合わせる (4:3)</PresentationFormat>
  <Paragraphs>59</Paragraphs>
  <Slides>12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HGS創英角ﾎﾟｯﾌﾟ体</vt:lpstr>
      <vt:lpstr>ＭＳ Ｐゴシック</vt:lpstr>
      <vt:lpstr>Arial</vt:lpstr>
      <vt:lpstr>Calibri</vt:lpstr>
      <vt:lpstr>標準デザイン</vt:lpstr>
      <vt:lpstr>この単元の目標</vt:lpstr>
      <vt:lpstr>7 TPS視点によるカメラ操作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650</cp:revision>
  <dcterms:created xsi:type="dcterms:W3CDTF">2013-04-19T02:46:48Z</dcterms:created>
  <dcterms:modified xsi:type="dcterms:W3CDTF">2026-04-27T03:08:47Z</dcterms:modified>
</cp:coreProperties>
</file>