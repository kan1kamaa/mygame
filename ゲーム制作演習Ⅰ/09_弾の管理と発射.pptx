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4" r:id="rId2"/>
    <p:sldId id="263" r:id="rId3"/>
    <p:sldId id="534" r:id="rId4"/>
    <p:sldId id="523" r:id="rId5"/>
    <p:sldId id="574" r:id="rId6"/>
    <p:sldId id="575" r:id="rId7"/>
    <p:sldId id="535" r:id="rId8"/>
    <p:sldId id="577" r:id="rId9"/>
    <p:sldId id="576" r:id="rId10"/>
    <p:sldId id="578" r:id="rId11"/>
    <p:sldId id="579" r:id="rId12"/>
    <p:sldId id="580" r:id="rId13"/>
    <p:sldId id="581" r:id="rId14"/>
    <p:sldId id="582" r:id="rId15"/>
    <p:sldId id="583" r:id="rId16"/>
    <p:sldId id="584" r:id="rId17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0000"/>
    <a:srgbClr val="FF99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2026/5/8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615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73887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3994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74818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5406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995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66693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34397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49163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5976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1288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8763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6564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プレイヤーの弾を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発射できるようにする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7" y="468313"/>
            <a:ext cx="8137277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9 </a:t>
            </a:r>
            <a:r>
              <a:rPr lang="ja-JP" altLang="en-US" dirty="0"/>
              <a:t>弾の管理と発射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ショットクラスとマネージャクラス</a:t>
            </a:r>
            <a:r>
              <a:rPr lang="en-US" altLang="ja-JP" sz="2263" b="1" dirty="0"/>
              <a:t>]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20699" y="2021125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弾の管理は基本的に</a:t>
            </a:r>
            <a:r>
              <a:rPr lang="en-US" altLang="ja-JP" sz="2263" b="1" dirty="0"/>
              <a:t>1</a:t>
            </a:r>
            <a:r>
              <a:rPr lang="ja-JP" altLang="en-US" sz="2263" b="1" dirty="0"/>
              <a:t>年生の頃と同じ考え方で問題ない。</a:t>
            </a:r>
            <a:endParaRPr lang="en-US" altLang="ja-JP" sz="2263" b="1" dirty="0"/>
          </a:p>
        </p:txBody>
      </p:sp>
      <p:pic>
        <p:nvPicPr>
          <p:cNvPr id="24" name="図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450" y="3068960"/>
            <a:ext cx="1425699" cy="2245195"/>
          </a:xfrm>
          <a:prstGeom prst="rect">
            <a:avLst/>
          </a:prstGeom>
        </p:spPr>
      </p:pic>
      <p:sp>
        <p:nvSpPr>
          <p:cNvPr id="25" name="角丸四角形吹き出し 10"/>
          <p:cNvSpPr/>
          <p:nvPr/>
        </p:nvSpPr>
        <p:spPr>
          <a:xfrm>
            <a:off x="243963" y="2841160"/>
            <a:ext cx="3391062" cy="983090"/>
          </a:xfrm>
          <a:prstGeom prst="wedgeRoundRectCallout">
            <a:avLst>
              <a:gd name="adj1" fmla="val 59322"/>
              <a:gd name="adj2" fmla="val 2726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私の指示通りに動きなさい。</a:t>
            </a: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41" y="4113808"/>
            <a:ext cx="1200347" cy="1200347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345" y="4055171"/>
            <a:ext cx="1200347" cy="1200347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449" y="4123981"/>
            <a:ext cx="1200347" cy="1200347"/>
          </a:xfrm>
          <a:prstGeom prst="rect">
            <a:avLst/>
          </a:prstGeom>
        </p:spPr>
      </p:pic>
      <p:sp>
        <p:nvSpPr>
          <p:cNvPr id="29" name="爆発 1 28"/>
          <p:cNvSpPr/>
          <p:nvPr/>
        </p:nvSpPr>
        <p:spPr>
          <a:xfrm>
            <a:off x="5219201" y="2738832"/>
            <a:ext cx="3923928" cy="1385149"/>
          </a:xfrm>
          <a:prstGeom prst="irregularSeal1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了解です、ボス！！</a:t>
            </a:r>
          </a:p>
        </p:txBody>
      </p:sp>
      <p:sp>
        <p:nvSpPr>
          <p:cNvPr id="30" name="正方形/長方形 29"/>
          <p:cNvSpPr/>
          <p:nvPr/>
        </p:nvSpPr>
        <p:spPr>
          <a:xfrm>
            <a:off x="2373320" y="5083980"/>
            <a:ext cx="1483593" cy="343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マネージャー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5498786" y="5083979"/>
            <a:ext cx="541608" cy="343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弾</a:t>
            </a:r>
            <a:endParaRPr kumimoji="1" lang="ja-JP" altLang="en-US" b="1" dirty="0"/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642691" y="5946482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あとはこれをクラス化してあげるだけでよいが、</a:t>
            </a:r>
            <a:br>
              <a:rPr lang="en-US" altLang="ja-JP" sz="2263" b="1" dirty="0"/>
            </a:br>
            <a:r>
              <a:rPr lang="ja-JP" altLang="en-US" sz="2263" b="1" dirty="0"/>
              <a:t>一部変更があるので工夫も必要に・・・。</a:t>
            </a:r>
            <a:endParaRPr lang="en-US" altLang="ja-JP" sz="2263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51520" y="332656"/>
            <a:ext cx="825259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基本的な作成方法は同じであるので、ひとまずショットクラスと</a:t>
            </a:r>
            <a:br>
              <a:rPr lang="en-US" altLang="ja-JP" sz="2263" b="1" dirty="0"/>
            </a:br>
            <a:r>
              <a:rPr lang="ja-JP" altLang="en-US" sz="2263" b="1" dirty="0"/>
              <a:t>マネージャクラスは用意しておくとよい。</a:t>
            </a:r>
            <a:endParaRPr lang="en-US" altLang="ja-JP" sz="2263" b="1" dirty="0"/>
          </a:p>
        </p:txBody>
      </p:sp>
      <p:sp>
        <p:nvSpPr>
          <p:cNvPr id="5" name="角丸四角形 4"/>
          <p:cNvSpPr/>
          <p:nvPr/>
        </p:nvSpPr>
        <p:spPr>
          <a:xfrm>
            <a:off x="331948" y="3068960"/>
            <a:ext cx="8208912" cy="3063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吹き出し 5"/>
          <p:cNvSpPr/>
          <p:nvPr/>
        </p:nvSpPr>
        <p:spPr>
          <a:xfrm>
            <a:off x="331948" y="1740731"/>
            <a:ext cx="3391467" cy="1152128"/>
          </a:xfrm>
          <a:prstGeom prst="wedgeRoundRectCallout">
            <a:avLst>
              <a:gd name="adj1" fmla="val 67296"/>
              <a:gd name="adj2" fmla="val -3070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私が指示を出します。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弾</a:t>
            </a:r>
            <a:r>
              <a:rPr lang="en-US" altLang="ja-JP" sz="2000" b="1" dirty="0">
                <a:latin typeface="ＭＳ Ｐゴシック"/>
              </a:rPr>
              <a:t>1</a:t>
            </a:r>
            <a:r>
              <a:rPr lang="ja-JP" altLang="en-US" sz="2000" b="1" dirty="0" err="1">
                <a:latin typeface="ＭＳ Ｐゴシック"/>
              </a:rPr>
              <a:t>、</a:t>
            </a:r>
            <a:r>
              <a:rPr lang="ja-JP" altLang="en-US" sz="2000" b="1" dirty="0">
                <a:latin typeface="ＭＳ Ｐゴシック"/>
              </a:rPr>
              <a:t>行け</a:t>
            </a:r>
            <a:r>
              <a:rPr lang="en-US" altLang="ja-JP" sz="2000" b="1" dirty="0">
                <a:latin typeface="ＭＳ Ｐゴシック"/>
              </a:rPr>
              <a:t>!</a:t>
            </a:r>
            <a:endParaRPr lang="ja-JP" altLang="en-US" sz="2000" b="1" dirty="0">
              <a:latin typeface="ＭＳ Ｐゴシック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424" y="1380186"/>
            <a:ext cx="1353691" cy="2131797"/>
          </a:xfrm>
          <a:prstGeom prst="rect">
            <a:avLst/>
          </a:prstGeom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12468" y="2674557"/>
            <a:ext cx="1656184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ショット</a:t>
            </a:r>
            <a:br>
              <a:rPr lang="en-US" altLang="ja-JP" sz="2263" b="1" dirty="0"/>
            </a:br>
            <a:r>
              <a:rPr lang="ja-JP" altLang="en-US" sz="2263" b="1" dirty="0"/>
              <a:t>マネージャ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108" y="4086388"/>
            <a:ext cx="1616968" cy="1616968"/>
          </a:xfrm>
          <a:prstGeom prst="rect">
            <a:avLst/>
          </a:prstGeom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61079" y="5483071"/>
            <a:ext cx="1853321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弾</a:t>
            </a:r>
            <a:r>
              <a:rPr lang="en-US" altLang="ja-JP" sz="2263" b="1" dirty="0"/>
              <a:t>1</a:t>
            </a: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215" y="4082083"/>
            <a:ext cx="1358277" cy="175261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070353" y="5498245"/>
            <a:ext cx="22118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弾</a:t>
            </a:r>
            <a:r>
              <a:rPr lang="en-US" altLang="ja-JP" sz="2263" b="1" dirty="0"/>
              <a:t>2</a:t>
            </a:r>
          </a:p>
        </p:txBody>
      </p:sp>
      <p:sp>
        <p:nvSpPr>
          <p:cNvPr id="14" name="角丸四角形吹き出し 13"/>
          <p:cNvSpPr/>
          <p:nvPr/>
        </p:nvSpPr>
        <p:spPr>
          <a:xfrm>
            <a:off x="29253" y="5019447"/>
            <a:ext cx="1798305" cy="699083"/>
          </a:xfrm>
          <a:prstGeom prst="wedgeRoundRectCallout">
            <a:avLst>
              <a:gd name="adj1" fmla="val 67296"/>
              <a:gd name="adj2" fmla="val -3070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はい、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突撃します。</a:t>
            </a:r>
          </a:p>
        </p:txBody>
      </p:sp>
      <p:sp>
        <p:nvSpPr>
          <p:cNvPr id="15" name="角丸四角形吹き出し 14"/>
          <p:cNvSpPr/>
          <p:nvPr/>
        </p:nvSpPr>
        <p:spPr>
          <a:xfrm>
            <a:off x="6749493" y="4623190"/>
            <a:ext cx="2225072" cy="699083"/>
          </a:xfrm>
          <a:prstGeom prst="wedgeRoundRectCallout">
            <a:avLst>
              <a:gd name="adj1" fmla="val -69020"/>
              <a:gd name="adj2" fmla="val -1122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指示があるまで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待ってます。</a:t>
            </a:r>
          </a:p>
        </p:txBody>
      </p:sp>
      <p:cxnSp>
        <p:nvCxnSpPr>
          <p:cNvPr id="16" name="直線コネクタ 15"/>
          <p:cNvCxnSpPr/>
          <p:nvPr/>
        </p:nvCxnSpPr>
        <p:spPr>
          <a:xfrm>
            <a:off x="4674269" y="3511579"/>
            <a:ext cx="0" cy="3614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 flipH="1">
            <a:off x="2461079" y="3866103"/>
            <a:ext cx="3609274" cy="690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>
            <a:off x="2480129" y="3866103"/>
            <a:ext cx="0" cy="215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>
            <a:off x="6060828" y="3856578"/>
            <a:ext cx="0" cy="215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07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CD4F11C-F34F-4287-8A50-0EFFC344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08" y="842234"/>
            <a:ext cx="3201413" cy="25812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38208" y="216604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弾１つ分のクラス作成</a:t>
            </a:r>
            <a:r>
              <a:rPr lang="en-US" altLang="ja-JP" sz="2263" b="1" dirty="0"/>
              <a:t>]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36720" y="908720"/>
            <a:ext cx="443719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①必要な分の</a:t>
            </a:r>
            <a:r>
              <a:rPr lang="en-US" altLang="ja-JP" sz="2263" b="1" dirty="0" err="1"/>
              <a:t>cpp</a:t>
            </a:r>
            <a:r>
              <a:rPr lang="ja-JP" altLang="en-US" sz="2263" b="1" dirty="0"/>
              <a:t>とヘッダーを</a:t>
            </a:r>
            <a:br>
              <a:rPr lang="en-US" altLang="ja-JP" sz="2263" b="1" dirty="0"/>
            </a:br>
            <a:r>
              <a:rPr lang="ja-JP" altLang="en-US" sz="2263" b="1" dirty="0"/>
              <a:t>　 作成する。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5101455" y="1481036"/>
            <a:ext cx="2808313" cy="158792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855264" y="4149955"/>
            <a:ext cx="4181232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②ショットクラスを作成する。</a:t>
            </a:r>
            <a:br>
              <a:rPr lang="en-US" altLang="ja-JP" sz="2263" b="1" dirty="0"/>
            </a:br>
            <a:r>
              <a:rPr lang="ja-JP" altLang="en-US" sz="2263" b="1" dirty="0"/>
              <a:t>　 ベースクラスを継承すれば</a:t>
            </a:r>
            <a:br>
              <a:rPr lang="en-US" altLang="ja-JP" sz="2263" b="1" dirty="0"/>
            </a:br>
            <a:r>
              <a:rPr lang="ja-JP" altLang="en-US" sz="2263" b="1" dirty="0"/>
              <a:t>　 メンバ変数は左図のように</a:t>
            </a:r>
            <a:br>
              <a:rPr lang="en-US" altLang="ja-JP" sz="2263" b="1" dirty="0"/>
            </a:br>
            <a:r>
              <a:rPr lang="ja-JP" altLang="en-US" sz="2263" b="1" dirty="0"/>
              <a:t>　 ほとんど不要となる！</a:t>
            </a:r>
            <a:endParaRPr lang="en-US" altLang="ja-JP" sz="2263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1D78789-4557-4D82-B3FC-1B3049B92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79" y="4244563"/>
            <a:ext cx="4391638" cy="1705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245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3DC5E9DD-7EA4-4678-BD08-01EC7D547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724938"/>
            <a:ext cx="4363059" cy="2991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67544" y="284368"/>
            <a:ext cx="847646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③初期化や更新、ロードなど個別修正が必要なものを用意する。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5" name="角丸四角形吹き出し 4"/>
          <p:cNvSpPr/>
          <p:nvPr/>
        </p:nvSpPr>
        <p:spPr>
          <a:xfrm>
            <a:off x="5118635" y="2085616"/>
            <a:ext cx="3197781" cy="1343384"/>
          </a:xfrm>
          <a:prstGeom prst="wedgeRoundRectCallout">
            <a:avLst>
              <a:gd name="adj1" fmla="val -68406"/>
              <a:gd name="adj2" fmla="val 2034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今回の弾モデルは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複製を行う予定。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オリジナルハンドルを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引数で受け取る。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85181" y="4227401"/>
            <a:ext cx="847646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④弾の発射を呼び出すメソッドを用意する。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5740F5C-3FFC-472D-970F-31A695A2D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56" y="4826122"/>
            <a:ext cx="5482963" cy="1363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角丸四角形吹き出し 4">
            <a:extLst>
              <a:ext uri="{FF2B5EF4-FFF2-40B4-BE49-F238E27FC236}">
                <a16:creationId xmlns:a16="http://schemas.microsoft.com/office/drawing/2014/main" id="{B7817200-AB81-4FDF-AACE-584F6529B5F1}"/>
              </a:ext>
            </a:extLst>
          </p:cNvPr>
          <p:cNvSpPr/>
          <p:nvPr/>
        </p:nvSpPr>
        <p:spPr>
          <a:xfrm>
            <a:off x="6660683" y="5301208"/>
            <a:ext cx="2159789" cy="728464"/>
          </a:xfrm>
          <a:prstGeom prst="wedgeRoundRectCallout">
            <a:avLst>
              <a:gd name="adj1" fmla="val -78206"/>
              <a:gd name="adj2" fmla="val 1685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１年の頃に作った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関数と同じ！</a:t>
            </a:r>
          </a:p>
        </p:txBody>
      </p:sp>
    </p:spTree>
    <p:extLst>
      <p:ext uri="{BB962C8B-B14F-4D97-AF65-F5344CB8AC3E}">
        <p14:creationId xmlns:p14="http://schemas.microsoft.com/office/powerpoint/2010/main" val="154246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BB2AA95-D81C-47D6-A19C-9F3272524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1" y="1002019"/>
            <a:ext cx="4304719" cy="46037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16014" y="332656"/>
            <a:ext cx="847646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⑤ベースクラスと異なるメソッドの中身を記述していく。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8B5D5E1-50B6-48FE-80B0-CD1D6106D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221" y="1002019"/>
            <a:ext cx="4171498" cy="4675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角丸四角形吹き出し 4">
            <a:extLst>
              <a:ext uri="{FF2B5EF4-FFF2-40B4-BE49-F238E27FC236}">
                <a16:creationId xmlns:a16="http://schemas.microsoft.com/office/drawing/2014/main" id="{80407243-6117-4D16-863C-5503A505FCE3}"/>
              </a:ext>
            </a:extLst>
          </p:cNvPr>
          <p:cNvSpPr/>
          <p:nvPr/>
        </p:nvSpPr>
        <p:spPr>
          <a:xfrm>
            <a:off x="3275856" y="5889594"/>
            <a:ext cx="4853965" cy="810043"/>
          </a:xfrm>
          <a:prstGeom prst="wedgeRoundRectCallout">
            <a:avLst>
              <a:gd name="adj1" fmla="val -63173"/>
              <a:gd name="adj2" fmla="val 570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は速度を加算するだけの処理。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指定範囲を超えたら消すのも１年と同じ！</a:t>
            </a:r>
          </a:p>
        </p:txBody>
      </p:sp>
      <p:pic>
        <p:nvPicPr>
          <p:cNvPr id="1026" name="Picture 2" descr="指笛のイラスト（女性）">
            <a:extLst>
              <a:ext uri="{FF2B5EF4-FFF2-40B4-BE49-F238E27FC236}">
                <a16:creationId xmlns:a16="http://schemas.microsoft.com/office/drawing/2014/main" id="{E3EE6B76-17B8-4312-B887-065237521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680521"/>
            <a:ext cx="1124744" cy="112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B8F95714-4E03-4431-A7C5-4579A5F56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485" y="5137348"/>
            <a:ext cx="1928455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b="1" dirty="0">
                <a:solidFill>
                  <a:srgbClr val="00B050"/>
                </a:solidFill>
              </a:rPr>
              <a:t>ゲームによっては</a:t>
            </a:r>
            <a:br>
              <a:rPr lang="en-US" altLang="ja-JP" b="1" dirty="0">
                <a:solidFill>
                  <a:srgbClr val="00B050"/>
                </a:solidFill>
              </a:rPr>
            </a:br>
            <a:r>
              <a:rPr lang="ja-JP" altLang="en-US" b="1" dirty="0">
                <a:solidFill>
                  <a:srgbClr val="00B050"/>
                </a:solidFill>
              </a:rPr>
              <a:t>高さもチェック</a:t>
            </a:r>
            <a:endParaRPr lang="en-US" altLang="ja-JP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95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16DABBB-FF0E-4880-8C27-2473F9FB0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692696"/>
            <a:ext cx="7632848" cy="40081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⑥外部からリクエストされてから動けるようなメソッドを作成する。</a:t>
            </a:r>
            <a:endParaRPr lang="en-US" altLang="ja-JP" sz="2263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788024" y="2924944"/>
            <a:ext cx="3240360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すでに発射されたものは</a:t>
            </a:r>
            <a:br>
              <a:rPr lang="en-US" altLang="ja-JP" sz="2263" b="1" dirty="0"/>
            </a:br>
            <a:r>
              <a:rPr lang="ja-JP" altLang="en-US" sz="2263" b="1" dirty="0"/>
              <a:t>エラー情報を返す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1" name="角丸四角形吹き出し 4">
            <a:extLst>
              <a:ext uri="{FF2B5EF4-FFF2-40B4-BE49-F238E27FC236}">
                <a16:creationId xmlns:a16="http://schemas.microsoft.com/office/drawing/2014/main" id="{46746E18-57B8-4640-A2F6-73851D62949B}"/>
              </a:ext>
            </a:extLst>
          </p:cNvPr>
          <p:cNvSpPr/>
          <p:nvPr/>
        </p:nvSpPr>
        <p:spPr>
          <a:xfrm>
            <a:off x="3582313" y="5629426"/>
            <a:ext cx="4450759" cy="810043"/>
          </a:xfrm>
          <a:prstGeom prst="wedgeRoundRectCallout">
            <a:avLst>
              <a:gd name="adj1" fmla="val -63173"/>
              <a:gd name="adj2" fmla="val 570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クラス化や継承を使っているけど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考え方は１年生の時と全く同じだ！</a:t>
            </a:r>
          </a:p>
        </p:txBody>
      </p:sp>
      <p:pic>
        <p:nvPicPr>
          <p:cNvPr id="2050" name="Picture 2" descr="口を隠して笑う人のイラスト（女性）">
            <a:extLst>
              <a:ext uri="{FF2B5EF4-FFF2-40B4-BE49-F238E27FC236}">
                <a16:creationId xmlns:a16="http://schemas.microsoft.com/office/drawing/2014/main" id="{A48FC11D-115D-4391-AB53-441E57323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871344"/>
            <a:ext cx="1800200" cy="191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29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692696"/>
            <a:ext cx="8219645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ここまでで基本的なショットクラスの作成は終了となる。</a:t>
            </a:r>
            <a:br>
              <a:rPr lang="en-US" altLang="ja-JP" sz="2263" b="1" dirty="0"/>
            </a:br>
            <a:r>
              <a:rPr lang="ja-JP" altLang="en-US" sz="2263" b="1" dirty="0"/>
              <a:t>できれば、ここでマネージャを使わずに弾一発を</a:t>
            </a:r>
            <a:br>
              <a:rPr lang="en-US" altLang="ja-JP" sz="2263" b="1" dirty="0"/>
            </a:br>
            <a:r>
              <a:rPr lang="ja-JP" altLang="en-US" sz="2263" b="1" dirty="0"/>
              <a:t>発射できるかを確認しておきたい。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501008"/>
            <a:ext cx="2697088" cy="2697088"/>
          </a:xfrm>
          <a:prstGeom prst="rect">
            <a:avLst/>
          </a:prstGeom>
        </p:spPr>
      </p:pic>
      <p:sp>
        <p:nvSpPr>
          <p:cNvPr id="13" name="角丸四角形吹き出し 12"/>
          <p:cNvSpPr/>
          <p:nvPr/>
        </p:nvSpPr>
        <p:spPr>
          <a:xfrm>
            <a:off x="3563888" y="2636912"/>
            <a:ext cx="4968552" cy="1440160"/>
          </a:xfrm>
          <a:prstGeom prst="wedgeRoundRectCallout">
            <a:avLst>
              <a:gd name="adj1" fmla="val -60693"/>
              <a:gd name="adj2" fmla="val 328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どうせここで一発発射させても後で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修正になるので、確認は飛ばします。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プログラムが苦手</a:t>
            </a:r>
            <a:r>
              <a:rPr lang="ja-JP" altLang="en-US" sz="2000" b="1">
                <a:latin typeface="ＭＳ Ｐゴシック"/>
              </a:rPr>
              <a:t>な人は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こまめに確認</a:t>
            </a:r>
            <a:r>
              <a:rPr lang="ja-JP" altLang="en-US" sz="2000" b="1" dirty="0">
                <a:latin typeface="ＭＳ Ｐゴシック"/>
              </a:rPr>
              <a:t>することをお勧めします！</a:t>
            </a:r>
          </a:p>
        </p:txBody>
      </p:sp>
    </p:spTree>
    <p:extLst>
      <p:ext uri="{BB962C8B-B14F-4D97-AF65-F5344CB8AC3E}">
        <p14:creationId xmlns:p14="http://schemas.microsoft.com/office/powerpoint/2010/main" val="17575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727A4D-82EF-420F-97F6-C40B35E01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612357"/>
            <a:ext cx="5448891" cy="60808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⑦ショットマネージャクラスを作成する。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角丸四角形吹き出し 6"/>
          <p:cNvSpPr/>
          <p:nvPr/>
        </p:nvSpPr>
        <p:spPr>
          <a:xfrm>
            <a:off x="5148064" y="1556792"/>
            <a:ext cx="3384376" cy="1152128"/>
          </a:xfrm>
          <a:prstGeom prst="wedgeRoundRectCallout">
            <a:avLst>
              <a:gd name="adj1" fmla="val -79186"/>
              <a:gd name="adj2" fmla="val 1552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敵の弾を発射するときは</a:t>
            </a:r>
            <a:endParaRPr lang="en-US" altLang="ja-JP" sz="2000" b="1" dirty="0">
              <a:latin typeface="ＭＳ Ｐゴシック"/>
            </a:endParaRPr>
          </a:p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敵用の配列を用意すると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最初はやりやすい。</a:t>
            </a:r>
          </a:p>
        </p:txBody>
      </p:sp>
    </p:spTree>
    <p:extLst>
      <p:ext uri="{BB962C8B-B14F-4D97-AF65-F5344CB8AC3E}">
        <p14:creationId xmlns:p14="http://schemas.microsoft.com/office/powerpoint/2010/main" val="143113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4FF778C-2E2F-4E4B-A9B5-97FDD0CE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692696"/>
            <a:ext cx="5181147" cy="6000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⑧ショットマネージャクラスの中身を記述していく。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角丸四角形吹き出し 6"/>
          <p:cNvSpPr/>
          <p:nvPr/>
        </p:nvSpPr>
        <p:spPr>
          <a:xfrm>
            <a:off x="5076056" y="4869160"/>
            <a:ext cx="3384376" cy="936104"/>
          </a:xfrm>
          <a:prstGeom prst="wedgeRoundRectCallout">
            <a:avLst>
              <a:gd name="adj1" fmla="val -61704"/>
              <a:gd name="adj2" fmla="val 4833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ここはショットの全部を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初期化していく。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基本的には他もこの流れ。</a:t>
            </a:r>
          </a:p>
        </p:txBody>
      </p:sp>
    </p:spTree>
    <p:extLst>
      <p:ext uri="{BB962C8B-B14F-4D97-AF65-F5344CB8AC3E}">
        <p14:creationId xmlns:p14="http://schemas.microsoft.com/office/powerpoint/2010/main" val="145399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5FF2E49-2041-4A62-8251-514E6B133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71" y="576064"/>
            <a:ext cx="3465115" cy="6165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さらに追加していく。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角丸四角形吹き出し 6"/>
          <p:cNvSpPr/>
          <p:nvPr/>
        </p:nvSpPr>
        <p:spPr>
          <a:xfrm>
            <a:off x="4594035" y="3098201"/>
            <a:ext cx="3971173" cy="1152128"/>
          </a:xfrm>
          <a:prstGeom prst="wedgeRoundRectCallout">
            <a:avLst>
              <a:gd name="adj1" fmla="val -61704"/>
              <a:gd name="adj2" fmla="val 4833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ショットクラスの</a:t>
            </a:r>
            <a: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  <a:t>Step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内で</a:t>
            </a:r>
            <a:b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生存チェックはしている</a:t>
            </a:r>
            <a:r>
              <a:rPr lang="ja-JP" altLang="en-US" sz="2000" b="1" dirty="0">
                <a:latin typeface="ＭＳ Ｐゴシック"/>
              </a:rPr>
              <a:t>ので、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こちらは何も考えずにループ。</a:t>
            </a:r>
          </a:p>
        </p:txBody>
      </p:sp>
      <p:sp>
        <p:nvSpPr>
          <p:cNvPr id="6" name="角丸四角形吹き出し 5"/>
          <p:cNvSpPr/>
          <p:nvPr/>
        </p:nvSpPr>
        <p:spPr>
          <a:xfrm>
            <a:off x="4860032" y="764704"/>
            <a:ext cx="4248681" cy="753912"/>
          </a:xfrm>
          <a:prstGeom prst="wedgeRoundRectCallout">
            <a:avLst>
              <a:gd name="adj1" fmla="val -61704"/>
              <a:gd name="adj2" fmla="val 4833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ここではオリジナルのモデルを元に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各ショットで複製を作成している。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3264298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79A3F8B-3533-4D1E-9932-2A46880A2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605344"/>
            <a:ext cx="5472609" cy="61642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さらにさらに追加していく。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角丸四角形吹き出し 6"/>
          <p:cNvSpPr/>
          <p:nvPr/>
        </p:nvSpPr>
        <p:spPr>
          <a:xfrm>
            <a:off x="5724128" y="5589240"/>
            <a:ext cx="3323101" cy="1103986"/>
          </a:xfrm>
          <a:prstGeom prst="wedgeRoundRectCallout">
            <a:avLst>
              <a:gd name="adj1" fmla="val -78541"/>
              <a:gd name="adj2" fmla="val -3143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ショットに空きがある場合は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戻り値が</a:t>
            </a:r>
            <a:r>
              <a:rPr lang="en-US" altLang="ja-JP" sz="2000" b="1" dirty="0">
                <a:latin typeface="ＭＳ Ｐゴシック"/>
              </a:rPr>
              <a:t>true</a:t>
            </a:r>
            <a:r>
              <a:rPr lang="ja-JP" altLang="en-US" sz="2000" b="1" dirty="0">
                <a:latin typeface="ＭＳ Ｐゴシック"/>
              </a:rPr>
              <a:t>になるので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終了させる。</a:t>
            </a:r>
          </a:p>
        </p:txBody>
      </p:sp>
    </p:spTree>
    <p:extLst>
      <p:ext uri="{BB962C8B-B14F-4D97-AF65-F5344CB8AC3E}">
        <p14:creationId xmlns:p14="http://schemas.microsoft.com/office/powerpoint/2010/main" val="253628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話し合う人たちのイラスト（夫婦）">
            <a:extLst>
              <a:ext uri="{FF2B5EF4-FFF2-40B4-BE49-F238E27FC236}">
                <a16:creationId xmlns:a16="http://schemas.microsoft.com/office/drawing/2014/main" id="{C1F76842-3065-4DE4-B59E-DE77B0A8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211079"/>
            <a:ext cx="2016224" cy="1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332656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後は</a:t>
            </a:r>
            <a:r>
              <a:rPr lang="en-US" altLang="ja-JP" sz="2263" b="1" dirty="0" err="1"/>
              <a:t>ShotManager</a:t>
            </a:r>
            <a:r>
              <a:rPr lang="ja-JP" altLang="en-US" sz="2263" b="1" dirty="0"/>
              <a:t>クラスを作成し、</a:t>
            </a:r>
            <a:br>
              <a:rPr lang="en-US" altLang="ja-JP" sz="2263" b="1" dirty="0"/>
            </a:br>
            <a:r>
              <a:rPr lang="ja-JP" altLang="en-US" sz="2263" b="1" dirty="0"/>
              <a:t>各メソッドを呼んであげれば問題ない。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3" name="角丸四角形吹き出し 12"/>
          <p:cNvSpPr/>
          <p:nvPr/>
        </p:nvSpPr>
        <p:spPr>
          <a:xfrm>
            <a:off x="51065" y="1175885"/>
            <a:ext cx="4608512" cy="1080120"/>
          </a:xfrm>
          <a:prstGeom prst="wedgeRoundRectCallout">
            <a:avLst>
              <a:gd name="adj1" fmla="val 34001"/>
              <a:gd name="adj2" fmla="val 7411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今回はプレイヤーが弾を撃つので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プレイヤークラス内に変数を作成すれば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うまくいくのかな？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3568" y="5112074"/>
            <a:ext cx="8219645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この辺りは設計次第にはなってくるが、</a:t>
            </a:r>
            <a:br>
              <a:rPr lang="en-US" altLang="ja-JP" sz="2263" b="1" dirty="0"/>
            </a:br>
            <a:r>
              <a:rPr lang="ja-JP" altLang="en-US" sz="2263" b="1" dirty="0"/>
              <a:t>今回は様々なクラスで使われる事を想定した設計にする。</a:t>
            </a:r>
            <a:br>
              <a:rPr lang="en-US" altLang="ja-JP" sz="2263" b="1" dirty="0"/>
            </a:br>
            <a:r>
              <a:rPr lang="ja-JP" altLang="en-US" sz="2263" b="1" dirty="0"/>
              <a:t>本当は</a:t>
            </a:r>
            <a:r>
              <a:rPr lang="ja-JP" altLang="en-US" sz="2263" b="1" dirty="0">
                <a:solidFill>
                  <a:srgbClr val="0000FF"/>
                </a:solidFill>
              </a:rPr>
              <a:t>裏技のようなやり方</a:t>
            </a:r>
            <a:r>
              <a:rPr lang="ja-JP" altLang="en-US" sz="2263" b="1" dirty="0"/>
              <a:t>も存在するが、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引数でマネージャクラスを渡す</a:t>
            </a:r>
            <a:r>
              <a:rPr lang="ja-JP" altLang="en-US" sz="2263" b="1" dirty="0"/>
              <a:t>方法を使ってみる。</a:t>
            </a:r>
            <a:endParaRPr lang="en-US" altLang="ja-JP" sz="2263" b="1" dirty="0"/>
          </a:p>
        </p:txBody>
      </p:sp>
      <p:sp>
        <p:nvSpPr>
          <p:cNvPr id="7" name="角丸四角形吹き出し 12">
            <a:extLst>
              <a:ext uri="{FF2B5EF4-FFF2-40B4-BE49-F238E27FC236}">
                <a16:creationId xmlns:a16="http://schemas.microsoft.com/office/drawing/2014/main" id="{733B17A6-05B7-4B04-873F-CFE62127C6F8}"/>
              </a:ext>
            </a:extLst>
          </p:cNvPr>
          <p:cNvSpPr/>
          <p:nvPr/>
        </p:nvSpPr>
        <p:spPr>
          <a:xfrm>
            <a:off x="4427984" y="3604366"/>
            <a:ext cx="4608512" cy="1293540"/>
          </a:xfrm>
          <a:prstGeom prst="wedgeRoundRectCallout">
            <a:avLst>
              <a:gd name="adj1" fmla="val -37098"/>
              <a:gd name="adj2" fmla="val -8226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でも、「</a:t>
            </a:r>
            <a:r>
              <a:rPr lang="en-US" altLang="ja-JP" sz="2000" b="1" dirty="0" err="1">
                <a:latin typeface="ＭＳ Ｐゴシック"/>
              </a:rPr>
              <a:t>RequestPlayerShot</a:t>
            </a:r>
            <a:r>
              <a:rPr lang="en-US" altLang="ja-JP" sz="2000" b="1" dirty="0">
                <a:latin typeface="ＭＳ Ｐゴシック"/>
              </a:rPr>
              <a:t>()</a:t>
            </a:r>
            <a:r>
              <a:rPr lang="ja-JP" altLang="en-US" sz="2000" b="1" dirty="0">
                <a:latin typeface="ＭＳ Ｐゴシック"/>
              </a:rPr>
              <a:t>」という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メソッドがあるなら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「</a:t>
            </a:r>
            <a:r>
              <a:rPr lang="en-US" altLang="ja-JP" sz="2000" b="1" dirty="0" err="1">
                <a:latin typeface="ＭＳ Ｐゴシック"/>
              </a:rPr>
              <a:t>RequestEnemyShot</a:t>
            </a:r>
            <a:r>
              <a:rPr lang="en-US" altLang="ja-JP" sz="2000" b="1" dirty="0">
                <a:latin typeface="ＭＳ Ｐゴシック"/>
              </a:rPr>
              <a:t>()</a:t>
            </a:r>
            <a:r>
              <a:rPr lang="ja-JP" altLang="en-US" sz="2000" b="1" dirty="0">
                <a:latin typeface="ＭＳ Ｐゴシック"/>
              </a:rPr>
              <a:t>」とかもあるかも。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プレイヤーに持たせて大丈夫？</a:t>
            </a:r>
          </a:p>
        </p:txBody>
      </p:sp>
    </p:spTree>
    <p:extLst>
      <p:ext uri="{BB962C8B-B14F-4D97-AF65-F5344CB8AC3E}">
        <p14:creationId xmlns:p14="http://schemas.microsoft.com/office/powerpoint/2010/main" val="2485531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AEECFA11-41BE-4B8F-B756-3F45A281C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060" y="1526179"/>
            <a:ext cx="4896465" cy="44483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141DAB3-D216-4344-8A71-41AF114F9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442" y="1530454"/>
            <a:ext cx="3744556" cy="4457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79442" y="76173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引数を使って弾をリクエストする方法</a:t>
            </a:r>
            <a:r>
              <a:rPr lang="en-US" altLang="ja-JP" sz="2263" b="1" dirty="0"/>
              <a:t>]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角丸四角形吹き出し 6"/>
          <p:cNvSpPr/>
          <p:nvPr/>
        </p:nvSpPr>
        <p:spPr>
          <a:xfrm>
            <a:off x="1835696" y="6075150"/>
            <a:ext cx="4608512" cy="700832"/>
          </a:xfrm>
          <a:prstGeom prst="wedgeRoundRectCallout">
            <a:avLst>
              <a:gd name="adj1" fmla="val -34059"/>
              <a:gd name="adj2" fmla="val -11446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参照</a:t>
            </a:r>
            <a:r>
              <a:rPr lang="ja-JP" altLang="en-US" sz="2000" b="1" dirty="0">
                <a:latin typeface="ＭＳ Ｐゴシック"/>
              </a:rPr>
              <a:t>を利用すれば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弾をリクエストする事が可能になる！！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467544" y="5229200"/>
            <a:ext cx="3384376" cy="36004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5">
            <a:extLst>
              <a:ext uri="{FF2B5EF4-FFF2-40B4-BE49-F238E27FC236}">
                <a16:creationId xmlns:a16="http://schemas.microsoft.com/office/drawing/2014/main" id="{D06E440F-7842-4DB7-B879-22279A6FAF37}"/>
              </a:ext>
            </a:extLst>
          </p:cNvPr>
          <p:cNvSpPr/>
          <p:nvPr/>
        </p:nvSpPr>
        <p:spPr>
          <a:xfrm>
            <a:off x="5580182" y="2111650"/>
            <a:ext cx="2232178" cy="28803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8A509D5-DA24-46CF-A42E-49C71D09F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42" y="870151"/>
            <a:ext cx="1733559" cy="440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Player.h</a:t>
            </a:r>
            <a:endParaRPr lang="en-US" altLang="ja-JP" sz="2263" b="1" dirty="0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028F18BE-F867-42CA-967E-76BB36113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016" y="883452"/>
            <a:ext cx="1733559" cy="440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Player.cpp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A251410-72EA-4B3C-875C-D7BA6BC7CD7F}"/>
              </a:ext>
            </a:extLst>
          </p:cNvPr>
          <p:cNvCxnSpPr/>
          <p:nvPr/>
        </p:nvCxnSpPr>
        <p:spPr>
          <a:xfrm>
            <a:off x="251520" y="2111650"/>
            <a:ext cx="28803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866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332656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後は</a:t>
            </a:r>
            <a:r>
              <a:rPr lang="en-US" altLang="ja-JP" sz="2263" b="1" dirty="0"/>
              <a:t>Main.cpp</a:t>
            </a:r>
            <a:r>
              <a:rPr lang="ja-JP" altLang="en-US" sz="2263" b="1" dirty="0"/>
              <a:t>にて以下の追加と修正を行えば</a:t>
            </a:r>
            <a:br>
              <a:rPr lang="en-US" altLang="ja-JP" sz="2263" b="1" dirty="0"/>
            </a:br>
            <a:r>
              <a:rPr lang="ja-JP" altLang="en-US" sz="2263" b="1" dirty="0"/>
              <a:t>プレイヤーが弾を発射するようになる。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A601B80-C47F-4683-AFDC-914D7BB3B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69" y="1284705"/>
            <a:ext cx="2467319" cy="4639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1503DC3-CE3E-4C41-A616-AC967C739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284044"/>
            <a:ext cx="5328592" cy="41157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050777F-21C1-4287-99E6-9CA8849FE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165" y="5531623"/>
            <a:ext cx="2105319" cy="12098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7C04E33-64BF-493E-A439-E157AA5949C0}"/>
              </a:ext>
            </a:extLst>
          </p:cNvPr>
          <p:cNvCxnSpPr>
            <a:cxnSpLocks/>
          </p:cNvCxnSpPr>
          <p:nvPr/>
        </p:nvCxnSpPr>
        <p:spPr>
          <a:xfrm>
            <a:off x="755576" y="5839132"/>
            <a:ext cx="11521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B079DA2-4277-45C6-BCEB-74DD6A3E4C50}"/>
              </a:ext>
            </a:extLst>
          </p:cNvPr>
          <p:cNvCxnSpPr>
            <a:cxnSpLocks/>
          </p:cNvCxnSpPr>
          <p:nvPr/>
        </p:nvCxnSpPr>
        <p:spPr>
          <a:xfrm>
            <a:off x="755576" y="4581128"/>
            <a:ext cx="11521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3A58553-CAA3-43E7-AF1E-840C175DB2EC}"/>
              </a:ext>
            </a:extLst>
          </p:cNvPr>
          <p:cNvCxnSpPr>
            <a:cxnSpLocks/>
          </p:cNvCxnSpPr>
          <p:nvPr/>
        </p:nvCxnSpPr>
        <p:spPr>
          <a:xfrm>
            <a:off x="738642" y="4348170"/>
            <a:ext cx="16561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D3FE847-E039-49C4-96C7-EC13E5A2C50A}"/>
              </a:ext>
            </a:extLst>
          </p:cNvPr>
          <p:cNvCxnSpPr>
            <a:cxnSpLocks/>
          </p:cNvCxnSpPr>
          <p:nvPr/>
        </p:nvCxnSpPr>
        <p:spPr>
          <a:xfrm>
            <a:off x="3699437" y="2238732"/>
            <a:ext cx="10165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E5DBDA78-3290-4C0E-AC46-86339ACB3AB7}"/>
              </a:ext>
            </a:extLst>
          </p:cNvPr>
          <p:cNvCxnSpPr>
            <a:cxnSpLocks/>
          </p:cNvCxnSpPr>
          <p:nvPr/>
        </p:nvCxnSpPr>
        <p:spPr>
          <a:xfrm>
            <a:off x="3699437" y="3107100"/>
            <a:ext cx="10589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E40BE2A-915F-4713-9728-D5EC2ABFCBCD}"/>
              </a:ext>
            </a:extLst>
          </p:cNvPr>
          <p:cNvCxnSpPr>
            <a:cxnSpLocks/>
          </p:cNvCxnSpPr>
          <p:nvPr/>
        </p:nvCxnSpPr>
        <p:spPr>
          <a:xfrm>
            <a:off x="3699438" y="4314303"/>
            <a:ext cx="10165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1552D91-08EC-4D28-AC54-78309DA92258}"/>
              </a:ext>
            </a:extLst>
          </p:cNvPr>
          <p:cNvCxnSpPr>
            <a:cxnSpLocks/>
          </p:cNvCxnSpPr>
          <p:nvPr/>
        </p:nvCxnSpPr>
        <p:spPr>
          <a:xfrm>
            <a:off x="3530020" y="6275452"/>
            <a:ext cx="10165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角丸四角形 5">
            <a:extLst>
              <a:ext uri="{FF2B5EF4-FFF2-40B4-BE49-F238E27FC236}">
                <a16:creationId xmlns:a16="http://schemas.microsoft.com/office/drawing/2014/main" id="{8D09F203-9431-4377-9A9F-BAD61FE70F60}"/>
              </a:ext>
            </a:extLst>
          </p:cNvPr>
          <p:cNvSpPr/>
          <p:nvPr/>
        </p:nvSpPr>
        <p:spPr>
          <a:xfrm>
            <a:off x="4619778" y="1867755"/>
            <a:ext cx="570698" cy="2066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角丸四角形吹き出し 6">
            <a:extLst>
              <a:ext uri="{FF2B5EF4-FFF2-40B4-BE49-F238E27FC236}">
                <a16:creationId xmlns:a16="http://schemas.microsoft.com/office/drawing/2014/main" id="{D0100579-A415-4559-BAB0-89007A4FE217}"/>
              </a:ext>
            </a:extLst>
          </p:cNvPr>
          <p:cNvSpPr/>
          <p:nvPr/>
        </p:nvSpPr>
        <p:spPr>
          <a:xfrm>
            <a:off x="5868144" y="1390618"/>
            <a:ext cx="1944216" cy="700832"/>
          </a:xfrm>
          <a:prstGeom prst="wedgeRoundRectCallout">
            <a:avLst>
              <a:gd name="adj1" fmla="val -80220"/>
              <a:gd name="adj2" fmla="val 3533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引数の追加を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忘れずに！</a:t>
            </a:r>
          </a:p>
        </p:txBody>
      </p:sp>
    </p:spTree>
    <p:extLst>
      <p:ext uri="{BB962C8B-B14F-4D97-AF65-F5344CB8AC3E}">
        <p14:creationId xmlns:p14="http://schemas.microsoft.com/office/powerpoint/2010/main" val="54518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332656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弾は発射するものの、</a:t>
            </a:r>
            <a:r>
              <a:rPr lang="ja-JP" altLang="en-US" sz="2263" b="1" dirty="0">
                <a:solidFill>
                  <a:srgbClr val="7030A0"/>
                </a:solidFill>
              </a:rPr>
              <a:t>トリガー処理などが未実装</a:t>
            </a:r>
            <a:r>
              <a:rPr lang="ja-JP" altLang="en-US" sz="2263" b="1" dirty="0"/>
              <a:t>であるため</a:t>
            </a:r>
            <a:br>
              <a:rPr lang="en-US" altLang="ja-JP" sz="2263" b="1" dirty="0"/>
            </a:br>
            <a:r>
              <a:rPr lang="ja-JP" altLang="en-US" sz="2263" b="1" dirty="0"/>
              <a:t>ゲームの作りとしてはいまいちな点が多い。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3" name="角丸四角形吹き出し 12"/>
          <p:cNvSpPr/>
          <p:nvPr/>
        </p:nvSpPr>
        <p:spPr>
          <a:xfrm>
            <a:off x="4150685" y="1562022"/>
            <a:ext cx="4608512" cy="788806"/>
          </a:xfrm>
          <a:prstGeom prst="wedgeRoundRectCallout">
            <a:avLst>
              <a:gd name="adj1" fmla="val -60614"/>
              <a:gd name="adj2" fmla="val 591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入力処理は一年生の時に作ったね。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せっかく作ったので移植するといいよ！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3568" y="2852936"/>
            <a:ext cx="8219645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せっかく移植をするのであれば、クラス化をお勧めする。</a:t>
            </a:r>
            <a:br>
              <a:rPr lang="en-US" altLang="ja-JP" sz="2263" b="1" dirty="0"/>
            </a:br>
            <a:r>
              <a:rPr lang="ja-JP" altLang="en-US" sz="2263" b="1" dirty="0"/>
              <a:t>キー入力処理はどの場面でも使用するので、</a:t>
            </a:r>
            <a:br>
              <a:rPr lang="en-US" altLang="ja-JP" sz="2263" b="1" dirty="0"/>
            </a:br>
            <a:r>
              <a:rPr lang="en-US" altLang="ja-JP" sz="2263" b="1" dirty="0">
                <a:solidFill>
                  <a:srgbClr val="FF00FF"/>
                </a:solidFill>
              </a:rPr>
              <a:t>static</a:t>
            </a:r>
            <a:r>
              <a:rPr lang="ja-JP" altLang="en-US" sz="2263" b="1" dirty="0">
                <a:solidFill>
                  <a:srgbClr val="FF00FF"/>
                </a:solidFill>
              </a:rPr>
              <a:t>クラス</a:t>
            </a:r>
            <a:r>
              <a:rPr lang="ja-JP" altLang="en-US" sz="2263" b="1" dirty="0"/>
              <a:t>にしてしまうのが良い。</a:t>
            </a:r>
            <a:endParaRPr lang="en-US" altLang="ja-JP" sz="2263" b="1" dirty="0"/>
          </a:p>
        </p:txBody>
      </p:sp>
      <p:sp>
        <p:nvSpPr>
          <p:cNvPr id="8" name="角丸四角形吹き出し 12">
            <a:extLst>
              <a:ext uri="{FF2B5EF4-FFF2-40B4-BE49-F238E27FC236}">
                <a16:creationId xmlns:a16="http://schemas.microsoft.com/office/drawing/2014/main" id="{B2254D71-D0C9-4D3D-BD67-4391E7324F0E}"/>
              </a:ext>
            </a:extLst>
          </p:cNvPr>
          <p:cNvSpPr/>
          <p:nvPr/>
        </p:nvSpPr>
        <p:spPr>
          <a:xfrm>
            <a:off x="946944" y="4401067"/>
            <a:ext cx="5564642" cy="788806"/>
          </a:xfrm>
          <a:prstGeom prst="wedgeRoundRectCallout">
            <a:avLst>
              <a:gd name="adj1" fmla="val 56542"/>
              <a:gd name="adj2" fmla="val 913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入力処理が</a:t>
            </a:r>
            <a:r>
              <a:rPr lang="en-US" altLang="ja-JP" sz="2000" b="1" dirty="0">
                <a:latin typeface="ＭＳ Ｐゴシック"/>
              </a:rPr>
              <a:t>static</a:t>
            </a:r>
            <a:r>
              <a:rPr lang="ja-JP" altLang="en-US" sz="2000" b="1" dirty="0">
                <a:latin typeface="ＭＳ Ｐゴシック"/>
              </a:rPr>
              <a:t>クラスで作れたら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ついでに</a:t>
            </a:r>
            <a:r>
              <a:rPr lang="en-US" altLang="ja-JP" sz="2000" b="1" dirty="0">
                <a:latin typeface="ＭＳ Ｐゴシック"/>
              </a:rPr>
              <a:t>FPS</a:t>
            </a:r>
            <a:r>
              <a:rPr lang="ja-JP" altLang="en-US" sz="2000" b="1" dirty="0">
                <a:latin typeface="ＭＳ Ｐゴシック"/>
              </a:rPr>
              <a:t>管理も</a:t>
            </a:r>
            <a:r>
              <a:rPr lang="en-US" altLang="ja-JP" sz="2000" b="1" dirty="0">
                <a:latin typeface="ＭＳ Ｐゴシック"/>
              </a:rPr>
              <a:t>static</a:t>
            </a:r>
            <a:r>
              <a:rPr lang="ja-JP" altLang="en-US" sz="2000" b="1" dirty="0">
                <a:latin typeface="ＭＳ Ｐゴシック"/>
              </a:rPr>
              <a:t>クラスにしてしまおう！</a:t>
            </a:r>
          </a:p>
        </p:txBody>
      </p:sp>
      <p:sp>
        <p:nvSpPr>
          <p:cNvPr id="9" name="角丸四角形吹き出し 12">
            <a:extLst>
              <a:ext uri="{FF2B5EF4-FFF2-40B4-BE49-F238E27FC236}">
                <a16:creationId xmlns:a16="http://schemas.microsoft.com/office/drawing/2014/main" id="{3BCF265C-B929-49E5-9927-BC43CFE7A1B0}"/>
              </a:ext>
            </a:extLst>
          </p:cNvPr>
          <p:cNvSpPr/>
          <p:nvPr/>
        </p:nvSpPr>
        <p:spPr>
          <a:xfrm>
            <a:off x="3194555" y="5600961"/>
            <a:ext cx="5564642" cy="788806"/>
          </a:xfrm>
          <a:prstGeom prst="wedgeRoundRectCallout">
            <a:avLst>
              <a:gd name="adj1" fmla="val -60614"/>
              <a:gd name="adj2" fmla="val -52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実は</a:t>
            </a:r>
            <a:r>
              <a:rPr lang="en-US" altLang="ja-JP" sz="2000" b="1" dirty="0">
                <a:latin typeface="ＭＳ Ｐゴシック"/>
              </a:rPr>
              <a:t>C++</a:t>
            </a:r>
            <a:r>
              <a:rPr lang="ja-JP" altLang="en-US" sz="2000" b="1" dirty="0">
                <a:latin typeface="ＭＳ Ｐゴシック"/>
              </a:rPr>
              <a:t>になると、</a:t>
            </a:r>
            <a:r>
              <a:rPr lang="en-US" altLang="ja-JP" sz="2000" b="1" dirty="0" err="1">
                <a:solidFill>
                  <a:srgbClr val="0000FF"/>
                </a:solidFill>
                <a:latin typeface="ＭＳ Ｐゴシック"/>
              </a:rPr>
              <a:t>WinMain</a:t>
            </a:r>
            <a:r>
              <a:rPr lang="en-US" altLang="ja-JP" sz="2000" b="1" dirty="0">
                <a:solidFill>
                  <a:srgbClr val="0000FF"/>
                </a:solidFill>
                <a:latin typeface="ＭＳ Ｐゴシック"/>
              </a:rPr>
              <a:t>()</a:t>
            </a: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関数以外は</a:t>
            </a:r>
            <a:br>
              <a:rPr lang="en-US" altLang="ja-JP" sz="2000" b="1" dirty="0">
                <a:solidFill>
                  <a:srgbClr val="0000FF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クラス化</a:t>
            </a:r>
            <a:r>
              <a:rPr lang="ja-JP" altLang="en-US" sz="2000" b="1" dirty="0">
                <a:latin typeface="ＭＳ Ｐゴシック"/>
              </a:rPr>
              <a:t>した方がいいのです。</a:t>
            </a:r>
          </a:p>
        </p:txBody>
      </p:sp>
      <p:pic>
        <p:nvPicPr>
          <p:cNvPr id="1026" name="Picture 2" descr="絵を模写している人のイラスト">
            <a:extLst>
              <a:ext uri="{FF2B5EF4-FFF2-40B4-BE49-F238E27FC236}">
                <a16:creationId xmlns:a16="http://schemas.microsoft.com/office/drawing/2014/main" id="{39903215-1083-4D23-8E2F-75306354D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064454"/>
            <a:ext cx="1902957" cy="172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スケッチ少年のイラスト">
            <a:extLst>
              <a:ext uri="{FF2B5EF4-FFF2-40B4-BE49-F238E27FC236}">
                <a16:creationId xmlns:a16="http://schemas.microsoft.com/office/drawing/2014/main" id="{F2072E0B-2275-4120-93A1-9DADBF087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274" y="3860414"/>
            <a:ext cx="1688976" cy="168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自己アピールのイラスト（男性）">
            <a:extLst>
              <a:ext uri="{FF2B5EF4-FFF2-40B4-BE49-F238E27FC236}">
                <a16:creationId xmlns:a16="http://schemas.microsoft.com/office/drawing/2014/main" id="{1E3C7497-97B7-4AFB-A3E4-D156FB3E4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273824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568723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20699</TotalTime>
  <Words>845</Words>
  <Application>Microsoft Office PowerPoint</Application>
  <PresentationFormat>画面に合わせる (4:3)</PresentationFormat>
  <Paragraphs>71</Paragraphs>
  <Slides>16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ＭＳ Ｐゴシック</vt:lpstr>
      <vt:lpstr>Arial</vt:lpstr>
      <vt:lpstr>Calibri</vt:lpstr>
      <vt:lpstr>標準デザイン</vt:lpstr>
      <vt:lpstr>この単元の目標</vt:lpstr>
      <vt:lpstr>9 弾の管理と発射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749</cp:revision>
  <dcterms:created xsi:type="dcterms:W3CDTF">2013-04-19T02:46:48Z</dcterms:created>
  <dcterms:modified xsi:type="dcterms:W3CDTF">2026-05-08T09:46:53Z</dcterms:modified>
</cp:coreProperties>
</file>