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4" r:id="rId2"/>
    <p:sldId id="263" r:id="rId3"/>
    <p:sldId id="593" r:id="rId4"/>
    <p:sldId id="594" r:id="rId5"/>
    <p:sldId id="480" r:id="rId6"/>
    <p:sldId id="534" r:id="rId7"/>
    <p:sldId id="523" r:id="rId8"/>
    <p:sldId id="535" r:id="rId9"/>
    <p:sldId id="536" r:id="rId10"/>
    <p:sldId id="595" r:id="rId11"/>
    <p:sldId id="597" r:id="rId12"/>
    <p:sldId id="539" r:id="rId13"/>
    <p:sldId id="596" r:id="rId14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9933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3" autoAdjust="0"/>
    <p:restoredTop sz="93432" autoAdjust="0"/>
  </p:normalViewPr>
  <p:slideViewPr>
    <p:cSldViewPr>
      <p:cViewPr varScale="1">
        <p:scale>
          <a:sx n="113" d="100"/>
          <a:sy n="113" d="100"/>
        </p:scale>
        <p:origin x="163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7E591F3-6C5C-4237-9A0F-19C627DFAD91}" type="datetimeFigureOut">
              <a:rPr lang="ja-JP" altLang="en-US"/>
              <a:pPr>
                <a:defRPr/>
              </a:pPr>
              <a:t>2026/5/1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4BE2DB-0632-44C0-A305-06F0D4B9CEE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64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741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66157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74818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48749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30863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326-21EF-45D6-9938-6B5BD0D058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49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B8C3-4F1B-4F8C-B78A-BA008A4288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03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992A-329F-4748-B8BD-5ACE4AD4DE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447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F9311-072B-437B-8F4A-90FAC793E7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87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856A-195B-44FC-9E8C-2B8EFCAF2E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134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8990D-02EF-4AF9-8193-ADA8B1D08A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E9533-605F-4AB1-90F2-B443A41F5F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77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F4E6F-8E4F-465C-BE46-3CA155F67A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356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2F0E-8486-49C0-88FF-C5FCF562858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02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12D0-E269-4F66-A389-47D91A25CD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464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5277F-FF33-41BB-B110-8F2E985F6F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062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F2B73C9D-6D14-4BD8-824F-F008878771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36694" y="1484784"/>
            <a:ext cx="7850124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オブジェクトを操作するための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ベースクラスを作成する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862886" cy="865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dirty="0"/>
              <a:t>8 </a:t>
            </a:r>
            <a:r>
              <a:rPr lang="ja-JP" altLang="en-US" dirty="0"/>
              <a:t>継承を用いたクラス設計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0923" y="1520424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ベースクラスの必要性</a:t>
            </a:r>
            <a:r>
              <a:rPr lang="en-US" altLang="ja-JP" sz="2263" b="1" dirty="0"/>
              <a:t>]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636704" y="5172277"/>
            <a:ext cx="7953375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FF"/>
                </a:solidFill>
              </a:rPr>
              <a:t>同じようなクラスの作りになりそうだったら、継承のチャンス</a:t>
            </a:r>
            <a:r>
              <a:rPr lang="ja-JP" altLang="en-US" sz="2263" b="1" dirty="0"/>
              <a:t>！</a:t>
            </a:r>
            <a:br>
              <a:rPr lang="en-US" altLang="ja-JP" sz="2263" b="1" dirty="0"/>
            </a:br>
            <a:r>
              <a:rPr lang="ja-JP" altLang="en-US" sz="2263" b="1" dirty="0"/>
              <a:t>共通した処理をベースとなるクラスに用意しておけば</a:t>
            </a:r>
            <a:br>
              <a:rPr lang="en-US" altLang="ja-JP" sz="2263" b="1" dirty="0"/>
            </a:br>
            <a:r>
              <a:rPr lang="ja-JP" altLang="en-US" sz="2263" b="1" dirty="0"/>
              <a:t>継承先では差分を作るだけで完成する！</a:t>
            </a:r>
            <a:endParaRPr lang="en-US" altLang="ja-JP" sz="2263" b="1" dirty="0"/>
          </a:p>
        </p:txBody>
      </p:sp>
      <p:sp>
        <p:nvSpPr>
          <p:cNvPr id="11" name="角丸四角形吹き出し 10"/>
          <p:cNvSpPr/>
          <p:nvPr/>
        </p:nvSpPr>
        <p:spPr>
          <a:xfrm>
            <a:off x="3491880" y="2245854"/>
            <a:ext cx="4608512" cy="1152128"/>
          </a:xfrm>
          <a:prstGeom prst="wedgeRoundRectCallout">
            <a:avLst>
              <a:gd name="adj1" fmla="val -60995"/>
              <a:gd name="adj2" fmla="val 1160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さて、次はプレイヤーに弾を撃たせよう。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また、コピー＆ペーストしなくちゃ。</a:t>
            </a:r>
          </a:p>
        </p:txBody>
      </p:sp>
      <p:sp>
        <p:nvSpPr>
          <p:cNvPr id="7" name="角丸四角形吹き出し 10">
            <a:extLst>
              <a:ext uri="{FF2B5EF4-FFF2-40B4-BE49-F238E27FC236}">
                <a16:creationId xmlns:a16="http://schemas.microsoft.com/office/drawing/2014/main" id="{9A49E856-AF89-426D-8C0E-5FF7D93E9F94}"/>
              </a:ext>
            </a:extLst>
          </p:cNvPr>
          <p:cNvSpPr/>
          <p:nvPr/>
        </p:nvSpPr>
        <p:spPr>
          <a:xfrm>
            <a:off x="611188" y="3802352"/>
            <a:ext cx="5400972" cy="1152128"/>
          </a:xfrm>
          <a:prstGeom prst="wedgeRoundRectCallout">
            <a:avLst>
              <a:gd name="adj1" fmla="val 63247"/>
              <a:gd name="adj2" fmla="val 1278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弾ってプレイヤーが発射するけど、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表示させる仕組みとかって今までと同じだよね。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また似たようなやつ書くの面倒・・・</a:t>
            </a:r>
          </a:p>
        </p:txBody>
      </p:sp>
      <p:pic>
        <p:nvPicPr>
          <p:cNvPr id="1026" name="Picture 2" descr="コンピューターで目が疲れている人のイラスト">
            <a:extLst>
              <a:ext uri="{FF2B5EF4-FFF2-40B4-BE49-F238E27FC236}">
                <a16:creationId xmlns:a16="http://schemas.microsoft.com/office/drawing/2014/main" id="{B41B6FC4-75A0-42C0-B9ED-F0290974F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3655347"/>
            <a:ext cx="1551293" cy="1551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忙しく仕事をしている男性会社員のイラスト">
            <a:extLst>
              <a:ext uri="{FF2B5EF4-FFF2-40B4-BE49-F238E27FC236}">
                <a16:creationId xmlns:a16="http://schemas.microsoft.com/office/drawing/2014/main" id="{0A6CAF17-15D8-4762-84D3-A379082DB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046272"/>
            <a:ext cx="1733288" cy="1551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23528" y="219762"/>
            <a:ext cx="5688632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継承のコツ</a:t>
            </a:r>
            <a:r>
              <a:rPr lang="en-US" altLang="ja-JP" sz="2263" b="1" dirty="0"/>
              <a:t>]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11808" y="804348"/>
            <a:ext cx="8208912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とはいえ、なんでも継承すると痛い目を見ることに・・・。</a:t>
            </a:r>
            <a:br>
              <a:rPr lang="en-US" altLang="ja-JP" sz="2263" b="1" dirty="0"/>
            </a:br>
            <a:r>
              <a:rPr lang="ja-JP" altLang="en-US" sz="2263" b="1" dirty="0"/>
              <a:t>継承を行う場合は、</a:t>
            </a:r>
            <a:r>
              <a:rPr lang="en-US" altLang="ja-JP" sz="2263" b="1" dirty="0">
                <a:solidFill>
                  <a:srgbClr val="FF0000"/>
                </a:solidFill>
              </a:rPr>
              <a:t>is-a</a:t>
            </a:r>
            <a:r>
              <a:rPr lang="ja-JP" altLang="en-US" sz="2263" b="1" dirty="0">
                <a:solidFill>
                  <a:srgbClr val="FF0000"/>
                </a:solidFill>
              </a:rPr>
              <a:t>関係</a:t>
            </a:r>
            <a:r>
              <a:rPr lang="en-US" altLang="ja-JP" sz="2263" b="1" dirty="0">
                <a:solidFill>
                  <a:srgbClr val="FF0000"/>
                </a:solidFill>
              </a:rPr>
              <a:t>(</a:t>
            </a:r>
            <a:r>
              <a:rPr lang="ja-JP" altLang="en-US" sz="2263" b="1" dirty="0">
                <a:solidFill>
                  <a:srgbClr val="FF0000"/>
                </a:solidFill>
              </a:rPr>
              <a:t>派生クラスは基底クラスである</a:t>
            </a:r>
            <a:r>
              <a:rPr lang="en-US" altLang="ja-JP" sz="2263" b="1" dirty="0">
                <a:solidFill>
                  <a:srgbClr val="FF0000"/>
                </a:solidFill>
              </a:rPr>
              <a:t>)</a:t>
            </a:r>
            <a:br>
              <a:rPr lang="en-US" altLang="ja-JP" sz="2263" b="1" dirty="0">
                <a:solidFill>
                  <a:srgbClr val="FF0000"/>
                </a:solidFill>
              </a:rPr>
            </a:br>
            <a:r>
              <a:rPr lang="ja-JP" altLang="en-US" sz="2263" b="1" dirty="0"/>
              <a:t>が成り立っているかを確認するとよいといわれている。</a:t>
            </a:r>
            <a:endParaRPr lang="en-US" altLang="ja-JP" sz="2263" b="1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198037" y="3269000"/>
            <a:ext cx="1785723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0000FF"/>
                </a:solidFill>
              </a:rPr>
              <a:t>スーツケース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534" y="1988840"/>
            <a:ext cx="850730" cy="1238927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968" y="2069851"/>
            <a:ext cx="1184920" cy="1184920"/>
          </a:xfrm>
          <a:prstGeom prst="rect">
            <a:avLst/>
          </a:prstGeom>
        </p:spPr>
      </p:pic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4679697" y="2608303"/>
            <a:ext cx="599079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は</a:t>
            </a:r>
            <a:endParaRPr lang="en-US" altLang="ja-JP" sz="2263" b="1" dirty="0"/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5136566" y="3269000"/>
            <a:ext cx="1785723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00"/>
                </a:solidFill>
              </a:rPr>
              <a:t>かばん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6621844" y="2580732"/>
            <a:ext cx="1032692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である</a:t>
            </a:r>
            <a:endParaRPr lang="en-US" altLang="ja-JP" sz="2263" b="1" dirty="0"/>
          </a:p>
        </p:txBody>
      </p:sp>
      <p:sp>
        <p:nvSpPr>
          <p:cNvPr id="7" name="ドーナツ 6"/>
          <p:cNvSpPr/>
          <p:nvPr/>
        </p:nvSpPr>
        <p:spPr>
          <a:xfrm>
            <a:off x="1863834" y="2266267"/>
            <a:ext cx="976698" cy="792088"/>
          </a:xfrm>
          <a:prstGeom prst="donut">
            <a:avLst/>
          </a:prstGeom>
          <a:solidFill>
            <a:srgbClr val="FF9999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3176333" y="5232773"/>
            <a:ext cx="1785723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0000FF"/>
                </a:solidFill>
              </a:rPr>
              <a:t>スーツケース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19" name="図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830" y="3952613"/>
            <a:ext cx="850730" cy="1238927"/>
          </a:xfrm>
          <a:prstGeom prst="rect">
            <a:avLst/>
          </a:prstGeom>
        </p:spPr>
      </p:pic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4657993" y="4572076"/>
            <a:ext cx="599079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は</a:t>
            </a:r>
            <a:endParaRPr lang="en-US" altLang="ja-JP" sz="2263" b="1" dirty="0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5114862" y="5232773"/>
            <a:ext cx="1785723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00"/>
                </a:solidFill>
              </a:rPr>
              <a:t>武器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6600140" y="4544505"/>
            <a:ext cx="1032692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である</a:t>
            </a:r>
            <a:endParaRPr lang="en-US" altLang="ja-JP" sz="2263" b="1" dirty="0"/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212" y="4136326"/>
            <a:ext cx="1256928" cy="1256928"/>
          </a:xfrm>
          <a:prstGeom prst="rect">
            <a:avLst/>
          </a:prstGeom>
        </p:spPr>
      </p:pic>
      <p:sp>
        <p:nvSpPr>
          <p:cNvPr id="10" name="乗算記号 9"/>
          <p:cNvSpPr/>
          <p:nvPr/>
        </p:nvSpPr>
        <p:spPr>
          <a:xfrm>
            <a:off x="1354933" y="4226424"/>
            <a:ext cx="1994500" cy="1040945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553537" y="5972010"/>
            <a:ext cx="8208912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これが成り立たない場合は、将来的に矛盾が生じる</a:t>
            </a:r>
            <a:br>
              <a:rPr lang="en-US" altLang="ja-JP" sz="2263" b="1" dirty="0"/>
            </a:br>
            <a:r>
              <a:rPr lang="ja-JP" altLang="en-US" sz="2263" b="1" dirty="0"/>
              <a:t>可能性が出てくるので、継承しないほうがよい。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1143552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90104" y="245352"/>
            <a:ext cx="8208912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また、継承は</a:t>
            </a:r>
            <a:r>
              <a:rPr lang="ja-JP" altLang="en-US" sz="2263" b="1" dirty="0">
                <a:solidFill>
                  <a:srgbClr val="FF0000"/>
                </a:solidFill>
              </a:rPr>
              <a:t>基底クラス</a:t>
            </a:r>
            <a:r>
              <a:rPr lang="ja-JP" altLang="en-US" sz="2263" b="1" dirty="0"/>
              <a:t>になればなるほど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FF0000"/>
                </a:solidFill>
              </a:rPr>
              <a:t>曖昧</a:t>
            </a:r>
            <a:r>
              <a:rPr lang="ja-JP" altLang="en-US" sz="2263" b="1" dirty="0"/>
              <a:t>なものになる傾向があり、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0000FF"/>
                </a:solidFill>
              </a:rPr>
              <a:t>派生クラス</a:t>
            </a:r>
            <a:r>
              <a:rPr lang="ja-JP" altLang="en-US" sz="2263" b="1" dirty="0"/>
              <a:t>になればなるほど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0000FF"/>
                </a:solidFill>
              </a:rPr>
              <a:t>具体的</a:t>
            </a:r>
            <a:r>
              <a:rPr lang="ja-JP" altLang="en-US" sz="2263" b="1" dirty="0"/>
              <a:t>なものになっていく傾向がある。</a:t>
            </a:r>
            <a:endParaRPr lang="en-US" altLang="ja-JP" sz="2263" b="1" dirty="0"/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1416787" y="4860534"/>
            <a:ext cx="894112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人間</a:t>
            </a:r>
            <a:endParaRPr lang="en-US" altLang="ja-JP" sz="2263" b="1" dirty="0"/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4215315" y="4860534"/>
            <a:ext cx="829088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先生</a:t>
            </a:r>
            <a:endParaRPr lang="en-US" altLang="ja-JP" sz="2263" b="1" dirty="0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584559" y="2568922"/>
            <a:ext cx="2319727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>
                <a:solidFill>
                  <a:srgbClr val="FF0000"/>
                </a:solidFill>
              </a:rPr>
              <a:t>基底クラス</a:t>
            </a:r>
            <a:r>
              <a:rPr lang="en-US" altLang="ja-JP" sz="2263" b="1" dirty="0"/>
              <a:t>]</a:t>
            </a:r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6744156" y="4860534"/>
            <a:ext cx="1500252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一八先生</a:t>
            </a:r>
            <a:endParaRPr lang="en-US" altLang="ja-JP" sz="2263" b="1" dirty="0"/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421127" y="5313223"/>
            <a:ext cx="295776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抽象的なので、処理が</a:t>
            </a:r>
            <a:br>
              <a:rPr lang="en-US" altLang="ja-JP" sz="2263" b="1" dirty="0"/>
            </a:br>
            <a:r>
              <a:rPr lang="ja-JP" altLang="en-US" sz="2263" b="1" dirty="0"/>
              <a:t>あまり記述できない</a:t>
            </a:r>
            <a:endParaRPr lang="en-US" altLang="ja-JP" sz="2263" b="1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739" y="3257963"/>
            <a:ext cx="1185726" cy="1472952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576" y="3068960"/>
            <a:ext cx="1218767" cy="1661955"/>
          </a:xfrm>
          <a:prstGeom prst="rect">
            <a:avLst/>
          </a:prstGeom>
        </p:spPr>
      </p:pic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6062965" y="2512737"/>
            <a:ext cx="2319727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>
                <a:solidFill>
                  <a:srgbClr val="0000FF"/>
                </a:solidFill>
              </a:rPr>
              <a:t>派生クラス</a:t>
            </a:r>
            <a:r>
              <a:rPr lang="en-US" altLang="ja-JP" sz="2263" b="1" dirty="0"/>
              <a:t>]</a:t>
            </a:r>
          </a:p>
        </p:txBody>
      </p:sp>
      <p:sp>
        <p:nvSpPr>
          <p:cNvPr id="20" name="右矢印 19"/>
          <p:cNvSpPr/>
          <p:nvPr/>
        </p:nvSpPr>
        <p:spPr>
          <a:xfrm>
            <a:off x="2310899" y="3160224"/>
            <a:ext cx="1656184" cy="6729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</a:rPr>
              <a:t>具体化</a:t>
            </a:r>
            <a:r>
              <a:rPr kumimoji="1" lang="en-US" altLang="ja-JP" b="1" dirty="0">
                <a:solidFill>
                  <a:srgbClr val="0000FF"/>
                </a:solidFill>
              </a:rPr>
              <a:t>(</a:t>
            </a:r>
            <a:r>
              <a:rPr kumimoji="1" lang="ja-JP" altLang="en-US" b="1" dirty="0">
                <a:solidFill>
                  <a:srgbClr val="0000FF"/>
                </a:solidFill>
              </a:rPr>
              <a:t>特化</a:t>
            </a:r>
            <a:r>
              <a:rPr kumimoji="1" lang="en-US" altLang="ja-JP" b="1" dirty="0">
                <a:solidFill>
                  <a:srgbClr val="0000FF"/>
                </a:solidFill>
              </a:rPr>
              <a:t>)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26" name="右矢印 25"/>
          <p:cNvSpPr/>
          <p:nvPr/>
        </p:nvSpPr>
        <p:spPr>
          <a:xfrm>
            <a:off x="5006952" y="3196375"/>
            <a:ext cx="1656184" cy="6729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</a:rPr>
              <a:t>具体化</a:t>
            </a:r>
            <a:r>
              <a:rPr kumimoji="1" lang="en-US" altLang="ja-JP" b="1" dirty="0">
                <a:solidFill>
                  <a:srgbClr val="0000FF"/>
                </a:solidFill>
              </a:rPr>
              <a:t>(</a:t>
            </a:r>
            <a:r>
              <a:rPr kumimoji="1" lang="ja-JP" altLang="en-US" b="1" dirty="0">
                <a:solidFill>
                  <a:srgbClr val="0000FF"/>
                </a:solidFill>
              </a:rPr>
              <a:t>特化</a:t>
            </a:r>
            <a:r>
              <a:rPr kumimoji="1" lang="en-US" altLang="ja-JP" b="1" dirty="0">
                <a:solidFill>
                  <a:srgbClr val="0000FF"/>
                </a:solidFill>
              </a:rPr>
              <a:t>)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27" name="右矢印 26"/>
          <p:cNvSpPr/>
          <p:nvPr/>
        </p:nvSpPr>
        <p:spPr>
          <a:xfrm flipH="1">
            <a:off x="4819046" y="3975259"/>
            <a:ext cx="1728192" cy="672964"/>
          </a:xfrm>
          <a:prstGeom prst="rightArrow">
            <a:avLst/>
          </a:prstGeom>
          <a:solidFill>
            <a:srgbClr val="FFCCCC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一般化</a:t>
            </a:r>
            <a:r>
              <a:rPr kumimoji="1" lang="en-US" altLang="ja-JP" b="1" dirty="0">
                <a:solidFill>
                  <a:srgbClr val="FF0000"/>
                </a:solidFill>
              </a:rPr>
              <a:t>(</a:t>
            </a:r>
            <a:r>
              <a:rPr kumimoji="1" lang="ja-JP" altLang="en-US" b="1" dirty="0">
                <a:solidFill>
                  <a:srgbClr val="FF0000"/>
                </a:solidFill>
              </a:rPr>
              <a:t>汎化</a:t>
            </a:r>
            <a:r>
              <a:rPr kumimoji="1" lang="en-US" altLang="ja-JP" b="1" dirty="0">
                <a:solidFill>
                  <a:srgbClr val="FF0000"/>
                </a:solidFill>
              </a:rPr>
              <a:t>)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28" name="右矢印 27"/>
          <p:cNvSpPr/>
          <p:nvPr/>
        </p:nvSpPr>
        <p:spPr>
          <a:xfrm flipH="1">
            <a:off x="2206371" y="3961057"/>
            <a:ext cx="1728192" cy="672964"/>
          </a:xfrm>
          <a:prstGeom prst="rightArrow">
            <a:avLst/>
          </a:prstGeom>
          <a:solidFill>
            <a:srgbClr val="FFCCCC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一般化</a:t>
            </a:r>
            <a:r>
              <a:rPr kumimoji="1" lang="en-US" altLang="ja-JP" b="1" dirty="0">
                <a:solidFill>
                  <a:srgbClr val="FF0000"/>
                </a:solidFill>
              </a:rPr>
              <a:t>(</a:t>
            </a:r>
            <a:r>
              <a:rPr kumimoji="1" lang="ja-JP" altLang="en-US" b="1" dirty="0">
                <a:solidFill>
                  <a:srgbClr val="FF0000"/>
                </a:solidFill>
              </a:rPr>
              <a:t>汎化</a:t>
            </a:r>
            <a:r>
              <a:rPr kumimoji="1" lang="en-US" altLang="ja-JP" b="1" dirty="0">
                <a:solidFill>
                  <a:srgbClr val="FF0000"/>
                </a:solidFill>
              </a:rPr>
              <a:t>)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5647655" y="5301104"/>
            <a:ext cx="3299417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具体的なので、より多くの</a:t>
            </a:r>
            <a:br>
              <a:rPr lang="en-US" altLang="ja-JP" sz="2263" b="1" dirty="0"/>
            </a:br>
            <a:r>
              <a:rPr lang="ja-JP" altLang="en-US" sz="2263" b="1" dirty="0"/>
              <a:t>処理を記述できる</a:t>
            </a:r>
            <a:endParaRPr lang="en-US" altLang="ja-JP" sz="2263" b="1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D3E4681-19C0-48A1-98A8-8A4E59660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825" y="2960860"/>
            <a:ext cx="1020436" cy="164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75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237347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フィールドとプレイヤーの比較</a:t>
            </a:r>
            <a:r>
              <a:rPr lang="en-US" altLang="ja-JP" sz="2263" b="1" dirty="0"/>
              <a:t>]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707178" y="677917"/>
            <a:ext cx="82525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ヘッダーファイルはそれぞれ次の通り。</a:t>
            </a:r>
            <a:endParaRPr lang="en-US" altLang="ja-JP" sz="2263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4AF8E94-7B8B-4F9A-91B1-2711ECF67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745518"/>
            <a:ext cx="3848637" cy="48489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D8517BC-F1B0-4693-886B-FB262C329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1118487"/>
            <a:ext cx="3413237" cy="55006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6150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角丸四角形吹き出し 9"/>
          <p:cNvSpPr/>
          <p:nvPr/>
        </p:nvSpPr>
        <p:spPr>
          <a:xfrm>
            <a:off x="467544" y="260648"/>
            <a:ext cx="3391467" cy="1152128"/>
          </a:xfrm>
          <a:prstGeom prst="wedgeRoundRectCallout">
            <a:avLst>
              <a:gd name="adj1" fmla="val 57836"/>
              <a:gd name="adj2" fmla="val 5422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座標とモデルハンドルは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どちらも持っているから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ベースクラスに用意しよう！</a:t>
            </a:r>
          </a:p>
        </p:txBody>
      </p:sp>
      <p:sp>
        <p:nvSpPr>
          <p:cNvPr id="14" name="角丸四角形吹き出し 9">
            <a:extLst>
              <a:ext uri="{FF2B5EF4-FFF2-40B4-BE49-F238E27FC236}">
                <a16:creationId xmlns:a16="http://schemas.microsoft.com/office/drawing/2014/main" id="{AF6CA129-847E-4BE6-919C-8CDAC36902E2}"/>
              </a:ext>
            </a:extLst>
          </p:cNvPr>
          <p:cNvSpPr/>
          <p:nvPr/>
        </p:nvSpPr>
        <p:spPr>
          <a:xfrm>
            <a:off x="5580112" y="188640"/>
            <a:ext cx="3391467" cy="1152128"/>
          </a:xfrm>
          <a:prstGeom prst="wedgeRoundRectCallout">
            <a:avLst>
              <a:gd name="adj1" fmla="val -62743"/>
              <a:gd name="adj2" fmla="val 61573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でも、回転角度だって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使うことも多いんじゃない？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ベースクラスに入れない？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5019684A-4C68-4D96-8FE4-45AFCDA1F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200" y="3012037"/>
            <a:ext cx="8208912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何をベースクラスに置くかは、意外と判断が難しい。</a:t>
            </a:r>
            <a:br>
              <a:rPr lang="en-US" altLang="ja-JP" sz="2263" b="1" dirty="0"/>
            </a:br>
            <a:r>
              <a:rPr lang="ja-JP" altLang="en-US" sz="2263" b="1" dirty="0"/>
              <a:t>一応、応用が効きやすいことを考えて設計する方がいいが、</a:t>
            </a:r>
            <a:br>
              <a:rPr lang="en-US" altLang="ja-JP" sz="2263" b="1" dirty="0"/>
            </a:br>
            <a:r>
              <a:rPr lang="ja-JP" altLang="en-US" sz="2263" b="1" dirty="0"/>
              <a:t>応用しやすいようにすると使い方が難しくなる副作用も・・・</a:t>
            </a:r>
            <a:endParaRPr lang="en-US" altLang="ja-JP" sz="2263" b="1" dirty="0"/>
          </a:p>
        </p:txBody>
      </p:sp>
      <p:pic>
        <p:nvPicPr>
          <p:cNvPr id="1026" name="Picture 2" descr="話し合う人たちのイラスト（夫婦）">
            <a:extLst>
              <a:ext uri="{FF2B5EF4-FFF2-40B4-BE49-F238E27FC236}">
                <a16:creationId xmlns:a16="http://schemas.microsoft.com/office/drawing/2014/main" id="{227E8299-3A74-4E99-9BBB-F4C1FE537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011" y="1411037"/>
            <a:ext cx="1602110" cy="1441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錬金術のイラスト">
            <a:extLst>
              <a:ext uri="{FF2B5EF4-FFF2-40B4-BE49-F238E27FC236}">
                <a16:creationId xmlns:a16="http://schemas.microsoft.com/office/drawing/2014/main" id="{04493FF8-3FDD-46B2-BB40-E5E773D65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327343"/>
            <a:ext cx="2412504" cy="240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角丸四角形吹き出し 9">
            <a:extLst>
              <a:ext uri="{FF2B5EF4-FFF2-40B4-BE49-F238E27FC236}">
                <a16:creationId xmlns:a16="http://schemas.microsoft.com/office/drawing/2014/main" id="{A4525F47-D100-457F-94CF-983ED5C9A9DA}"/>
              </a:ext>
            </a:extLst>
          </p:cNvPr>
          <p:cNvSpPr/>
          <p:nvPr/>
        </p:nvSpPr>
        <p:spPr>
          <a:xfrm>
            <a:off x="791344" y="4779021"/>
            <a:ext cx="4669777" cy="1497083"/>
          </a:xfrm>
          <a:prstGeom prst="wedgeRoundRectCallout">
            <a:avLst>
              <a:gd name="adj1" fmla="val 61586"/>
              <a:gd name="adj2" fmla="val 1160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応用力の高いプログラムは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使いやすさと等価交換じゃ。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この辺りのバランスは、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どれだけ経験を積んだかが重要じゃな。</a:t>
            </a:r>
          </a:p>
        </p:txBody>
      </p:sp>
    </p:spTree>
    <p:extLst>
      <p:ext uri="{BB962C8B-B14F-4D97-AF65-F5344CB8AC3E}">
        <p14:creationId xmlns:p14="http://schemas.microsoft.com/office/powerpoint/2010/main" val="3569071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575556" y="188640"/>
            <a:ext cx="7992888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と、いうわけで、現段階で山本が考案した</a:t>
            </a:r>
            <a:br>
              <a:rPr lang="en-US" altLang="ja-JP" sz="2263" b="1" dirty="0"/>
            </a:br>
            <a:r>
              <a:rPr lang="ja-JP" altLang="en-US" sz="2263" b="1" dirty="0"/>
              <a:t>ベースクラスのヘッダーはこちら！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79F5560-2AA0-459C-B3B5-D0994E4B4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56" y="1121461"/>
            <a:ext cx="3852428" cy="55835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92135A7-6D09-45D0-B232-BD2F9AEF63EB}"/>
              </a:ext>
            </a:extLst>
          </p:cNvPr>
          <p:cNvSpPr/>
          <p:nvPr/>
        </p:nvSpPr>
        <p:spPr>
          <a:xfrm>
            <a:off x="641232" y="2073587"/>
            <a:ext cx="3600401" cy="11521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1DAF943-C223-4E59-B854-B3010D88E3B0}"/>
              </a:ext>
            </a:extLst>
          </p:cNvPr>
          <p:cNvCxnSpPr>
            <a:cxnSpLocks/>
          </p:cNvCxnSpPr>
          <p:nvPr/>
        </p:nvCxnSpPr>
        <p:spPr>
          <a:xfrm>
            <a:off x="675100" y="2247199"/>
            <a:ext cx="83442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5">
            <a:extLst>
              <a:ext uri="{FF2B5EF4-FFF2-40B4-BE49-F238E27FC236}">
                <a16:creationId xmlns:a16="http://schemas.microsoft.com/office/drawing/2014/main" id="{A23D7474-B0A1-4424-9E4F-37FC0C41D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008" y="3645024"/>
            <a:ext cx="4248472" cy="3052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ポイントは下記の</a:t>
            </a:r>
            <a:r>
              <a:rPr lang="en-US" altLang="ja-JP" sz="2263" b="1" dirty="0"/>
              <a:t>3</a:t>
            </a:r>
            <a:r>
              <a:rPr lang="ja-JP" altLang="en-US" sz="2263" b="1" dirty="0"/>
              <a:t>つ。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①メンバ変数は継承先でも使える</a:t>
            </a:r>
            <a:br>
              <a:rPr lang="en-US" altLang="ja-JP" sz="2263" b="1" dirty="0"/>
            </a:br>
            <a:r>
              <a:rPr lang="ja-JP" altLang="en-US" sz="2263" b="1" dirty="0"/>
              <a:t>ように、</a:t>
            </a:r>
            <a:r>
              <a:rPr lang="en-US" altLang="ja-JP" sz="2263" b="1" dirty="0">
                <a:solidFill>
                  <a:srgbClr val="0070C0"/>
                </a:solidFill>
              </a:rPr>
              <a:t>protected</a:t>
            </a:r>
            <a:r>
              <a:rPr lang="ja-JP" altLang="en-US" sz="2263" b="1" dirty="0"/>
              <a:t>へ</a:t>
            </a:r>
            <a:br>
              <a:rPr lang="en-US" altLang="ja-JP" sz="2263" b="1" dirty="0"/>
            </a:br>
            <a:r>
              <a:rPr lang="ja-JP" altLang="en-US" sz="2263" b="1" dirty="0"/>
              <a:t>②弾の操作も考慮し、</a:t>
            </a:r>
            <a:r>
              <a:rPr lang="ja-JP" altLang="en-US" sz="2263" b="1" dirty="0">
                <a:solidFill>
                  <a:srgbClr val="00B050"/>
                </a:solidFill>
              </a:rPr>
              <a:t>生存フラグ</a:t>
            </a:r>
            <a:br>
              <a:rPr lang="en-US" altLang="ja-JP" sz="2263" b="1" dirty="0"/>
            </a:br>
            <a:r>
              <a:rPr lang="ja-JP" altLang="en-US" sz="2263" b="1" dirty="0"/>
              <a:t>を新しく追加。</a:t>
            </a:r>
            <a:br>
              <a:rPr lang="en-US" altLang="ja-JP" sz="2263" b="1" dirty="0"/>
            </a:br>
            <a:r>
              <a:rPr lang="ja-JP" altLang="en-US" sz="2263" b="1" dirty="0"/>
              <a:t>③</a:t>
            </a:r>
            <a:r>
              <a:rPr lang="ja-JP" altLang="en-US" sz="2263" b="1" dirty="0">
                <a:solidFill>
                  <a:srgbClr val="FF9933"/>
                </a:solidFill>
              </a:rPr>
              <a:t>移動・回転・拡大縮小</a:t>
            </a:r>
            <a:r>
              <a:rPr lang="ja-JP" altLang="en-US" sz="2263" b="1" dirty="0"/>
              <a:t>は</a:t>
            </a:r>
            <a:br>
              <a:rPr lang="en-US" altLang="ja-JP" sz="2263" b="1" dirty="0"/>
            </a:br>
            <a:r>
              <a:rPr lang="ja-JP" altLang="en-US" sz="2263" b="1" dirty="0"/>
              <a:t>頻繁に使うので、</a:t>
            </a:r>
            <a:br>
              <a:rPr lang="en-US" altLang="ja-JP" sz="2263" b="1" dirty="0"/>
            </a:br>
            <a:r>
              <a:rPr lang="ja-JP" altLang="en-US" sz="2263" b="1" dirty="0"/>
              <a:t>アクセサ付きで追加。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95B4D80-A83D-470D-8F03-D8E91DA80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34031"/>
            <a:ext cx="4392488" cy="23669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2456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528818" y="332656"/>
            <a:ext cx="821964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cpp</a:t>
            </a:r>
            <a:r>
              <a:rPr lang="ja-JP" altLang="en-US" sz="2263" b="1" dirty="0"/>
              <a:t>のほうは下記のような処理をベースの方に移植。</a:t>
            </a:r>
            <a:endParaRPr lang="en-US" altLang="ja-JP" sz="2263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9EC9816-B245-4DAF-892A-FA88B6D36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908720"/>
            <a:ext cx="4173445" cy="57826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角丸四角形吹き出し 9">
            <a:extLst>
              <a:ext uri="{FF2B5EF4-FFF2-40B4-BE49-F238E27FC236}">
                <a16:creationId xmlns:a16="http://schemas.microsoft.com/office/drawing/2014/main" id="{DA69DC27-904C-43F4-B446-CD64C1207EAE}"/>
              </a:ext>
            </a:extLst>
          </p:cNvPr>
          <p:cNvSpPr/>
          <p:nvPr/>
        </p:nvSpPr>
        <p:spPr>
          <a:xfrm>
            <a:off x="3851920" y="5661247"/>
            <a:ext cx="4248472" cy="865749"/>
          </a:xfrm>
          <a:prstGeom prst="wedgeRoundRectCallout">
            <a:avLst>
              <a:gd name="adj1" fmla="val -71199"/>
              <a:gd name="adj2" fmla="val 3511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パスが物体によって異なるので、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ここは作るだけ作って中身は空に。</a:t>
            </a:r>
          </a:p>
        </p:txBody>
      </p:sp>
    </p:spTree>
    <p:extLst>
      <p:ext uri="{BB962C8B-B14F-4D97-AF65-F5344CB8AC3E}">
        <p14:creationId xmlns:p14="http://schemas.microsoft.com/office/powerpoint/2010/main" val="1572295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716015" y="5013176"/>
            <a:ext cx="4115189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一旦はこれだけだが、</a:t>
            </a:r>
            <a:br>
              <a:rPr lang="en-US" altLang="ja-JP" sz="2263" b="1" dirty="0"/>
            </a:br>
            <a:r>
              <a:rPr lang="ja-JP" altLang="en-US" sz="2263" b="1" dirty="0"/>
              <a:t>もちろん今後もベースは</a:t>
            </a:r>
            <a:br>
              <a:rPr lang="en-US" altLang="ja-JP" sz="2263" b="1" dirty="0"/>
            </a:br>
            <a:r>
              <a:rPr lang="ja-JP" altLang="en-US" sz="2263" b="1" dirty="0"/>
              <a:t>拡張していって良い。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28B8574-E808-47B3-BF38-7766B3806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43549"/>
            <a:ext cx="3167812" cy="65709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角丸四角形吹き出し 9">
            <a:extLst>
              <a:ext uri="{FF2B5EF4-FFF2-40B4-BE49-F238E27FC236}">
                <a16:creationId xmlns:a16="http://schemas.microsoft.com/office/drawing/2014/main" id="{0CD7A3BC-7D51-4E7E-9391-9488A5F65B07}"/>
              </a:ext>
            </a:extLst>
          </p:cNvPr>
          <p:cNvSpPr/>
          <p:nvPr/>
        </p:nvSpPr>
        <p:spPr>
          <a:xfrm>
            <a:off x="3707903" y="309292"/>
            <a:ext cx="5123301" cy="865749"/>
          </a:xfrm>
          <a:prstGeom prst="wedgeRoundRectCallout">
            <a:avLst>
              <a:gd name="adj1" fmla="val -71199"/>
              <a:gd name="adj2" fmla="val 3511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>
                <a:latin typeface="ＭＳ Ｐゴシック"/>
              </a:rPr>
              <a:t>Step()</a:t>
            </a:r>
            <a:r>
              <a:rPr lang="ja-JP" altLang="en-US" sz="2000" b="1" dirty="0">
                <a:latin typeface="ＭＳ Ｐゴシック"/>
              </a:rPr>
              <a:t>も物体によって処理が大きく異なるので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いったん空っぽにしておく。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5D66F77-79BF-42B0-9075-80F7BF50711C}"/>
              </a:ext>
            </a:extLst>
          </p:cNvPr>
          <p:cNvCxnSpPr>
            <a:cxnSpLocks/>
          </p:cNvCxnSpPr>
          <p:nvPr/>
        </p:nvCxnSpPr>
        <p:spPr>
          <a:xfrm>
            <a:off x="1331640" y="4149080"/>
            <a:ext cx="18002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角丸四角形吹き出し 9">
            <a:extLst>
              <a:ext uri="{FF2B5EF4-FFF2-40B4-BE49-F238E27FC236}">
                <a16:creationId xmlns:a16="http://schemas.microsoft.com/office/drawing/2014/main" id="{FB999902-BD3F-4319-83FA-757CC7E81FB6}"/>
              </a:ext>
            </a:extLst>
          </p:cNvPr>
          <p:cNvSpPr/>
          <p:nvPr/>
        </p:nvSpPr>
        <p:spPr>
          <a:xfrm>
            <a:off x="3851921" y="3078996"/>
            <a:ext cx="3888432" cy="865749"/>
          </a:xfrm>
          <a:prstGeom prst="wedgeRoundRectCallout">
            <a:avLst>
              <a:gd name="adj1" fmla="val -67068"/>
              <a:gd name="adj2" fmla="val 4978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弾の発射処理を見越して、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生存フラグオンの時だけ描画</a:t>
            </a:r>
          </a:p>
        </p:txBody>
      </p:sp>
    </p:spTree>
    <p:extLst>
      <p:ext uri="{BB962C8B-B14F-4D97-AF65-F5344CB8AC3E}">
        <p14:creationId xmlns:p14="http://schemas.microsoft.com/office/powerpoint/2010/main" val="66363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237347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継承後のプレイヤークラス</a:t>
            </a:r>
            <a:r>
              <a:rPr lang="en-US" altLang="ja-JP" sz="2263" b="1" dirty="0"/>
              <a:t>]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45702" y="677917"/>
            <a:ext cx="825259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ベースとなるクラスができたことにより、プレイヤークラスの処理は</a:t>
            </a:r>
            <a:br>
              <a:rPr lang="en-US" altLang="ja-JP" sz="2263" b="1" dirty="0"/>
            </a:br>
            <a:r>
              <a:rPr lang="ja-JP" altLang="en-US" sz="2263" b="1" dirty="0"/>
              <a:t>追加が必要なところだけ記述することになる。</a:t>
            </a:r>
            <a:endParaRPr lang="en-US" altLang="ja-JP" sz="2263" b="1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4B72F39-6FA8-4EBB-9E12-C549B57F1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05" y="2276872"/>
            <a:ext cx="3416690" cy="43437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 Box 5">
            <a:extLst>
              <a:ext uri="{FF2B5EF4-FFF2-40B4-BE49-F238E27FC236}">
                <a16:creationId xmlns:a16="http://schemas.microsoft.com/office/drawing/2014/main" id="{A677F14F-69BD-491D-ACAB-0248DBA17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79" y="1687008"/>
            <a:ext cx="1555852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Player.h</a:t>
            </a:r>
            <a:endParaRPr lang="en-US" altLang="ja-JP" sz="2263" b="1" dirty="0"/>
          </a:p>
        </p:txBody>
      </p:sp>
      <p:sp>
        <p:nvSpPr>
          <p:cNvPr id="10" name="角丸四角形吹き出し 9">
            <a:extLst>
              <a:ext uri="{FF2B5EF4-FFF2-40B4-BE49-F238E27FC236}">
                <a16:creationId xmlns:a16="http://schemas.microsoft.com/office/drawing/2014/main" id="{D9F1A64C-63FE-47BE-B825-E3533353E4F8}"/>
              </a:ext>
            </a:extLst>
          </p:cNvPr>
          <p:cNvSpPr/>
          <p:nvPr/>
        </p:nvSpPr>
        <p:spPr>
          <a:xfrm>
            <a:off x="4809866" y="2272928"/>
            <a:ext cx="3888432" cy="1804144"/>
          </a:xfrm>
          <a:prstGeom prst="wedgeRoundRectCallout">
            <a:avLst>
              <a:gd name="adj1" fmla="val 5440"/>
              <a:gd name="adj2" fmla="val 7177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FF"/>
                </a:solidFill>
                <a:latin typeface="ＭＳ Ｐゴシック"/>
              </a:rPr>
              <a:t>ベースに無い変数だけ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記述します。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solidFill>
                  <a:srgbClr val="0070C0"/>
                </a:solidFill>
                <a:latin typeface="ＭＳ Ｐゴシック"/>
              </a:rPr>
              <a:t>さらに継承</a:t>
            </a:r>
            <a:r>
              <a:rPr lang="ja-JP" altLang="en-US" sz="2000" b="1" dirty="0">
                <a:latin typeface="ＭＳ Ｐゴシック"/>
              </a:rPr>
              <a:t>する場合は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メンバ変数は</a:t>
            </a:r>
            <a:r>
              <a:rPr lang="en-US" altLang="ja-JP" sz="2000" b="1" dirty="0">
                <a:latin typeface="ＭＳ Ｐゴシック"/>
              </a:rPr>
              <a:t>private</a:t>
            </a:r>
            <a:r>
              <a:rPr lang="ja-JP" altLang="en-US" sz="2000" b="1" dirty="0">
                <a:latin typeface="ＭＳ Ｐゴシック"/>
              </a:rPr>
              <a:t>でなく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>
                <a:solidFill>
                  <a:srgbClr val="0070C0"/>
                </a:solidFill>
                <a:latin typeface="ＭＳ Ｐゴシック"/>
              </a:rPr>
              <a:t>protected</a:t>
            </a:r>
            <a:r>
              <a:rPr lang="ja-JP" altLang="en-US" sz="2000" b="1" dirty="0">
                <a:latin typeface="ＭＳ Ｐゴシック"/>
              </a:rPr>
              <a:t>の方がいいかも？</a:t>
            </a:r>
          </a:p>
        </p:txBody>
      </p:sp>
      <p:pic>
        <p:nvPicPr>
          <p:cNvPr id="2050" name="Picture 2" descr="話し合う人たちのイラスト（女性1）">
            <a:extLst>
              <a:ext uri="{FF2B5EF4-FFF2-40B4-BE49-F238E27FC236}">
                <a16:creationId xmlns:a16="http://schemas.microsoft.com/office/drawing/2014/main" id="{48F62777-F171-4497-AA68-131C13F15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149080"/>
            <a:ext cx="19431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203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角丸四角形吹き出し 9"/>
          <p:cNvSpPr/>
          <p:nvPr/>
        </p:nvSpPr>
        <p:spPr>
          <a:xfrm>
            <a:off x="1547664" y="292390"/>
            <a:ext cx="3391467" cy="1368152"/>
          </a:xfrm>
          <a:prstGeom prst="wedgeRoundRectCallout">
            <a:avLst>
              <a:gd name="adj1" fmla="val 67323"/>
              <a:gd name="adj2" fmla="val 351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ん？</a:t>
            </a:r>
            <a:r>
              <a:rPr lang="en-US" altLang="ja-JP" sz="2000" b="1" dirty="0">
                <a:latin typeface="ＭＳ Ｐゴシック"/>
              </a:rPr>
              <a:t>Init()</a:t>
            </a:r>
            <a:r>
              <a:rPr lang="ja-JP" altLang="en-US" sz="2000" b="1" dirty="0">
                <a:latin typeface="ＭＳ Ｐゴシック"/>
              </a:rPr>
              <a:t>、</a:t>
            </a:r>
            <a:r>
              <a:rPr lang="en-US" altLang="ja-JP" sz="2000" b="1" dirty="0">
                <a:latin typeface="ＭＳ Ｐゴシック"/>
              </a:rPr>
              <a:t>Load()</a:t>
            </a:r>
            <a:r>
              <a:rPr lang="ja-JP" altLang="en-US" sz="2000" b="1" dirty="0">
                <a:latin typeface="ＭＳ Ｐゴシック"/>
              </a:rPr>
              <a:t>、</a:t>
            </a:r>
            <a:r>
              <a:rPr lang="en-US" altLang="ja-JP" sz="2000" b="1" dirty="0">
                <a:latin typeface="ＭＳ Ｐゴシック"/>
              </a:rPr>
              <a:t>Step()</a:t>
            </a:r>
            <a:r>
              <a:rPr lang="ja-JP" altLang="en-US" sz="2000" b="1" dirty="0">
                <a:latin typeface="ＭＳ Ｐゴシック"/>
              </a:rPr>
              <a:t>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基底クラスの方にも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全く同じものあるよ。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大丈夫なの？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5019684A-4C68-4D96-8FE4-45AFCDA1F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200" y="1859909"/>
            <a:ext cx="8208912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クラスには基底クラスにあるメソッドを上書きして</a:t>
            </a:r>
            <a:br>
              <a:rPr lang="en-US" altLang="ja-JP" sz="2263" b="1" dirty="0"/>
            </a:br>
            <a:r>
              <a:rPr lang="ja-JP" altLang="en-US" sz="2263" b="1" dirty="0"/>
              <a:t>新しく処理を書きなおす</a:t>
            </a:r>
            <a:r>
              <a:rPr lang="ja-JP" altLang="en-US" sz="2263" b="1" dirty="0">
                <a:solidFill>
                  <a:srgbClr val="FF0000"/>
                </a:solidFill>
              </a:rPr>
              <a:t>オーバーライド</a:t>
            </a:r>
            <a:r>
              <a:rPr lang="ja-JP" altLang="en-US" sz="2263" b="1" dirty="0"/>
              <a:t>という機能がある。</a:t>
            </a:r>
            <a:br>
              <a:rPr lang="en-US" altLang="ja-JP" sz="2263" b="1" dirty="0"/>
            </a:br>
            <a:r>
              <a:rPr lang="ja-JP" altLang="en-US" sz="2263" b="1" dirty="0"/>
              <a:t>派生先で詳しく記述をやり直したいというときは</a:t>
            </a:r>
            <a:br>
              <a:rPr lang="en-US" altLang="ja-JP" sz="2263" b="1" dirty="0"/>
            </a:br>
            <a:r>
              <a:rPr lang="ja-JP" altLang="en-US" sz="2263" b="1" dirty="0"/>
              <a:t>全く同じメソッド名で上書きしよう！</a:t>
            </a:r>
            <a:endParaRPr lang="en-US" altLang="ja-JP" sz="2263" b="1" dirty="0"/>
          </a:p>
        </p:txBody>
      </p:sp>
      <p:sp>
        <p:nvSpPr>
          <p:cNvPr id="16" name="角丸四角形吹き出し 9">
            <a:extLst>
              <a:ext uri="{FF2B5EF4-FFF2-40B4-BE49-F238E27FC236}">
                <a16:creationId xmlns:a16="http://schemas.microsoft.com/office/drawing/2014/main" id="{A4525F47-D100-457F-94CF-983ED5C9A9DA}"/>
              </a:ext>
            </a:extLst>
          </p:cNvPr>
          <p:cNvSpPr/>
          <p:nvPr/>
        </p:nvSpPr>
        <p:spPr>
          <a:xfrm>
            <a:off x="3977335" y="3724574"/>
            <a:ext cx="4669777" cy="1008112"/>
          </a:xfrm>
          <a:prstGeom prst="wedgeRoundRectCallout">
            <a:avLst>
              <a:gd name="adj1" fmla="val -63335"/>
              <a:gd name="adj2" fmla="val 1443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それなら、</a:t>
            </a:r>
            <a:r>
              <a:rPr lang="en-US" altLang="ja-JP" sz="2000" b="1" dirty="0">
                <a:latin typeface="ＭＳ Ｐゴシック"/>
              </a:rPr>
              <a:t>Load()</a:t>
            </a:r>
            <a:r>
              <a:rPr lang="ja-JP" altLang="en-US" sz="2000" b="1" dirty="0">
                <a:latin typeface="ＭＳ Ｐゴシック"/>
              </a:rPr>
              <a:t>や</a:t>
            </a:r>
            <a:r>
              <a:rPr lang="en-US" altLang="ja-JP" sz="2000" b="1" dirty="0">
                <a:latin typeface="ＭＳ Ｐゴシック"/>
              </a:rPr>
              <a:t>Step()</a:t>
            </a:r>
            <a:r>
              <a:rPr lang="ja-JP" altLang="en-US" sz="2000" b="1" dirty="0">
                <a:latin typeface="ＭＳ Ｐゴシック"/>
              </a:rPr>
              <a:t>なんかは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別に基底クラスの方で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メソッドを書かなくてもいいんじゃない？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613E5371-2B59-4B11-BCBD-A52C1FD1B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5112074"/>
            <a:ext cx="8208912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実は、何もなくても基底クラスにメソッドを準備するのは</a:t>
            </a:r>
            <a:br>
              <a:rPr lang="en-US" altLang="ja-JP" sz="2263" b="1" dirty="0"/>
            </a:br>
            <a:r>
              <a:rPr lang="ja-JP" altLang="en-US" sz="2263" b="1" dirty="0"/>
              <a:t>後々重要な作業工程となっていく。</a:t>
            </a:r>
            <a:br>
              <a:rPr lang="en-US" altLang="ja-JP" sz="2263" b="1" dirty="0"/>
            </a:br>
            <a:r>
              <a:rPr lang="ja-JP" altLang="en-US" sz="2263" b="1" dirty="0"/>
              <a:t>今は不要に思えても一旦記述しておこう！</a:t>
            </a:r>
            <a:endParaRPr lang="en-US" altLang="ja-JP" sz="2263" b="1" dirty="0"/>
          </a:p>
        </p:txBody>
      </p:sp>
      <p:pic>
        <p:nvPicPr>
          <p:cNvPr id="3074" name="Picture 2" descr="赤ちゃんの表情のイラスト（男・疑問）">
            <a:extLst>
              <a:ext uri="{FF2B5EF4-FFF2-40B4-BE49-F238E27FC236}">
                <a16:creationId xmlns:a16="http://schemas.microsoft.com/office/drawing/2014/main" id="{B8F7136C-F032-4EDA-AF6B-38A521286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80401"/>
            <a:ext cx="1356920" cy="159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おばさんの表情のイラスト「悩んだ顔」">
            <a:extLst>
              <a:ext uri="{FF2B5EF4-FFF2-40B4-BE49-F238E27FC236}">
                <a16:creationId xmlns:a16="http://schemas.microsoft.com/office/drawing/2014/main" id="{3B9ECCF2-2F74-4A28-8E09-994B5E180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508569"/>
            <a:ext cx="1296144" cy="1478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162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C76F4F1-4042-4DF9-A3A1-E32BF7E66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836712"/>
            <a:ext cx="3930794" cy="58052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 Box 5">
            <a:extLst>
              <a:ext uri="{FF2B5EF4-FFF2-40B4-BE49-F238E27FC236}">
                <a16:creationId xmlns:a16="http://schemas.microsoft.com/office/drawing/2014/main" id="{4E75CD63-756E-49F9-8B8F-48AD744CD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4" y="260648"/>
            <a:ext cx="1642022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Player.cpp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50C5F316-2DAA-4D7A-8B98-F46CCECF3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6" y="836712"/>
            <a:ext cx="3606832" cy="44841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Text Box 5">
            <a:extLst>
              <a:ext uri="{FF2B5EF4-FFF2-40B4-BE49-F238E27FC236}">
                <a16:creationId xmlns:a16="http://schemas.microsoft.com/office/drawing/2014/main" id="{22FED861-0482-45E5-ADE9-4BC72E21E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664" y="5486427"/>
            <a:ext cx="4154422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Init()</a:t>
            </a:r>
            <a:r>
              <a:rPr lang="ja-JP" altLang="en-US" sz="2263" b="1" dirty="0"/>
              <a:t>は基底クラスの</a:t>
            </a:r>
            <a:r>
              <a:rPr lang="en-US" altLang="ja-JP" sz="2263" b="1" dirty="0"/>
              <a:t>Init()</a:t>
            </a:r>
            <a:r>
              <a:rPr lang="ja-JP" altLang="en-US" sz="2263" b="1" dirty="0"/>
              <a:t>を</a:t>
            </a:r>
            <a:br>
              <a:rPr lang="en-US" altLang="ja-JP" sz="2263" b="1" dirty="0"/>
            </a:br>
            <a:r>
              <a:rPr lang="ja-JP" altLang="en-US" sz="2263" b="1" dirty="0"/>
              <a:t>呼び出した後に</a:t>
            </a:r>
            <a:br>
              <a:rPr lang="en-US" altLang="ja-JP" sz="2263" b="1" dirty="0"/>
            </a:br>
            <a:r>
              <a:rPr lang="ja-JP" altLang="en-US" sz="2263" b="1" dirty="0"/>
              <a:t>追加した変数の初期化を！</a:t>
            </a:r>
            <a:endParaRPr lang="en-US" altLang="ja-JP" sz="2263" b="1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ABE286C-0BD9-4461-9899-4D4408B8676E}"/>
              </a:ext>
            </a:extLst>
          </p:cNvPr>
          <p:cNvCxnSpPr>
            <a:cxnSpLocks/>
          </p:cNvCxnSpPr>
          <p:nvPr/>
        </p:nvCxnSpPr>
        <p:spPr>
          <a:xfrm>
            <a:off x="683568" y="4750545"/>
            <a:ext cx="122413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750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237347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継承後のフィールドクラス</a:t>
            </a:r>
            <a:r>
              <a:rPr lang="en-US" altLang="ja-JP" sz="2263" b="1" dirty="0"/>
              <a:t>]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45702" y="677917"/>
            <a:ext cx="825259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フィールドクラスはさらにシンプルな形に！</a:t>
            </a:r>
            <a:br>
              <a:rPr lang="en-US" altLang="ja-JP" sz="2263" b="1" dirty="0"/>
            </a:br>
            <a:r>
              <a:rPr lang="ja-JP" altLang="en-US" sz="2263" b="1" dirty="0"/>
              <a:t>継承を使うとかなり楽になるので、積極的に使っていこう！</a:t>
            </a:r>
            <a:endParaRPr lang="en-US" altLang="ja-JP" sz="2263" b="1" dirty="0"/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A677F14F-69BD-491D-ACAB-0248DBA17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79" y="1687008"/>
            <a:ext cx="1555852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Field.h</a:t>
            </a:r>
            <a:endParaRPr lang="en-US" altLang="ja-JP" sz="2263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700AF4E-1589-4D20-9E90-37FD47E54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02" y="2276872"/>
            <a:ext cx="3334210" cy="2096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3455C7A-69B1-48CC-9516-D8F1863B4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782" y="2272433"/>
            <a:ext cx="4964706" cy="25099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 Box 5">
            <a:extLst>
              <a:ext uri="{FF2B5EF4-FFF2-40B4-BE49-F238E27FC236}">
                <a16:creationId xmlns:a16="http://schemas.microsoft.com/office/drawing/2014/main" id="{57A2668E-933B-4BFB-8D00-B1C285BBA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579" y="1687008"/>
            <a:ext cx="1555852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Field.cpp</a:t>
            </a:r>
          </a:p>
        </p:txBody>
      </p:sp>
      <p:sp>
        <p:nvSpPr>
          <p:cNvPr id="14" name="角丸四角形吹き出し 9">
            <a:extLst>
              <a:ext uri="{FF2B5EF4-FFF2-40B4-BE49-F238E27FC236}">
                <a16:creationId xmlns:a16="http://schemas.microsoft.com/office/drawing/2014/main" id="{5A34D63C-800C-460B-933B-086D24099D24}"/>
              </a:ext>
            </a:extLst>
          </p:cNvPr>
          <p:cNvSpPr/>
          <p:nvPr/>
        </p:nvSpPr>
        <p:spPr>
          <a:xfrm>
            <a:off x="937519" y="5013176"/>
            <a:ext cx="3888432" cy="1607477"/>
          </a:xfrm>
          <a:prstGeom prst="wedgeRoundRectCallout">
            <a:avLst>
              <a:gd name="adj1" fmla="val 68802"/>
              <a:gd name="adj2" fmla="val 803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たったこれだけ？！</a:t>
            </a:r>
            <a:b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</a:br>
            <a: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  <a:t>Main.cpp</a:t>
            </a: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の修正も不要！！</a:t>
            </a:r>
            <a:b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少ない労力なのに今まで通りの</a:t>
            </a:r>
            <a:b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書き方で許されるなんて・・・</a:t>
            </a:r>
          </a:p>
        </p:txBody>
      </p:sp>
      <p:pic>
        <p:nvPicPr>
          <p:cNvPr id="4098" name="Picture 2" descr="驚いて目が飛び出る人のイラスト（女性）">
            <a:extLst>
              <a:ext uri="{FF2B5EF4-FFF2-40B4-BE49-F238E27FC236}">
                <a16:creationId xmlns:a16="http://schemas.microsoft.com/office/drawing/2014/main" id="{D96D790C-4C7B-4BC9-94C8-89A8245ED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783691"/>
            <a:ext cx="1987335" cy="1838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9362136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18700</TotalTime>
  <Words>872</Words>
  <Application>Microsoft Office PowerPoint</Application>
  <PresentationFormat>画面に合わせる (4:3)</PresentationFormat>
  <Paragraphs>64</Paragraphs>
  <Slides>13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ＭＳ Ｐゴシック</vt:lpstr>
      <vt:lpstr>Arial</vt:lpstr>
      <vt:lpstr>Calibri</vt:lpstr>
      <vt:lpstr>標準デザイン</vt:lpstr>
      <vt:lpstr>この単元の目標</vt:lpstr>
      <vt:lpstr>8 継承を用いたクラス設計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660</cp:revision>
  <dcterms:created xsi:type="dcterms:W3CDTF">2013-04-19T02:46:48Z</dcterms:created>
  <dcterms:modified xsi:type="dcterms:W3CDTF">2026-05-01T07:52:04Z</dcterms:modified>
</cp:coreProperties>
</file>