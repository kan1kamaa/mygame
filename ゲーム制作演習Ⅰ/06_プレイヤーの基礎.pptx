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63" r:id="rId3"/>
    <p:sldId id="543" r:id="rId4"/>
    <p:sldId id="542" r:id="rId5"/>
    <p:sldId id="544" r:id="rId6"/>
    <p:sldId id="545" r:id="rId7"/>
    <p:sldId id="546" r:id="rId8"/>
    <p:sldId id="548" r:id="rId9"/>
    <p:sldId id="480" r:id="rId10"/>
    <p:sldId id="547" r:id="rId11"/>
    <p:sldId id="549" r:id="rId12"/>
    <p:sldId id="550" r:id="rId13"/>
    <p:sldId id="551" r:id="rId14"/>
    <p:sldId id="527" r:id="rId15"/>
    <p:sldId id="528" r:id="rId16"/>
    <p:sldId id="529" r:id="rId17"/>
    <p:sldId id="530" r:id="rId18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0000"/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3" autoAdjust="0"/>
    <p:restoredTop sz="93432" autoAdjust="0"/>
  </p:normalViewPr>
  <p:slideViewPr>
    <p:cSldViewPr>
      <p:cViewPr varScale="1">
        <p:scale>
          <a:sx n="70" d="100"/>
          <a:sy n="70" d="100"/>
        </p:scale>
        <p:origin x="4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2026/4/27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プレイヤーが向いている方へ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前進・後退することができる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6 </a:t>
            </a:r>
            <a:r>
              <a:rPr lang="ja-JP" altLang="en-US" dirty="0"/>
              <a:t>プレイヤーの基礎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C5C92CD-AB9F-42B6-BC69-996B0BACF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16" y="1908310"/>
            <a:ext cx="8754369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ここまでのプログラムが理解できれば、</a:t>
            </a:r>
            <a:br>
              <a:rPr lang="en-US" altLang="ja-JP" sz="2263" b="1" dirty="0"/>
            </a:br>
            <a:r>
              <a:rPr lang="ja-JP" altLang="en-US" sz="2263" b="1" dirty="0"/>
              <a:t>いよいよゲームっぽいものの作成が可能となる。</a:t>
            </a:r>
            <a:br>
              <a:rPr lang="en-US" altLang="ja-JP" sz="2263" b="1" dirty="0"/>
            </a:br>
            <a:r>
              <a:rPr lang="ja-JP" altLang="en-US" sz="2263" b="1" dirty="0"/>
              <a:t>一番テンションが上がる、プレイヤー周りから作成してみよう！</a:t>
            </a:r>
            <a:endParaRPr lang="en-US" altLang="ja-JP" sz="2263" b="1" dirty="0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33E34684-4E55-4E4A-A9D7-F7EE659F5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37" y="3711655"/>
            <a:ext cx="4736383" cy="252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キャラクターは左右キーで</a:t>
            </a:r>
            <a:br>
              <a:rPr lang="en-US" altLang="ja-JP" sz="2263" b="1" dirty="0"/>
            </a:br>
            <a:r>
              <a:rPr lang="en-US" altLang="ja-JP" sz="2263" b="1" dirty="0"/>
              <a:t>Y</a:t>
            </a:r>
            <a:r>
              <a:rPr lang="ja-JP" altLang="en-US" sz="2263" b="1" dirty="0"/>
              <a:t>軸回転を行い、</a:t>
            </a:r>
            <a:br>
              <a:rPr lang="en-US" altLang="ja-JP" sz="2263" b="1" dirty="0"/>
            </a:br>
            <a:r>
              <a:rPr lang="ja-JP" altLang="en-US" sz="2263" b="1" dirty="0"/>
              <a:t>上下キーを押すと</a:t>
            </a:r>
            <a:r>
              <a:rPr lang="ja-JP" altLang="en-US" sz="2263" b="1" dirty="0">
                <a:solidFill>
                  <a:srgbClr val="0000FF"/>
                </a:solidFill>
              </a:rPr>
              <a:t>キャラクターが</a:t>
            </a:r>
            <a:br>
              <a:rPr lang="en-US" altLang="ja-JP" sz="2263" b="1" dirty="0">
                <a:solidFill>
                  <a:srgbClr val="0000FF"/>
                </a:solidFill>
              </a:rPr>
            </a:br>
            <a:r>
              <a:rPr lang="ja-JP" altLang="en-US" sz="2263" b="1" dirty="0">
                <a:solidFill>
                  <a:srgbClr val="0000FF"/>
                </a:solidFill>
              </a:rPr>
              <a:t>向いている方向に前進後退</a:t>
            </a:r>
            <a:r>
              <a:rPr lang="ja-JP" altLang="en-US" sz="2263" b="1" dirty="0"/>
              <a:t>する。</a:t>
            </a:r>
            <a:br>
              <a:rPr lang="en-US" altLang="ja-JP" sz="2263" b="1" dirty="0"/>
            </a:br>
            <a:r>
              <a:rPr lang="ja-JP" altLang="en-US" sz="2263" b="1" dirty="0"/>
              <a:t>なお、カメラは今後用意するので</a:t>
            </a:r>
            <a:br>
              <a:rPr lang="en-US" altLang="ja-JP" sz="2263" b="1" dirty="0"/>
            </a:br>
            <a:r>
              <a:rPr lang="ja-JP" altLang="en-US" sz="2263" b="1" dirty="0"/>
              <a:t>固定位置で設定するだけでよい。</a:t>
            </a:r>
            <a:br>
              <a:rPr lang="en-US" altLang="ja-JP" sz="2263" b="1" dirty="0"/>
            </a:br>
            <a:r>
              <a:rPr lang="ja-JP" altLang="en-US" sz="2263" b="1" dirty="0"/>
              <a:t>また、当たり判定は無視してよい。</a:t>
            </a:r>
            <a:endParaRPr lang="en-US" altLang="ja-JP" sz="2263" b="1" dirty="0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9575B53F-801C-48D7-9590-DC3AFC255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71085"/>
            <a:ext cx="226774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【</a:t>
            </a:r>
            <a:r>
              <a:rPr lang="ja-JP" altLang="en-US" sz="2263" b="1" dirty="0"/>
              <a:t>今回の仕様</a:t>
            </a:r>
            <a:r>
              <a:rPr lang="en-US" altLang="ja-JP" sz="2263" b="1" dirty="0"/>
              <a:t>】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090024F4-2B99-40E5-8278-E9192D451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7" y="1429045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プレイヤーの実装</a:t>
            </a:r>
            <a:r>
              <a:rPr lang="en-US" altLang="ja-JP" sz="2263" b="1" dirty="0"/>
              <a:t>]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6540C80-C0A9-41B5-B4B0-E30DD41E9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3729911"/>
            <a:ext cx="4089153" cy="2398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プロジェクト内の構成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07504" y="836712"/>
            <a:ext cx="5328592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内部構成は</a:t>
            </a:r>
            <a:r>
              <a:rPr lang="en-US" altLang="ja-JP" sz="2263" b="1" dirty="0"/>
              <a:t>2D</a:t>
            </a:r>
            <a:r>
              <a:rPr lang="ja-JP" altLang="en-US" sz="2263" b="1" dirty="0"/>
              <a:t>シューティングの時と</a:t>
            </a:r>
            <a:br>
              <a:rPr lang="en-US" altLang="ja-JP" sz="2263" b="1" dirty="0"/>
            </a:br>
            <a:r>
              <a:rPr lang="ja-JP" altLang="en-US" sz="2263" b="1" dirty="0"/>
              <a:t>同じように作って問題ない。</a:t>
            </a:r>
            <a:br>
              <a:rPr lang="en-US" altLang="ja-JP" sz="2263" b="1" dirty="0"/>
            </a:br>
            <a:r>
              <a:rPr lang="ja-JP" altLang="en-US" sz="2263" b="1" dirty="0"/>
              <a:t>ただし、今回は細分化して</a:t>
            </a:r>
            <a:br>
              <a:rPr lang="en-US" altLang="ja-JP" sz="2263" b="1" dirty="0"/>
            </a:br>
            <a:r>
              <a:rPr lang="ja-JP" altLang="en-US" sz="2263" b="1" dirty="0"/>
              <a:t>今後プログラムが増えていっても</a:t>
            </a:r>
            <a:br>
              <a:rPr lang="en-US" altLang="ja-JP" sz="2263" b="1" dirty="0"/>
            </a:br>
            <a:r>
              <a:rPr lang="ja-JP" altLang="en-US" sz="2263" b="1" dirty="0"/>
              <a:t>見やすく管理できるようにする！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F4D0945-468E-4340-BE00-6565157AF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764704"/>
            <a:ext cx="2952328" cy="55766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A40F04EF-B689-4670-A46D-F36E348714AF}"/>
              </a:ext>
            </a:extLst>
          </p:cNvPr>
          <p:cNvSpPr/>
          <p:nvPr/>
        </p:nvSpPr>
        <p:spPr>
          <a:xfrm>
            <a:off x="6156176" y="4797152"/>
            <a:ext cx="1872208" cy="864096"/>
          </a:xfrm>
          <a:prstGeom prst="flowChartProcess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66F2603C-F840-46FF-A1A7-CA41ECB42563}"/>
              </a:ext>
            </a:extLst>
          </p:cNvPr>
          <p:cNvSpPr/>
          <p:nvPr/>
        </p:nvSpPr>
        <p:spPr>
          <a:xfrm>
            <a:off x="6166779" y="3005132"/>
            <a:ext cx="1872208" cy="1747852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9FE0C653-99E4-4A84-A2EB-49A9C0902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015585"/>
            <a:ext cx="5328592" cy="148527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ゲーム本編用のプログラム</a:t>
            </a:r>
            <a:br>
              <a:rPr lang="en-US" altLang="ja-JP" sz="2263" b="1" dirty="0"/>
            </a:br>
            <a:r>
              <a:rPr lang="en-US" altLang="ja-JP" sz="2263" b="1" dirty="0"/>
              <a:t>[Object]</a:t>
            </a:r>
            <a:r>
              <a:rPr lang="ja-JP" altLang="en-US" sz="2263" b="1" dirty="0"/>
              <a:t>←ゲームに置く物体を管理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/>
              <a:t>[Field]</a:t>
            </a:r>
            <a:r>
              <a:rPr lang="ja-JP" altLang="en-US" sz="2263" b="1" dirty="0"/>
              <a:t>←背景に関するもの</a:t>
            </a:r>
            <a:br>
              <a:rPr lang="en-US" altLang="ja-JP" sz="2263" b="1" dirty="0"/>
            </a:br>
            <a:r>
              <a:rPr lang="en-US" altLang="ja-JP" sz="2263" b="1" dirty="0"/>
              <a:t>  [Player]</a:t>
            </a:r>
            <a:r>
              <a:rPr lang="ja-JP" altLang="en-US" sz="2263" b="1" dirty="0"/>
              <a:t>←プレイヤーに関するもの</a:t>
            </a:r>
            <a:endParaRPr lang="en-US" altLang="ja-JP" sz="2263" b="1" dirty="0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BF584566-ED93-4979-8099-F3A4E5DBF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33" y="5085184"/>
            <a:ext cx="5328592" cy="1485278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ライブラリ用のプログラム</a:t>
            </a:r>
            <a:br>
              <a:rPr lang="en-US" altLang="ja-JP" sz="2263" b="1" dirty="0"/>
            </a:br>
            <a:r>
              <a:rPr lang="en-US" altLang="ja-JP" sz="2263" b="1" dirty="0"/>
              <a:t>[Object]</a:t>
            </a:r>
            <a:r>
              <a:rPr lang="ja-JP" altLang="en-US" sz="2263" b="1" dirty="0"/>
              <a:t>←ゲームに置く物体を管理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/>
              <a:t>[Field]</a:t>
            </a:r>
            <a:r>
              <a:rPr lang="ja-JP" altLang="en-US" sz="2263" b="1" dirty="0"/>
              <a:t>←背景に関するもの</a:t>
            </a:r>
            <a:br>
              <a:rPr lang="en-US" altLang="ja-JP" sz="2263" b="1" dirty="0"/>
            </a:br>
            <a:r>
              <a:rPr lang="en-US" altLang="ja-JP" sz="2263" b="1" dirty="0"/>
              <a:t>  [Player]</a:t>
            </a:r>
            <a:r>
              <a:rPr lang="ja-JP" altLang="en-US" sz="2263" b="1" dirty="0"/>
              <a:t>←プレイヤーに関するもの</a:t>
            </a:r>
            <a:endParaRPr lang="en-US" altLang="ja-JP" sz="2263" b="1" dirty="0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3A751B61-9D0E-4634-BED2-53E2E4441167}"/>
              </a:ext>
            </a:extLst>
          </p:cNvPr>
          <p:cNvSpPr/>
          <p:nvPr/>
        </p:nvSpPr>
        <p:spPr>
          <a:xfrm>
            <a:off x="5601318" y="3553014"/>
            <a:ext cx="482850" cy="596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A836D43E-F93E-4DB7-B7AB-F72898AEF0BE}"/>
              </a:ext>
            </a:extLst>
          </p:cNvPr>
          <p:cNvSpPr/>
          <p:nvPr/>
        </p:nvSpPr>
        <p:spPr>
          <a:xfrm>
            <a:off x="5580112" y="5061238"/>
            <a:ext cx="482850" cy="596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89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背景クラスの作成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719857"/>
            <a:ext cx="825259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まずは、ただ表示するだけの背景を</a:t>
            </a:r>
            <a:br>
              <a:rPr lang="en-US" altLang="ja-JP" sz="2263" b="1" dirty="0"/>
            </a:br>
            <a:r>
              <a:rPr lang="ja-JP" altLang="en-US" sz="2263" b="1" dirty="0"/>
              <a:t>クラスを用いて実装していこう！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153A89A-6AC0-4C84-987E-8DC1C2B2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29" y="1508663"/>
            <a:ext cx="3663997" cy="51995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B678EA49-96C0-4962-B8A9-DC1480AF3D84}"/>
              </a:ext>
            </a:extLst>
          </p:cNvPr>
          <p:cNvSpPr/>
          <p:nvPr/>
        </p:nvSpPr>
        <p:spPr>
          <a:xfrm>
            <a:off x="4353243" y="2041528"/>
            <a:ext cx="4417557" cy="1728192"/>
          </a:xfrm>
          <a:prstGeom prst="wedgeRoundRectCallout">
            <a:avLst>
              <a:gd name="adj1" fmla="val 33592"/>
              <a:gd name="adj2" fmla="val 7917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最低限の表示なら座標とハンドルだけ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変数を用意していれば大丈夫かな？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クラス化しても、各種関数は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2D</a:t>
            </a:r>
            <a:r>
              <a:rPr lang="ja-JP" altLang="en-US" sz="2000" b="1" dirty="0">
                <a:latin typeface="ＭＳ Ｐゴシック"/>
              </a:rPr>
              <a:t>シューティングのプレイヤーと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同じでいいんだね。</a:t>
            </a:r>
          </a:p>
        </p:txBody>
      </p:sp>
      <p:pic>
        <p:nvPicPr>
          <p:cNvPr id="1026" name="Picture 2" descr="笑顔の猫のキャラクター">
            <a:extLst>
              <a:ext uri="{FF2B5EF4-FFF2-40B4-BE49-F238E27FC236}">
                <a16:creationId xmlns:a16="http://schemas.microsoft.com/office/drawing/2014/main" id="{7B1F767B-B7E4-42CD-B4DB-83A5EEE02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837" y="4302585"/>
            <a:ext cx="1851163" cy="202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678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8C7E1D-CFCB-4198-860A-96CB79906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24" y="656030"/>
            <a:ext cx="6593067" cy="60337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188640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cpp</a:t>
            </a:r>
            <a:r>
              <a:rPr lang="ja-JP" altLang="en-US" sz="2263" b="1" dirty="0"/>
              <a:t>ファイルは次のような感じになる。</a:t>
            </a:r>
            <a:endParaRPr lang="en-US" altLang="ja-JP" sz="2263" b="1" dirty="0"/>
          </a:p>
        </p:txBody>
      </p:sp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B678EA49-96C0-4962-B8A9-DC1480AF3D84}"/>
              </a:ext>
            </a:extLst>
          </p:cNvPr>
          <p:cNvSpPr/>
          <p:nvPr/>
        </p:nvSpPr>
        <p:spPr>
          <a:xfrm>
            <a:off x="3571600" y="2600908"/>
            <a:ext cx="4417557" cy="1656184"/>
          </a:xfrm>
          <a:prstGeom prst="wedgeRoundRectCallout">
            <a:avLst>
              <a:gd name="adj1" fmla="val 36098"/>
              <a:gd name="adj2" fmla="val 9758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クラス化したから、コンストラクタで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初期化をしています。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Init()</a:t>
            </a:r>
            <a:r>
              <a:rPr lang="ja-JP" altLang="en-US" sz="2000" b="1" dirty="0">
                <a:latin typeface="ＭＳ Ｐゴシック"/>
              </a:rPr>
              <a:t>でハンドルを初期化しないのは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ゲームをリスタートするときのための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対策なのです！</a:t>
            </a:r>
          </a:p>
        </p:txBody>
      </p:sp>
      <p:pic>
        <p:nvPicPr>
          <p:cNvPr id="2050" name="Picture 2" descr="自信満々の女の子のイラスト">
            <a:extLst>
              <a:ext uri="{FF2B5EF4-FFF2-40B4-BE49-F238E27FC236}">
                <a16:creationId xmlns:a16="http://schemas.microsoft.com/office/drawing/2014/main" id="{0A286E00-43FE-4804-A8D8-E2F18AE8C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4893568"/>
            <a:ext cx="1481064" cy="185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18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429D53A-3EE4-44D2-8984-269B7E22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53" y="332656"/>
            <a:ext cx="7487695" cy="47631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B678EA49-96C0-4962-B8A9-DC1480AF3D84}"/>
              </a:ext>
            </a:extLst>
          </p:cNvPr>
          <p:cNvSpPr/>
          <p:nvPr/>
        </p:nvSpPr>
        <p:spPr>
          <a:xfrm>
            <a:off x="899592" y="5661248"/>
            <a:ext cx="3769485" cy="576064"/>
          </a:xfrm>
          <a:prstGeom prst="wedgeRoundRectCallout">
            <a:avLst>
              <a:gd name="adj1" fmla="val 74047"/>
              <a:gd name="adj2" fmla="val 1118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ここはそれほど難しくないね！</a:t>
            </a:r>
          </a:p>
        </p:txBody>
      </p:sp>
      <p:pic>
        <p:nvPicPr>
          <p:cNvPr id="3074" name="Picture 2" descr="勉強が好調な人のイラスト（女性）">
            <a:extLst>
              <a:ext uri="{FF2B5EF4-FFF2-40B4-BE49-F238E27FC236}">
                <a16:creationId xmlns:a16="http://schemas.microsoft.com/office/drawing/2014/main" id="{D48AB480-8983-443E-932C-D39CDF8F6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5183456"/>
            <a:ext cx="1674829" cy="167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85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5316293"/>
            <a:ext cx="825259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以上で背景の下準備は終了となる。</a:t>
            </a:r>
            <a:br>
              <a:rPr lang="en-US" altLang="ja-JP" sz="2263" b="1" dirty="0"/>
            </a:br>
            <a:r>
              <a:rPr lang="ja-JP" altLang="en-US" sz="2263" b="1" dirty="0"/>
              <a:t>後は</a:t>
            </a:r>
            <a:r>
              <a:rPr lang="en-US" altLang="ja-JP" sz="2263" b="1" dirty="0"/>
              <a:t>Main.cpp</a:t>
            </a:r>
            <a:r>
              <a:rPr lang="ja-JP" altLang="en-US" sz="2263" b="1" dirty="0"/>
              <a:t>でインスタンスを作成して、</a:t>
            </a:r>
            <a:br>
              <a:rPr lang="en-US" altLang="ja-JP" sz="2263" b="1" dirty="0"/>
            </a:br>
            <a:r>
              <a:rPr lang="ja-JP" altLang="en-US" sz="2263" b="1" dirty="0"/>
              <a:t>実際に使用していけば表示されるはず。</a:t>
            </a:r>
            <a:endParaRPr lang="en-US" altLang="ja-JP" sz="2263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75883B-7858-484A-866E-6CE8939E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040" y="219325"/>
            <a:ext cx="3851920" cy="50054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673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180118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Main.cpp</a:t>
            </a:r>
            <a:r>
              <a:rPr lang="ja-JP" altLang="en-US" sz="2263" b="1" dirty="0"/>
              <a:t>は下記のように修正。</a:t>
            </a:r>
            <a:endParaRPr lang="en-US" altLang="ja-JP" sz="2263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813A9B0-54BD-4DE4-918B-FCF278E9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836712"/>
            <a:ext cx="5501913" cy="29822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427828-A7F0-48DA-B6B9-98FDC30FD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187567"/>
            <a:ext cx="4968714" cy="2490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8589E7C-2EC3-46A3-8CE3-304165A06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149" y="5189541"/>
            <a:ext cx="3504903" cy="8317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12486E80-39F0-4E87-AAF7-60DAAC33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08415"/>
            <a:ext cx="1490053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while</a:t>
            </a:r>
            <a:r>
              <a:rPr lang="ja-JP" altLang="en-US" sz="2263" b="1" dirty="0"/>
              <a:t>前</a:t>
            </a:r>
            <a:endParaRPr lang="en-US" altLang="ja-JP" sz="2263" b="1" dirty="0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1CBFC171-7B2C-48EF-9549-DDC1E3D91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93" y="3598720"/>
            <a:ext cx="1490053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while</a:t>
            </a:r>
            <a:r>
              <a:rPr lang="ja-JP" altLang="en-US" sz="2263" b="1" dirty="0"/>
              <a:t>中</a:t>
            </a:r>
            <a:endParaRPr lang="en-US" altLang="ja-JP" sz="2263" b="1" dirty="0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4030B6A6-4473-4961-BDCC-F03603D0F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464" y="4581128"/>
            <a:ext cx="1490053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while</a:t>
            </a:r>
            <a:r>
              <a:rPr lang="ja-JP" altLang="en-US" sz="2263" b="1" dirty="0"/>
              <a:t>後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189170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プレイヤークラスの作成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51520" y="935610"/>
            <a:ext cx="4486083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プレイヤーも表示すだけであれば背景と同じ。</a:t>
            </a:r>
            <a:br>
              <a:rPr lang="en-US" altLang="ja-JP" sz="2263" b="1" dirty="0"/>
            </a:br>
            <a:r>
              <a:rPr lang="en-US" altLang="ja-JP" sz="2263" b="1" dirty="0" err="1"/>
              <a:t>Field.cpp,Field.h</a:t>
            </a:r>
            <a:r>
              <a:rPr lang="ja-JP" altLang="en-US" sz="2263" b="1" dirty="0"/>
              <a:t>をコピペしてから始めると楽。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3D3542E-E646-4556-B291-CBB35AC9C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955" y="118673"/>
            <a:ext cx="3905533" cy="66206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28E50199-78ED-41B9-8085-E50B23877B31}"/>
              </a:ext>
            </a:extLst>
          </p:cNvPr>
          <p:cNvSpPr/>
          <p:nvPr/>
        </p:nvSpPr>
        <p:spPr>
          <a:xfrm>
            <a:off x="395536" y="2852936"/>
            <a:ext cx="4046347" cy="1927452"/>
          </a:xfrm>
          <a:prstGeom prst="wedgeRoundRectCallout">
            <a:avLst>
              <a:gd name="adj1" fmla="val -652"/>
              <a:gd name="adj2" fmla="val 7003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プレイヤーは回転と移動速度が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メンバ変数に追加されたね。</a:t>
            </a:r>
            <a:endParaRPr lang="en-US" altLang="ja-JP" sz="2000" b="1" dirty="0">
              <a:latin typeface="ＭＳ Ｐゴシック"/>
            </a:endParaRPr>
          </a:p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あれ？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Update()</a:t>
            </a:r>
            <a:r>
              <a:rPr lang="ja-JP" altLang="en-US" sz="2000" b="1" dirty="0">
                <a:latin typeface="ＭＳ Ｐゴシック"/>
              </a:rPr>
              <a:t>とは別に、</a:t>
            </a: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用意されている・・・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どう違うんだろう？</a:t>
            </a:r>
          </a:p>
        </p:txBody>
      </p:sp>
      <p:pic>
        <p:nvPicPr>
          <p:cNvPr id="4098" name="Picture 2" descr="中年男性の表情のイラスト「疑問」">
            <a:extLst>
              <a:ext uri="{FF2B5EF4-FFF2-40B4-BE49-F238E27FC236}">
                <a16:creationId xmlns:a16="http://schemas.microsoft.com/office/drawing/2014/main" id="{ABB3C84B-A750-4125-8BBE-38800A408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981712"/>
            <a:ext cx="1406357" cy="162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72EB238-E20E-45B9-85F1-D28E8F3EC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10" y="908720"/>
            <a:ext cx="6748436" cy="5616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188640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初期化周りは下記のようになるが・・・</a:t>
            </a:r>
            <a:endParaRPr lang="en-US" altLang="ja-JP" sz="2263" b="1" dirty="0"/>
          </a:p>
        </p:txBody>
      </p:sp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B678EA49-96C0-4962-B8A9-DC1480AF3D84}"/>
              </a:ext>
            </a:extLst>
          </p:cNvPr>
          <p:cNvSpPr/>
          <p:nvPr/>
        </p:nvSpPr>
        <p:spPr>
          <a:xfrm>
            <a:off x="4067944" y="3501008"/>
            <a:ext cx="3921213" cy="720080"/>
          </a:xfrm>
          <a:prstGeom prst="wedgeRoundRectCallout">
            <a:avLst>
              <a:gd name="adj1" fmla="val 36098"/>
              <a:gd name="adj2" fmla="val 9758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>
                <a:latin typeface="ＭＳ Ｐゴシック"/>
              </a:rPr>
              <a:t>VECTOR</a:t>
            </a:r>
            <a:r>
              <a:rPr lang="ja-JP" altLang="en-US" sz="2000" b="1" dirty="0">
                <a:latin typeface="ＭＳ Ｐゴシック"/>
              </a:rPr>
              <a:t>型の変数を</a:t>
            </a:r>
            <a:r>
              <a:rPr lang="en-US" altLang="ja-JP" sz="2000" b="1" dirty="0">
                <a:latin typeface="ＭＳ Ｐゴシック"/>
              </a:rPr>
              <a:t>0</a:t>
            </a:r>
            <a:r>
              <a:rPr lang="ja-JP" altLang="en-US" sz="2000" b="1" dirty="0">
                <a:latin typeface="ＭＳ Ｐゴシック"/>
              </a:rPr>
              <a:t>にするの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ちょっと面倒くさいなぁ・・・</a:t>
            </a:r>
          </a:p>
        </p:txBody>
      </p:sp>
      <p:pic>
        <p:nvPicPr>
          <p:cNvPr id="5122" name="Picture 2" descr="だるい人のイラスト（男性）">
            <a:extLst>
              <a:ext uri="{FF2B5EF4-FFF2-40B4-BE49-F238E27FC236}">
                <a16:creationId xmlns:a16="http://schemas.microsoft.com/office/drawing/2014/main" id="{9910DC32-1204-4975-ABBA-41A427546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36296" y="4441803"/>
            <a:ext cx="1723179" cy="222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531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566BEF-3866-4605-9A05-445717021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7092526" cy="56767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188640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下記のように、</a:t>
            </a:r>
            <a:r>
              <a:rPr lang="en-US" altLang="ja-JP" sz="2263" b="1" dirty="0"/>
              <a:t>#define</a:t>
            </a:r>
            <a:r>
              <a:rPr lang="ja-JP" altLang="en-US" sz="2263" b="1" dirty="0"/>
              <a:t>や</a:t>
            </a:r>
            <a:r>
              <a:rPr lang="en-US" altLang="ja-JP" sz="2263" b="1" dirty="0"/>
              <a:t>static const</a:t>
            </a:r>
            <a:r>
              <a:rPr lang="ja-JP" altLang="en-US" sz="2263" b="1" dirty="0"/>
              <a:t>を使うと楽になる。</a:t>
            </a:r>
            <a:endParaRPr lang="en-US" altLang="ja-JP" sz="2263" b="1" dirty="0"/>
          </a:p>
        </p:txBody>
      </p:sp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B678EA49-96C0-4962-B8A9-DC1480AF3D84}"/>
              </a:ext>
            </a:extLst>
          </p:cNvPr>
          <p:cNvSpPr/>
          <p:nvPr/>
        </p:nvSpPr>
        <p:spPr>
          <a:xfrm>
            <a:off x="3563888" y="3068960"/>
            <a:ext cx="3500732" cy="1584175"/>
          </a:xfrm>
          <a:prstGeom prst="wedgeRoundRectCallout">
            <a:avLst>
              <a:gd name="adj1" fmla="val 39726"/>
              <a:gd name="adj2" fmla="val 8154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別名で定義すると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スッキリ書けるね！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他の</a:t>
            </a:r>
            <a:r>
              <a:rPr lang="en-US" altLang="ja-JP" sz="2000" b="1" dirty="0" err="1">
                <a:latin typeface="ＭＳ Ｐゴシック"/>
              </a:rPr>
              <a:t>cpp</a:t>
            </a:r>
            <a:r>
              <a:rPr lang="ja-JP" altLang="en-US" sz="2000" b="1" dirty="0">
                <a:latin typeface="ＭＳ Ｐゴシック"/>
              </a:rPr>
              <a:t>でも使いそうだから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 err="1">
                <a:latin typeface="ＭＳ Ｐゴシック"/>
              </a:rPr>
              <a:t>Common.h</a:t>
            </a:r>
            <a:r>
              <a:rPr lang="ja-JP" altLang="en-US" sz="2000" b="1" dirty="0">
                <a:latin typeface="ＭＳ Ｐゴシック"/>
              </a:rPr>
              <a:t>とかにでも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定義してもいいかも！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66099E-5066-4526-9A59-91FABDD33A44}"/>
              </a:ext>
            </a:extLst>
          </p:cNvPr>
          <p:cNvSpPr/>
          <p:nvPr/>
        </p:nvSpPr>
        <p:spPr>
          <a:xfrm>
            <a:off x="251520" y="1124744"/>
            <a:ext cx="4608512" cy="504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904373A-3B6B-4370-A56A-D5B0AE395250}"/>
              </a:ext>
            </a:extLst>
          </p:cNvPr>
          <p:cNvCxnSpPr/>
          <p:nvPr/>
        </p:nvCxnSpPr>
        <p:spPr>
          <a:xfrm>
            <a:off x="1907704" y="2539503"/>
            <a:ext cx="43924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嬉しい表情の女性のイラスト（5段階）">
            <a:extLst>
              <a:ext uri="{FF2B5EF4-FFF2-40B4-BE49-F238E27FC236}">
                <a16:creationId xmlns:a16="http://schemas.microsoft.com/office/drawing/2014/main" id="{0D3F871F-6B00-41BC-A88E-0F7037EAB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476750"/>
            <a:ext cx="16383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686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EEC4C97-5684-412D-AE29-07F9201B8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571" y="360293"/>
            <a:ext cx="6526964" cy="61374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B678EA49-96C0-4962-B8A9-DC1480AF3D84}"/>
              </a:ext>
            </a:extLst>
          </p:cNvPr>
          <p:cNvSpPr/>
          <p:nvPr/>
        </p:nvSpPr>
        <p:spPr>
          <a:xfrm>
            <a:off x="4690947" y="3068960"/>
            <a:ext cx="3769485" cy="576064"/>
          </a:xfrm>
          <a:prstGeom prst="wedgeRoundRectCallout">
            <a:avLst>
              <a:gd name="adj1" fmla="val -72624"/>
              <a:gd name="adj2" fmla="val 4499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内はいったん空っぽで！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77B7F26-7FA6-4834-802A-88F312A670DB}"/>
              </a:ext>
            </a:extLst>
          </p:cNvPr>
          <p:cNvCxnSpPr>
            <a:cxnSpLocks/>
          </p:cNvCxnSpPr>
          <p:nvPr/>
        </p:nvCxnSpPr>
        <p:spPr>
          <a:xfrm>
            <a:off x="1691680" y="6237312"/>
            <a:ext cx="33123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F2A1B9E-ED0B-4664-B537-90ED21722541}"/>
              </a:ext>
            </a:extLst>
          </p:cNvPr>
          <p:cNvSpPr/>
          <p:nvPr/>
        </p:nvSpPr>
        <p:spPr>
          <a:xfrm>
            <a:off x="4199425" y="4750591"/>
            <a:ext cx="4752528" cy="57606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1600" b="1" dirty="0">
                <a:solidFill>
                  <a:schemeClr val="tx1"/>
                </a:solidFill>
              </a:rPr>
              <a:t> MV1SetRotationXYZ(</a:t>
            </a:r>
            <a:r>
              <a:rPr kumimoji="1" lang="en-US" altLang="ja-JP" sz="16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1600" b="1" dirty="0">
                <a:solidFill>
                  <a:schemeClr val="tx1"/>
                </a:solidFill>
              </a:rPr>
              <a:t> </a:t>
            </a:r>
            <a:r>
              <a:rPr kumimoji="1" lang="ja-JP" altLang="en-US" sz="16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1600" b="1" dirty="0">
                <a:solidFill>
                  <a:schemeClr val="tx1"/>
                </a:solidFill>
              </a:rPr>
              <a:t>,</a:t>
            </a:r>
            <a:br>
              <a:rPr kumimoji="1" lang="en-US" altLang="ja-JP" sz="1600" b="1" dirty="0">
                <a:solidFill>
                  <a:schemeClr val="tx1"/>
                </a:solidFill>
              </a:rPr>
            </a:br>
            <a:r>
              <a:rPr kumimoji="1" lang="en-US" altLang="ja-JP" sz="1600" b="1" dirty="0">
                <a:solidFill>
                  <a:schemeClr val="tx1"/>
                </a:solidFill>
              </a:rPr>
              <a:t>			VECTOR </a:t>
            </a:r>
            <a:r>
              <a:rPr lang="ja-JP" altLang="en-US" sz="1600" b="1" dirty="0">
                <a:solidFill>
                  <a:schemeClr val="tx1"/>
                </a:solidFill>
              </a:rPr>
              <a:t>回転角度</a:t>
            </a:r>
            <a:r>
              <a:rPr kumimoji="1" lang="en-US" altLang="ja-JP" sz="1600" b="1" dirty="0">
                <a:solidFill>
                  <a:schemeClr val="tx1"/>
                </a:solidFill>
              </a:rPr>
              <a:t>)</a:t>
            </a:r>
            <a:endParaRPr kumimoji="1" lang="ja-JP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68AF1EC2-24C9-40BB-91F9-F874E099B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128" y="5406315"/>
            <a:ext cx="3849825" cy="8309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1600" b="1" dirty="0"/>
              <a:t>第一引数：モデルハンドル</a:t>
            </a:r>
            <a:br>
              <a:rPr lang="en-US" altLang="ja-JP" sz="1600" b="1" dirty="0"/>
            </a:br>
            <a:r>
              <a:rPr lang="ja-JP" altLang="en-US" sz="1600" b="1" dirty="0"/>
              <a:t>第二引数：モデルの回転角度</a:t>
            </a:r>
            <a:r>
              <a:rPr lang="en-US" altLang="ja-JP" sz="1600" b="1" dirty="0"/>
              <a:t>(X,Y,Z)</a:t>
            </a:r>
            <a:br>
              <a:rPr lang="en-US" altLang="ja-JP" sz="1600" b="1" dirty="0"/>
            </a:br>
            <a:r>
              <a:rPr lang="ja-JP" altLang="en-US" sz="1600" b="1" dirty="0"/>
              <a:t>戻り値：成功＝</a:t>
            </a:r>
            <a:r>
              <a:rPr lang="en-US" altLang="ja-JP" sz="1600" b="1" dirty="0"/>
              <a:t>0</a:t>
            </a:r>
            <a:r>
              <a:rPr lang="ja-JP" altLang="en-US" sz="1600" b="1" dirty="0"/>
              <a:t>　失敗＝</a:t>
            </a:r>
            <a:r>
              <a:rPr lang="en-US" altLang="ja-JP" sz="1600" b="1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494442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5808546"/>
            <a:ext cx="825259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Main.cpp</a:t>
            </a:r>
            <a:r>
              <a:rPr lang="ja-JP" altLang="en-US" sz="2263" b="1" dirty="0"/>
              <a:t>で地面と同じ処理を記述していけば</a:t>
            </a:r>
            <a:br>
              <a:rPr lang="en-US" altLang="ja-JP" sz="2263" b="1" dirty="0"/>
            </a:br>
            <a:r>
              <a:rPr lang="ja-JP" altLang="en-US" sz="2263" b="1" dirty="0"/>
              <a:t>プレイヤーが表示されるはず！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4411BDB-54AF-40EB-B412-400B8E914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80" y="190023"/>
            <a:ext cx="3960440" cy="54024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5087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プレイヤーを回転させる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11892" y="719857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プレイヤーの回転処理は以下を追加するだけで</a:t>
            </a:r>
            <a:r>
              <a:rPr lang="en-US" altLang="ja-JP" sz="2263" b="1" dirty="0"/>
              <a:t>OK</a:t>
            </a:r>
            <a:r>
              <a:rPr lang="ja-JP" altLang="en-US" sz="2263" b="1" dirty="0" err="1"/>
              <a:t>。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5F00A53-4115-43C5-A880-0017147CC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49" y="1202367"/>
            <a:ext cx="3719474" cy="31536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A33EB89-F60F-4715-B2D0-73391BFA0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902" y="1536475"/>
            <a:ext cx="4199325" cy="290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矢印: U ターン 8">
            <a:extLst>
              <a:ext uri="{FF2B5EF4-FFF2-40B4-BE49-F238E27FC236}">
                <a16:creationId xmlns:a16="http://schemas.microsoft.com/office/drawing/2014/main" id="{D9A38D72-2693-4ACB-993C-81DD176D9609}"/>
              </a:ext>
            </a:extLst>
          </p:cNvPr>
          <p:cNvSpPr/>
          <p:nvPr/>
        </p:nvSpPr>
        <p:spPr>
          <a:xfrm rot="19983137" flipH="1" flipV="1">
            <a:off x="3249810" y="2394013"/>
            <a:ext cx="2122665" cy="302556"/>
          </a:xfrm>
          <a:prstGeom prst="utur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9D330425-A0DF-4116-9B40-774D31E80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783" y="1990369"/>
            <a:ext cx="3312368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cpp</a:t>
            </a:r>
            <a:r>
              <a:rPr lang="ja-JP" altLang="en-US" sz="2263" b="1" dirty="0"/>
              <a:t>の上の方などに</a:t>
            </a:r>
            <a:br>
              <a:rPr lang="en-US" altLang="ja-JP" sz="2263" b="1" dirty="0"/>
            </a:br>
            <a:r>
              <a:rPr lang="ja-JP" altLang="en-US" sz="2263" b="1" dirty="0"/>
              <a:t>記載しておこう！</a:t>
            </a:r>
            <a:endParaRPr lang="en-US" altLang="ja-JP" sz="2263" b="1" dirty="0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8B4FC0F1-D334-4A7A-9D85-A1144C4FE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02" y="4581128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Main.cpp</a:t>
            </a:r>
            <a:r>
              <a:rPr lang="ja-JP" altLang="en-US" sz="2263" b="1" dirty="0"/>
              <a:t>では、</a:t>
            </a:r>
            <a:r>
              <a:rPr lang="en-US" altLang="ja-JP" sz="2263" b="1" dirty="0">
                <a:solidFill>
                  <a:srgbClr val="FF00FF"/>
                </a:solidFill>
              </a:rPr>
              <a:t>Update()</a:t>
            </a:r>
            <a:r>
              <a:rPr lang="ja-JP" altLang="en-US" sz="2263" b="1" dirty="0">
                <a:solidFill>
                  <a:srgbClr val="FF00FF"/>
                </a:solidFill>
              </a:rPr>
              <a:t>よりも前</a:t>
            </a:r>
            <a:r>
              <a:rPr lang="ja-JP" altLang="en-US" sz="2263" b="1" dirty="0"/>
              <a:t>に</a:t>
            </a:r>
            <a:r>
              <a:rPr lang="en-US" altLang="ja-JP" sz="2263" b="1" dirty="0"/>
              <a:t>Step()</a:t>
            </a:r>
            <a:r>
              <a:rPr lang="ja-JP" altLang="en-US" sz="2263" b="1" dirty="0"/>
              <a:t>を記述する。</a:t>
            </a:r>
            <a:endParaRPr lang="en-US" altLang="ja-JP" sz="2263" b="1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87DE44FC-95BF-4FDF-94DF-D4904BB6D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840" y="5125023"/>
            <a:ext cx="3372321" cy="1667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126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19825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回転させた方向へプレイヤーを移動させる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95312" y="638948"/>
            <a:ext cx="82105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回転角度が分かれば、三角関数を用いて角度方向へ移動が可能。</a:t>
            </a:r>
            <a:endParaRPr lang="en-US" altLang="ja-JP" sz="2263" b="1" dirty="0"/>
          </a:p>
        </p:txBody>
      </p:sp>
      <p:pic>
        <p:nvPicPr>
          <p:cNvPr id="5" name="Picture 3" descr="C:\Users\admin\Desktop\Slide1_1004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290800"/>
            <a:ext cx="3991533" cy="299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28716" y="1202126"/>
            <a:ext cx="4447339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＜現在わかっている情報＞</a:t>
            </a:r>
            <a:br>
              <a:rPr lang="en-US" altLang="ja-JP" sz="2263" b="1" dirty="0"/>
            </a:br>
            <a:r>
              <a:rPr lang="ja-JP" altLang="en-US" sz="2263" b="1" dirty="0"/>
              <a:t>　・プレイヤーの角度</a:t>
            </a:r>
            <a:r>
              <a:rPr lang="en-US" altLang="ja-JP" sz="2263" b="1" dirty="0"/>
              <a:t>(30</a:t>
            </a:r>
            <a:r>
              <a:rPr lang="ja-JP" altLang="en-US" sz="2263" b="1" dirty="0"/>
              <a:t>度</a:t>
            </a:r>
            <a:r>
              <a:rPr lang="en-US" altLang="ja-JP" sz="2263" b="1" dirty="0"/>
              <a:t>)</a:t>
            </a:r>
            <a:r>
              <a:rPr lang="ja-JP" altLang="en-US" sz="2263" b="1" dirty="0"/>
              <a:t>　＝　</a:t>
            </a:r>
            <a:r>
              <a:rPr lang="en-US" altLang="ja-JP" sz="2263" b="1" dirty="0">
                <a:solidFill>
                  <a:srgbClr val="FF9933"/>
                </a:solidFill>
              </a:rPr>
              <a:t>θ</a:t>
            </a:r>
            <a:br>
              <a:rPr lang="en-US" altLang="ja-JP" sz="2263" b="1" dirty="0"/>
            </a:br>
            <a:r>
              <a:rPr lang="ja-JP" altLang="en-US" sz="2263" b="1" dirty="0"/>
              <a:t>　・移動速度</a:t>
            </a:r>
            <a:r>
              <a:rPr lang="en-US" altLang="ja-JP" sz="2263" b="1" dirty="0"/>
              <a:t>3</a:t>
            </a:r>
            <a:r>
              <a:rPr lang="ja-JP" altLang="en-US" sz="2263" b="1" dirty="0"/>
              <a:t>　  ＝　</a:t>
            </a:r>
            <a:r>
              <a:rPr lang="en-US" altLang="ja-JP" sz="2263" b="1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523840" y="1740261"/>
            <a:ext cx="432048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235808" y="2634747"/>
            <a:ext cx="50405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FF9933"/>
                </a:solidFill>
              </a:rPr>
              <a:t>30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09610" y="2738214"/>
            <a:ext cx="4141538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＜知りたい情報＞</a:t>
            </a:r>
            <a:br>
              <a:rPr lang="en-US" altLang="ja-JP" sz="2263" b="1" dirty="0"/>
            </a:br>
            <a:r>
              <a:rPr lang="ja-JP" altLang="en-US" sz="2263" b="1" dirty="0"/>
              <a:t>　・</a:t>
            </a:r>
            <a:r>
              <a:rPr lang="en-US" altLang="ja-JP" sz="2263" b="1" dirty="0"/>
              <a:t>X</a:t>
            </a:r>
            <a:r>
              <a:rPr lang="ja-JP" altLang="en-US" sz="2263" b="1" dirty="0"/>
              <a:t>軸の移動距離　＝　</a:t>
            </a:r>
            <a:r>
              <a:rPr lang="en-US" altLang="ja-JP" sz="2263" b="1" dirty="0">
                <a:solidFill>
                  <a:srgbClr val="0000FF"/>
                </a:solidFill>
              </a:rPr>
              <a:t>b</a:t>
            </a:r>
            <a:br>
              <a:rPr lang="en-US" altLang="ja-JP" sz="2263" b="1" dirty="0"/>
            </a:br>
            <a:r>
              <a:rPr lang="ja-JP" altLang="en-US" sz="2263" b="1" dirty="0"/>
              <a:t>　・</a:t>
            </a:r>
            <a:r>
              <a:rPr lang="en-US" altLang="ja-JP" sz="2263" b="1" dirty="0"/>
              <a:t>Z</a:t>
            </a:r>
            <a:r>
              <a:rPr lang="ja-JP" altLang="en-US" sz="2263" b="1" dirty="0"/>
              <a:t>軸の移動距離　＝　</a:t>
            </a:r>
            <a:r>
              <a:rPr lang="en-US" altLang="ja-JP" sz="2263" b="1" dirty="0">
                <a:solidFill>
                  <a:srgbClr val="0000FF"/>
                </a:solidFill>
              </a:rPr>
              <a:t>c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62122" y="4242925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これらの情報と三角関数を利用すると、次のような式ができる。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662122" y="4976652"/>
            <a:ext cx="2829759" cy="44057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cos30°</a:t>
            </a:r>
            <a:r>
              <a:rPr lang="ja-JP" altLang="en-US" sz="2263" b="1" dirty="0"/>
              <a:t> ＝　</a:t>
            </a:r>
            <a:r>
              <a:rPr lang="en-US" altLang="ja-JP" sz="2263" b="1" dirty="0"/>
              <a:t>b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/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3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62122" y="5779013"/>
            <a:ext cx="2733395" cy="44057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sin30°</a:t>
            </a:r>
            <a:r>
              <a:rPr lang="ja-JP" altLang="en-US" sz="2263" b="1" dirty="0"/>
              <a:t>　＝　</a:t>
            </a:r>
            <a:r>
              <a:rPr lang="en-US" altLang="ja-JP" sz="2263" b="1" dirty="0"/>
              <a:t>c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/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3</a:t>
            </a:r>
          </a:p>
        </p:txBody>
      </p:sp>
      <p:sp>
        <p:nvSpPr>
          <p:cNvPr id="3" name="右矢印 2"/>
          <p:cNvSpPr/>
          <p:nvPr/>
        </p:nvSpPr>
        <p:spPr>
          <a:xfrm>
            <a:off x="3651281" y="5196937"/>
            <a:ext cx="2072847" cy="8023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5976128" y="5004796"/>
            <a:ext cx="2829759" cy="4405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b</a:t>
            </a:r>
            <a:r>
              <a:rPr lang="ja-JP" altLang="en-US" sz="2263" b="1" dirty="0"/>
              <a:t>　＝　</a:t>
            </a:r>
            <a:r>
              <a:rPr lang="en-US" altLang="ja-JP" sz="2263" b="1" dirty="0"/>
              <a:t>cos30°×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3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976128" y="5807157"/>
            <a:ext cx="2947445" cy="4405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c</a:t>
            </a:r>
            <a:r>
              <a:rPr lang="ja-JP" altLang="en-US" sz="2263" b="1" dirty="0"/>
              <a:t>　＝　</a:t>
            </a:r>
            <a:r>
              <a:rPr lang="en-US" altLang="ja-JP" sz="2263" b="1" dirty="0"/>
              <a:t>sin30°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×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3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3887923" y="5377832"/>
            <a:ext cx="1368152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式を変形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120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線矢印コネクタ 25"/>
          <p:cNvCxnSpPr/>
          <p:nvPr/>
        </p:nvCxnSpPr>
        <p:spPr>
          <a:xfrm flipV="1">
            <a:off x="4507616" y="730220"/>
            <a:ext cx="0" cy="363488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 flipV="1">
            <a:off x="1835696" y="2492007"/>
            <a:ext cx="5572716" cy="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95311" y="289650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今回はプレイヤーの初期向きから、以下のようになる。</a:t>
            </a:r>
            <a:endParaRPr lang="en-US" altLang="ja-JP" sz="2263" b="1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638990" y="732015"/>
            <a:ext cx="653089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Z</a:t>
            </a:r>
            <a:r>
              <a:rPr lang="ja-JP" altLang="en-US" sz="2263" b="1" dirty="0">
                <a:solidFill>
                  <a:srgbClr val="0000FF"/>
                </a:solidFill>
              </a:rPr>
              <a:t>軸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2" name="フローチャート: 結合子 1"/>
          <p:cNvSpPr/>
          <p:nvPr/>
        </p:nvSpPr>
        <p:spPr>
          <a:xfrm>
            <a:off x="3602155" y="1690998"/>
            <a:ext cx="1810922" cy="1564232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円弧 3"/>
          <p:cNvSpPr/>
          <p:nvPr/>
        </p:nvSpPr>
        <p:spPr>
          <a:xfrm rot="8894688">
            <a:off x="4011396" y="2139438"/>
            <a:ext cx="1249417" cy="934008"/>
          </a:xfrm>
          <a:prstGeom prst="arc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ローチャート: 結合子 17"/>
          <p:cNvSpPr/>
          <p:nvPr/>
        </p:nvSpPr>
        <p:spPr>
          <a:xfrm>
            <a:off x="4008922" y="2606442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結合子 18"/>
          <p:cNvSpPr/>
          <p:nvPr/>
        </p:nvSpPr>
        <p:spPr>
          <a:xfrm>
            <a:off x="4710999" y="2618167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7606548" y="2600801"/>
            <a:ext cx="709868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FF0000"/>
                </a:solidFill>
              </a:rPr>
              <a:t>X</a:t>
            </a:r>
            <a:r>
              <a:rPr lang="ja-JP" altLang="en-US" sz="2263" b="1" dirty="0">
                <a:solidFill>
                  <a:srgbClr val="FF0000"/>
                </a:solidFill>
              </a:rPr>
              <a:t>軸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33" name="直角三角形 32"/>
          <p:cNvSpPr/>
          <p:nvPr/>
        </p:nvSpPr>
        <p:spPr>
          <a:xfrm rot="5400000" flipH="1" flipV="1">
            <a:off x="3465158" y="2662236"/>
            <a:ext cx="1179456" cy="905461"/>
          </a:xfrm>
          <a:prstGeom prst="rtTriangl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弧 33"/>
          <p:cNvSpPr/>
          <p:nvPr/>
        </p:nvSpPr>
        <p:spPr>
          <a:xfrm rot="10068526">
            <a:off x="4295537" y="2588757"/>
            <a:ext cx="381258" cy="331581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3868039" y="2012516"/>
            <a:ext cx="10081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角度</a:t>
            </a:r>
            <a:r>
              <a:rPr lang="en-US" altLang="ja-JP" sz="2263" b="1" dirty="0">
                <a:solidFill>
                  <a:srgbClr val="FF0000"/>
                </a:solidFill>
              </a:rPr>
              <a:t>θ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2724129" y="4517642"/>
            <a:ext cx="3566973" cy="4405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X</a:t>
            </a:r>
            <a:r>
              <a:rPr lang="ja-JP" altLang="en-US" sz="2263" b="1" dirty="0"/>
              <a:t>　＝　</a:t>
            </a:r>
            <a:r>
              <a:rPr lang="en-US" altLang="ja-JP" sz="2263" b="1" dirty="0" err="1"/>
              <a:t>sinθ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×</a:t>
            </a:r>
            <a:r>
              <a:rPr lang="ja-JP" altLang="en-US" sz="2263" b="1" dirty="0"/>
              <a:t>　移動距離</a:t>
            </a:r>
            <a:endParaRPr lang="en-US" altLang="ja-JP" sz="2263" b="1" dirty="0"/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2724128" y="5136691"/>
            <a:ext cx="3566973" cy="4405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Z</a:t>
            </a:r>
            <a:r>
              <a:rPr lang="ja-JP" altLang="en-US" sz="2263" b="1" dirty="0"/>
              <a:t>　＝　</a:t>
            </a:r>
            <a:r>
              <a:rPr lang="en-US" altLang="ja-JP" sz="2263" b="1" dirty="0" err="1"/>
              <a:t>cosθ</a:t>
            </a:r>
            <a:r>
              <a:rPr lang="ja-JP" altLang="en-US" sz="2263" b="1" dirty="0"/>
              <a:t>　</a:t>
            </a:r>
            <a:r>
              <a:rPr lang="en-US" altLang="ja-JP" sz="2263" b="1" dirty="0"/>
              <a:t>×</a:t>
            </a:r>
            <a:r>
              <a:rPr lang="ja-JP" altLang="en-US" sz="2263" b="1" dirty="0"/>
              <a:t>　移動距離</a:t>
            </a:r>
            <a:endParaRPr lang="en-US" altLang="ja-JP" sz="2263" b="1" dirty="0"/>
          </a:p>
        </p:txBody>
      </p:sp>
      <p:sp>
        <p:nvSpPr>
          <p:cNvPr id="39" name="Text Box 5"/>
          <p:cNvSpPr txBox="1">
            <a:spLocks noChangeArrowheads="1"/>
          </p:cNvSpPr>
          <p:nvPr/>
        </p:nvSpPr>
        <p:spPr bwMode="auto">
          <a:xfrm>
            <a:off x="878327" y="5944336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上キーを押すと手前側に来るので、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前進＝</a:t>
            </a:r>
            <a:r>
              <a:rPr lang="en-US" altLang="ja-JP" sz="2263" b="1" dirty="0">
                <a:solidFill>
                  <a:srgbClr val="FF0000"/>
                </a:solidFill>
              </a:rPr>
              <a:t>-1</a:t>
            </a:r>
            <a:r>
              <a:rPr lang="ja-JP" altLang="en-US" sz="2263" b="1" dirty="0">
                <a:solidFill>
                  <a:srgbClr val="FF0000"/>
                </a:solidFill>
              </a:rPr>
              <a:t>移動</a:t>
            </a:r>
            <a:r>
              <a:rPr lang="ja-JP" altLang="en-US" sz="2263" b="1" dirty="0"/>
              <a:t>する点に注意！！</a:t>
            </a:r>
            <a:endParaRPr lang="en-US" altLang="ja-JP" sz="2263" b="1" dirty="0"/>
          </a:p>
        </p:txBody>
      </p:sp>
      <p:pic>
        <p:nvPicPr>
          <p:cNvPr id="40" name="Picture 3" descr="C:\Users\admin\Desktop\Slide1_1004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34" y="2582434"/>
            <a:ext cx="2580277" cy="193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直線矢印コネクタ 40"/>
          <p:cNvCxnSpPr/>
          <p:nvPr/>
        </p:nvCxnSpPr>
        <p:spPr>
          <a:xfrm flipH="1">
            <a:off x="4607561" y="2525238"/>
            <a:ext cx="1" cy="162384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7" name="Text Box 5"/>
          <p:cNvSpPr txBox="1">
            <a:spLocks noChangeArrowheads="1"/>
          </p:cNvSpPr>
          <p:nvPr/>
        </p:nvSpPr>
        <p:spPr bwMode="auto">
          <a:xfrm>
            <a:off x="4789925" y="3341954"/>
            <a:ext cx="3240281" cy="7888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(0,0,-1)</a:t>
            </a:r>
            <a:r>
              <a:rPr lang="ja-JP" altLang="en-US" sz="2263" b="1" dirty="0"/>
              <a:t>の方向ベクトルを</a:t>
            </a:r>
            <a:br>
              <a:rPr lang="en-US" altLang="ja-JP" sz="2263" b="1" dirty="0"/>
            </a:br>
            <a:r>
              <a:rPr lang="ja-JP" altLang="en-US" sz="2263" b="1" dirty="0"/>
              <a:t>基準で回転させる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953323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2383604-0804-475B-A979-3DECAEF0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09" y="675096"/>
            <a:ext cx="8366404" cy="55622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4635" y="177163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プログラムで記述すると・・・</a:t>
            </a:r>
            <a:endParaRPr lang="en-US" altLang="ja-JP" sz="2263" b="1" dirty="0"/>
          </a:p>
        </p:txBody>
      </p:sp>
      <p:cxnSp>
        <p:nvCxnSpPr>
          <p:cNvPr id="5" name="直線コネクタ 4"/>
          <p:cNvCxnSpPr>
            <a:cxnSpLocks/>
          </p:cNvCxnSpPr>
          <p:nvPr/>
        </p:nvCxnSpPr>
        <p:spPr>
          <a:xfrm>
            <a:off x="2267744" y="2653846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cxnSpLocks/>
          </p:cNvCxnSpPr>
          <p:nvPr/>
        </p:nvCxnSpPr>
        <p:spPr>
          <a:xfrm>
            <a:off x="2195736" y="3894916"/>
            <a:ext cx="1656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cxnSpLocks/>
          </p:cNvCxnSpPr>
          <p:nvPr/>
        </p:nvCxnSpPr>
        <p:spPr>
          <a:xfrm flipH="1">
            <a:off x="3868524" y="3212976"/>
            <a:ext cx="2359660" cy="540059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>
            <a:cxnSpLocks/>
          </p:cNvCxnSpPr>
          <p:nvPr/>
        </p:nvCxnSpPr>
        <p:spPr>
          <a:xfrm flipH="1" flipV="1">
            <a:off x="3995936" y="2545224"/>
            <a:ext cx="2232248" cy="37972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6228184" y="2684166"/>
            <a:ext cx="2079518" cy="788806"/>
          </a:xfrm>
          <a:prstGeom prst="rect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いつもと感覚が</a:t>
            </a:r>
            <a:br>
              <a:rPr lang="en-US" altLang="ja-JP" sz="2263" b="1" dirty="0"/>
            </a:br>
            <a:r>
              <a:rPr lang="ja-JP" altLang="en-US" sz="2263" b="1" dirty="0"/>
              <a:t>違うので注意</a:t>
            </a:r>
            <a:endParaRPr lang="en-US" altLang="ja-JP" sz="2263" b="1" dirty="0"/>
          </a:p>
        </p:txBody>
      </p:sp>
      <p:sp>
        <p:nvSpPr>
          <p:cNvPr id="23" name="正方形/長方形 22"/>
          <p:cNvSpPr/>
          <p:nvPr/>
        </p:nvSpPr>
        <p:spPr>
          <a:xfrm>
            <a:off x="2195736" y="4509119"/>
            <a:ext cx="3240360" cy="5760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EBFEBEFE-BD13-4954-81B4-F0F828454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02" y="6372373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三角関数を使うときは</a:t>
            </a:r>
            <a:r>
              <a:rPr lang="en-US" altLang="ja-JP" sz="2263" b="1" dirty="0" err="1">
                <a:solidFill>
                  <a:srgbClr val="FF0000"/>
                </a:solidFill>
              </a:rPr>
              <a:t>math.h</a:t>
            </a:r>
            <a:r>
              <a:rPr lang="ja-JP" altLang="en-US" sz="2263" b="1" dirty="0"/>
              <a:t>を忘れずに！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877538928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18052</TotalTime>
  <Words>890</Words>
  <Application>Microsoft Office PowerPoint</Application>
  <PresentationFormat>画面に合わせる (4:3)</PresentationFormat>
  <Paragraphs>62</Paragraphs>
  <Slides>17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ＭＳ Ｐゴシック</vt:lpstr>
      <vt:lpstr>Arial</vt:lpstr>
      <vt:lpstr>Calibri</vt:lpstr>
      <vt:lpstr>標準デザイン</vt:lpstr>
      <vt:lpstr>この単元の目標</vt:lpstr>
      <vt:lpstr>6 プレイヤーの基礎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648</cp:revision>
  <dcterms:created xsi:type="dcterms:W3CDTF">2013-04-19T02:46:48Z</dcterms:created>
  <dcterms:modified xsi:type="dcterms:W3CDTF">2026-04-27T02:49:43Z</dcterms:modified>
</cp:coreProperties>
</file>