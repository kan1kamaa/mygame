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4" r:id="rId2"/>
    <p:sldId id="263" r:id="rId3"/>
    <p:sldId id="523" r:id="rId4"/>
    <p:sldId id="514" r:id="rId5"/>
    <p:sldId id="524" r:id="rId6"/>
    <p:sldId id="525" r:id="rId7"/>
    <p:sldId id="480" r:id="rId8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3" autoAdjust="0"/>
    <p:restoredTop sz="93432" autoAdjust="0"/>
  </p:normalViewPr>
  <p:slideViewPr>
    <p:cSldViewPr>
      <p:cViewPr varScale="1">
        <p:scale>
          <a:sx n="64" d="100"/>
          <a:sy n="64" d="100"/>
        </p:scale>
        <p:origin x="74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2017/4/25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6157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球同士</a:t>
            </a:r>
            <a:r>
              <a:rPr lang="ja-JP" altLang="en-US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の</a:t>
            </a:r>
            <a:r>
              <a:rPr lang="en-US" altLang="ja-JP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altLang="ja-JP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当たり判定結果を表示できる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5</a:t>
            </a:r>
            <a:r>
              <a:rPr lang="en-US" altLang="ja-JP" dirty="0" smtClean="0"/>
              <a:t> </a:t>
            </a:r>
            <a:r>
              <a:rPr lang="ja-JP" altLang="en-US" dirty="0"/>
              <a:t>球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当たり</a:t>
            </a:r>
            <a:r>
              <a:rPr lang="ja-JP" altLang="en-US" dirty="0"/>
              <a:t>判定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79533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球も直方体と同じように、</a:t>
            </a:r>
            <a:r>
              <a:rPr lang="en-US" altLang="ja-JP" sz="2263" b="1" dirty="0" smtClean="0"/>
              <a:t>2D</a:t>
            </a:r>
            <a:r>
              <a:rPr lang="ja-JP" altLang="en-US" sz="2263" b="1" dirty="0" smtClean="0"/>
              <a:t>で行った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円同士の当たり判定</a:t>
            </a:r>
            <a:r>
              <a:rPr lang="ja-JP" altLang="en-US" sz="2263" b="1" dirty="0" smtClean="0"/>
              <a:t>を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拡張した形で実装が可能である。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 smtClean="0"/>
              <a:t>円同士の当たり判定　～復習～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924944"/>
            <a:ext cx="2294191" cy="2841104"/>
          </a:xfrm>
          <a:prstGeom prst="rect">
            <a:avLst/>
          </a:prstGeom>
        </p:spPr>
      </p:pic>
      <p:sp>
        <p:nvSpPr>
          <p:cNvPr id="12" name="角丸四角形吹き出し 10"/>
          <p:cNvSpPr/>
          <p:nvPr/>
        </p:nvSpPr>
        <p:spPr>
          <a:xfrm>
            <a:off x="3722098" y="2924944"/>
            <a:ext cx="4752528" cy="1152128"/>
          </a:xfrm>
          <a:prstGeom prst="wedgeRoundRectCallout">
            <a:avLst>
              <a:gd name="adj1" fmla="val -67466"/>
              <a:gd name="adj2" fmla="val 1617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 smtClean="0">
                <a:latin typeface="ＭＳ Ｐゴシック"/>
              </a:rPr>
              <a:t>三平方の定理を使って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solidFill>
                  <a:srgbClr val="FF0000"/>
                </a:solidFill>
                <a:latin typeface="ＭＳ Ｐゴシック"/>
              </a:rPr>
              <a:t>二点間の距離</a:t>
            </a:r>
            <a:r>
              <a:rPr lang="ja-JP" altLang="en-US" sz="2000" b="1" dirty="0" smtClean="0">
                <a:latin typeface="ＭＳ Ｐゴシック"/>
              </a:rPr>
              <a:t>を求めるやつだね。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以下の式はもちろん覚えてるよね。</a:t>
            </a:r>
            <a:endParaRPr lang="ja-JP" altLang="en-US" sz="2000" b="1" dirty="0">
              <a:latin typeface="ＭＳ Ｐゴシック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3399873" y="4524425"/>
            <a:ext cx="5261521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円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の座標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(Ax, Ay)</a:t>
            </a:r>
            <a:r>
              <a:rPr lang="ja-JP" altLang="en-US" sz="2263" b="1" dirty="0" err="1" smtClean="0"/>
              <a:t>、</a:t>
            </a:r>
            <a:r>
              <a:rPr lang="ja-JP" altLang="en-US" sz="2263" b="1" dirty="0" smtClean="0"/>
              <a:t>円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の座標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(</a:t>
            </a:r>
            <a:r>
              <a:rPr lang="en-US" altLang="ja-JP" sz="2263" b="1" dirty="0" err="1" smtClean="0">
                <a:solidFill>
                  <a:srgbClr val="0000FF"/>
                </a:solidFill>
              </a:rPr>
              <a:t>Bx,By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)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5"/>
              <p:cNvSpPr txBox="1">
                <a:spLocks noChangeArrowheads="1"/>
              </p:cNvSpPr>
              <p:nvPr/>
            </p:nvSpPr>
            <p:spPr bwMode="auto">
              <a:xfrm>
                <a:off x="3212553" y="4964995"/>
                <a:ext cx="5261521" cy="8010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ja-JP" altLang="en-US" sz="2263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𝑨𝒙</m:t>
                                  </m:r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𝑩𝒙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ja-JP" sz="2263" b="1" i="1" dirty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𝑨𝒚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𝑩𝒚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263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2553" y="4964995"/>
                <a:ext cx="5261521" cy="80105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114879" y="5946289"/>
            <a:ext cx="5765577" cy="440570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二点間</a:t>
            </a:r>
            <a:r>
              <a:rPr lang="ja-JP" altLang="en-US" sz="2263" b="1" dirty="0" smtClean="0"/>
              <a:t>の距離　＜　円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の半径 </a:t>
            </a:r>
            <a:r>
              <a:rPr lang="en-US" altLang="ja-JP" sz="2263" b="1" dirty="0" smtClean="0"/>
              <a:t>+ </a:t>
            </a:r>
            <a:r>
              <a:rPr lang="ja-JP" altLang="en-US" sz="2263" b="1" dirty="0" smtClean="0"/>
              <a:t>円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の半径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6237" y="599237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球も円に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Z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軸</a:t>
            </a:r>
            <a:r>
              <a:rPr lang="ja-JP" altLang="en-US" sz="2263" b="1" dirty="0" smtClean="0"/>
              <a:t>分の計算を追加しただけとなる。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6461" y="15866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/>
              <a:t>球</a:t>
            </a:r>
            <a:r>
              <a:rPr lang="ja-JP" altLang="en-US" sz="2263" b="1" dirty="0" smtClean="0"/>
              <a:t>同士の当たり判定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429786" y="1370725"/>
            <a:ext cx="609691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球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の座標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(Ax, </a:t>
            </a:r>
            <a:r>
              <a:rPr lang="en-US" altLang="ja-JP" sz="2263" b="1" dirty="0" err="1" smtClean="0">
                <a:solidFill>
                  <a:srgbClr val="FF0000"/>
                </a:solidFill>
              </a:rPr>
              <a:t>Ay,Az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)</a:t>
            </a:r>
            <a:r>
              <a:rPr lang="ja-JP" altLang="en-US" sz="2263" b="1" dirty="0" err="1" smtClean="0"/>
              <a:t>、</a:t>
            </a:r>
            <a:r>
              <a:rPr lang="ja-JP" altLang="en-US" sz="2263" b="1" dirty="0"/>
              <a:t>球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の座標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(</a:t>
            </a:r>
            <a:r>
              <a:rPr lang="en-US" altLang="ja-JP" sz="2263" b="1" dirty="0" err="1" smtClean="0">
                <a:solidFill>
                  <a:srgbClr val="0000FF"/>
                </a:solidFill>
              </a:rPr>
              <a:t>Bx,By,Bz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)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5"/>
              <p:cNvSpPr txBox="1">
                <a:spLocks noChangeArrowheads="1"/>
              </p:cNvSpPr>
              <p:nvPr/>
            </p:nvSpPr>
            <p:spPr bwMode="auto">
              <a:xfrm>
                <a:off x="1271419" y="1850898"/>
                <a:ext cx="6413649" cy="80105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50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ja-JP" altLang="en-US" sz="2263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𝑨𝒙</m:t>
                                  </m:r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altLang="ja-JP" sz="2263" b="1" i="1" dirty="0">
                                      <a:latin typeface="Cambria Math" panose="02040503050406030204" pitchFamily="18" charset="0"/>
                                    </a:rPr>
                                    <m:t>𝑩𝒙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ja-JP" sz="2263" b="1" i="1" dirty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𝑨𝒚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𝑩𝒚</m:t>
                              </m:r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263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ja-JP" sz="2263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263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263" b="1" dirty="0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𝑨𝒛</m:t>
                              </m:r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𝑩𝒛</m:t>
                              </m:r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263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ja-JP" sz="2263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1419" y="1850898"/>
                <a:ext cx="6413649" cy="8010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  <a:ex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884453" y="4369750"/>
            <a:ext cx="5765577" cy="440570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二点間</a:t>
            </a:r>
            <a:r>
              <a:rPr lang="ja-JP" altLang="en-US" sz="2263" b="1" dirty="0" smtClean="0"/>
              <a:t>の距離　＜　球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の半径 </a:t>
            </a:r>
            <a:r>
              <a:rPr lang="en-US" altLang="ja-JP" sz="2263" b="1" dirty="0" smtClean="0"/>
              <a:t>+ </a:t>
            </a:r>
            <a:r>
              <a:rPr lang="ja-JP" altLang="en-US" sz="2263" b="1" dirty="0" smtClean="0"/>
              <a:t>球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の半径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1" name="角丸四角形吹き出し 10"/>
          <p:cNvSpPr/>
          <p:nvPr/>
        </p:nvSpPr>
        <p:spPr>
          <a:xfrm>
            <a:off x="3891833" y="3158634"/>
            <a:ext cx="4555684" cy="633802"/>
          </a:xfrm>
          <a:prstGeom prst="wedgeRoundRectCallout">
            <a:avLst>
              <a:gd name="adj1" fmla="val -60018"/>
              <a:gd name="adj2" fmla="val -1633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 smtClean="0">
                <a:latin typeface="ＭＳ Ｐゴシック"/>
              </a:rPr>
              <a:t>距離を求める計算が少し変わったけど、</a:t>
            </a:r>
            <a:r>
              <a:rPr lang="en-US" altLang="ja-JP" sz="2000" b="1" dirty="0">
                <a:latin typeface="ＭＳ Ｐゴシック"/>
              </a:rPr>
              <a:t/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その後の判定は変わらないよ</a:t>
            </a:r>
            <a:endParaRPr lang="ja-JP" altLang="en-US" sz="2000" b="1" dirty="0">
              <a:latin typeface="ＭＳ Ｐゴシック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626256"/>
            <a:ext cx="1207175" cy="1672864"/>
          </a:xfrm>
          <a:prstGeom prst="rect">
            <a:avLst/>
          </a:prstGeom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574285" y="5342741"/>
            <a:ext cx="6385911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実際にプログラムにする場合は、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2D</a:t>
            </a:r>
            <a:r>
              <a:rPr lang="ja-JP" altLang="en-US" sz="2263" b="1" dirty="0" smtClean="0"/>
              <a:t>と同じで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ルートをはずす処理は省いてＯＫ</a:t>
            </a:r>
            <a:r>
              <a:rPr lang="ja-JP" altLang="en-US" sz="2263" b="1" dirty="0" smtClean="0"/>
              <a:t>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むしろ二乗した状態にしておこう！！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5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1871982"/>
            <a:ext cx="7564437" cy="479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右図のように表示されるよう、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プログラムを作成しなさい。</a:t>
            </a:r>
            <a:endParaRPr lang="en-US" altLang="ja-JP" sz="2263" b="1" dirty="0" smtClean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※</a:t>
            </a:r>
            <a:r>
              <a:rPr lang="ja-JP" altLang="en-US" sz="2263" b="1" dirty="0"/>
              <a:t>今回はそれぞれが別のモデル。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　 複製は行わない。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【</a:t>
            </a:r>
            <a:r>
              <a:rPr lang="ja-JP" altLang="en-US" sz="2263" b="1" dirty="0" smtClean="0"/>
              <a:t>入れておく仕様</a:t>
            </a:r>
            <a:r>
              <a:rPr lang="en-US" altLang="ja-JP" sz="2263" b="1" dirty="0" smtClean="0"/>
              <a:t>】</a:t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○オブジェクト</a:t>
            </a:r>
            <a:r>
              <a:rPr lang="en-US" altLang="ja-JP" sz="2263" b="1" dirty="0" smtClean="0"/>
              <a:t>1</a:t>
            </a:r>
            <a:r>
              <a:rPr lang="ja-JP" altLang="en-US" sz="2263" b="1" dirty="0" smtClean="0"/>
              <a:t>は十字キーで</a:t>
            </a:r>
            <a:r>
              <a:rPr lang="en-US" altLang="ja-JP" sz="2263" b="1" dirty="0" smtClean="0"/>
              <a:t>X</a:t>
            </a:r>
            <a:r>
              <a:rPr lang="ja-JP" altLang="en-US" sz="2263" b="1" dirty="0" smtClean="0"/>
              <a:t>軸と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Shift</a:t>
            </a:r>
            <a:r>
              <a:rPr lang="ja-JP" altLang="en-US" sz="2263" b="1" dirty="0" smtClean="0"/>
              <a:t>キーを押しながら上と下を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押すと、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○オブジェクト</a:t>
            </a:r>
            <a:r>
              <a:rPr lang="en-US" altLang="ja-JP" sz="2263" b="1" dirty="0" smtClean="0"/>
              <a:t>2</a:t>
            </a:r>
            <a:r>
              <a:rPr lang="ja-JP" altLang="en-US" sz="2263" b="1" dirty="0" smtClean="0"/>
              <a:t>は</a:t>
            </a:r>
            <a:r>
              <a:rPr lang="en-US" altLang="ja-JP" sz="2263" b="1" dirty="0" smtClean="0"/>
              <a:t>WASD</a:t>
            </a:r>
            <a:r>
              <a:rPr lang="ja-JP" altLang="en-US" sz="2263" b="1" dirty="0" smtClean="0"/>
              <a:t>キーで</a:t>
            </a:r>
            <a:r>
              <a:rPr lang="en-US" altLang="ja-JP" sz="2263" b="1" dirty="0" smtClean="0"/>
              <a:t>X</a:t>
            </a:r>
            <a:r>
              <a:rPr lang="ja-JP" altLang="en-US" sz="2263" b="1" dirty="0" smtClean="0"/>
              <a:t>軸と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Shift</a:t>
            </a:r>
            <a:r>
              <a:rPr lang="ja-JP" altLang="en-US" sz="2263" b="1" dirty="0" smtClean="0"/>
              <a:t>キーを押しながら</a:t>
            </a:r>
            <a:r>
              <a:rPr lang="en-US" altLang="ja-JP" sz="2263" b="1" dirty="0" smtClean="0"/>
              <a:t>W</a:t>
            </a:r>
            <a:r>
              <a:rPr lang="ja-JP" altLang="en-US" sz="2263" b="1" dirty="0" smtClean="0"/>
              <a:t>と</a:t>
            </a:r>
            <a:r>
              <a:rPr lang="en-US" altLang="ja-JP" sz="2263" b="1" dirty="0" smtClean="0"/>
              <a:t>S</a:t>
            </a:r>
            <a:r>
              <a:rPr lang="ja-JP" altLang="en-US" sz="2263" b="1" dirty="0" smtClean="0"/>
              <a:t>キーを押すと、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軸を移動する。</a:t>
            </a:r>
            <a:endParaRPr lang="ja-JP" altLang="en-US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204864"/>
            <a:ext cx="4034469" cy="31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23529" y="2264665"/>
            <a:ext cx="4392488" cy="235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右図のように表示されるよう、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プログラムを作成しなさい。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二つの物体が重なった時だけ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「ヒット！！」と表示すること。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なお、最初に作成したプログラムに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追加するだけでよい。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894444"/>
            <a:ext cx="391491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5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697508" y="1772816"/>
            <a:ext cx="8064896" cy="3400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先ほど作成したプログラムの当たり判定を</a:t>
            </a:r>
            <a:r>
              <a:rPr lang="ja-JP" altLang="en-US" sz="2263" b="1" dirty="0" smtClean="0">
                <a:solidFill>
                  <a:srgbClr val="0000FF"/>
                </a:solidFill>
              </a:rPr>
              <a:t>関数化</a:t>
            </a:r>
            <a:r>
              <a:rPr lang="ja-JP" altLang="en-US" sz="2263" b="1" dirty="0" smtClean="0"/>
              <a:t>しなさい。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なお、関数の仕様は次の通りとする。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err="1" smtClean="0"/>
              <a:t>IsHitSphere</a:t>
            </a:r>
            <a:r>
              <a:rPr lang="en-US" altLang="ja-JP" sz="2263" b="1" dirty="0" smtClean="0"/>
              <a:t>()</a:t>
            </a:r>
            <a:r>
              <a:rPr lang="ja-JP" altLang="en-US" sz="2263" b="1" dirty="0" smtClean="0"/>
              <a:t>関数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○第一引数：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VECTOR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型　オブジェクト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1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の座標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○第二引数</a:t>
            </a:r>
            <a:r>
              <a:rPr lang="ja-JP" altLang="en-US" sz="2263" b="1" dirty="0" smtClean="0"/>
              <a:t>：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float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型</a:t>
            </a:r>
            <a:r>
              <a:rPr lang="ja-JP" altLang="en-US" sz="2263" b="1" dirty="0">
                <a:solidFill>
                  <a:srgbClr val="00B050"/>
                </a:solidFill>
              </a:rPr>
              <a:t>　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　　　オブジェクト</a:t>
            </a:r>
            <a:r>
              <a:rPr lang="en-US" altLang="ja-JP" sz="2263" b="1" dirty="0">
                <a:solidFill>
                  <a:srgbClr val="00B050"/>
                </a:solidFill>
              </a:rPr>
              <a:t>1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</a:t>
            </a:r>
            <a:r>
              <a:rPr lang="ja-JP" altLang="en-US" sz="2263" b="1" dirty="0">
                <a:solidFill>
                  <a:srgbClr val="00B050"/>
                </a:solidFill>
              </a:rPr>
              <a:t>半径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○第三引数：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VECTOR</a:t>
            </a:r>
            <a:r>
              <a:rPr lang="ja-JP" altLang="en-US" sz="2263" b="1" dirty="0">
                <a:solidFill>
                  <a:srgbClr val="0070C0"/>
                </a:solidFill>
              </a:rPr>
              <a:t>型　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オブジェクト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2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</a:t>
            </a:r>
            <a:r>
              <a:rPr lang="ja-JP" altLang="en-US" sz="2263" b="1" dirty="0">
                <a:solidFill>
                  <a:srgbClr val="0070C0"/>
                </a:solidFill>
              </a:rPr>
              <a:t>座標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/>
            </a:r>
            <a:br>
              <a:rPr lang="en-US" altLang="ja-JP" sz="2263" b="1" dirty="0" smtClean="0">
                <a:solidFill>
                  <a:srgbClr val="0070C0"/>
                </a:solidFill>
              </a:rPr>
            </a:br>
            <a:r>
              <a:rPr lang="ja-JP" altLang="en-US" sz="2263" b="1" dirty="0" smtClean="0"/>
              <a:t>○第四引数</a:t>
            </a:r>
            <a:r>
              <a:rPr lang="ja-JP" altLang="en-US" sz="2263" b="1" dirty="0" smtClean="0"/>
              <a:t>：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float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型</a:t>
            </a:r>
            <a:r>
              <a:rPr lang="ja-JP" altLang="en-US" sz="2263" b="1" dirty="0">
                <a:solidFill>
                  <a:srgbClr val="0070C0"/>
                </a:solidFill>
              </a:rPr>
              <a:t>　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　　　オブジェクト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2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</a:t>
            </a:r>
            <a:r>
              <a:rPr lang="ja-JP" altLang="en-US" sz="2263" b="1" dirty="0">
                <a:solidFill>
                  <a:srgbClr val="0070C0"/>
                </a:solidFill>
              </a:rPr>
              <a:t>半径</a:t>
            </a:r>
            <a:endParaRPr lang="en-US" altLang="ja-JP" sz="2263" b="1" dirty="0">
              <a:solidFill>
                <a:srgbClr val="0070C0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○戻り値：</a:t>
            </a:r>
            <a:r>
              <a:rPr lang="en-US" altLang="ja-JP" sz="2263" b="1" dirty="0" smtClean="0"/>
              <a:t>bool</a:t>
            </a:r>
            <a:r>
              <a:rPr lang="ja-JP" altLang="en-US" sz="2263" b="1" dirty="0" smtClean="0"/>
              <a:t>型　</a:t>
            </a:r>
            <a:r>
              <a:rPr lang="en-US" altLang="ja-JP" sz="2263" b="1" dirty="0" smtClean="0"/>
              <a:t>true</a:t>
            </a:r>
            <a:r>
              <a:rPr lang="ja-JP" altLang="en-US" sz="2263" b="1" dirty="0" smtClean="0"/>
              <a:t>　＝　ヒット　</a:t>
            </a:r>
            <a:r>
              <a:rPr lang="en-US" altLang="ja-JP" sz="2263" b="1" dirty="0" smtClean="0"/>
              <a:t>false</a:t>
            </a:r>
            <a:r>
              <a:rPr lang="ja-JP" altLang="en-US" sz="2263" b="1" dirty="0" smtClean="0"/>
              <a:t>　＝　ヒット無し</a:t>
            </a:r>
            <a:endParaRPr lang="en-US" altLang="ja-JP" sz="2263" b="1" dirty="0" smtClean="0"/>
          </a:p>
        </p:txBody>
      </p:sp>
    </p:spTree>
    <p:extLst>
      <p:ext uri="{BB962C8B-B14F-4D97-AF65-F5344CB8AC3E}">
        <p14:creationId xmlns:p14="http://schemas.microsoft.com/office/powerpoint/2010/main" val="426460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/>
              <a:t>ゲーム</a:t>
            </a:r>
            <a:r>
              <a:rPr lang="ja-JP" altLang="en-US" sz="2263" b="1" dirty="0" smtClean="0"/>
              <a:t>に</a:t>
            </a:r>
            <a:r>
              <a:rPr lang="ja-JP" altLang="en-US" sz="2263" b="1" dirty="0"/>
              <a:t>支障</a:t>
            </a:r>
            <a:r>
              <a:rPr lang="ja-JP" altLang="en-US" sz="2263" b="1" dirty="0" smtClean="0"/>
              <a:t>の</a:t>
            </a:r>
            <a:r>
              <a:rPr lang="ja-JP" altLang="en-US" sz="2263" b="1" dirty="0"/>
              <a:t>無</a:t>
            </a:r>
            <a:r>
              <a:rPr lang="ja-JP" altLang="en-US" sz="2263" b="1" dirty="0" smtClean="0"/>
              <a:t>い</a:t>
            </a:r>
            <a:r>
              <a:rPr lang="ja-JP" altLang="en-US" sz="2263" b="1" dirty="0" smtClean="0"/>
              <a:t>当たり判定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11892" y="719857"/>
            <a:ext cx="8252596" cy="302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3D</a:t>
            </a:r>
            <a:r>
              <a:rPr lang="ja-JP" altLang="en-US" sz="2263" b="1" dirty="0" smtClean="0"/>
              <a:t>のキャラクターは形が複雑になるため、しっかりとモデルの形に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近い当たり判定を作成しようとする人が出てくる。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が、ゲームで重要なのは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/>
              <a:t>　</a:t>
            </a:r>
            <a:r>
              <a:rPr lang="ja-JP" altLang="en-US" sz="2263" b="1" dirty="0" smtClean="0"/>
              <a:t>　</a:t>
            </a:r>
            <a:r>
              <a:rPr lang="ja-JP" altLang="en-US" sz="3200" b="1" dirty="0" smtClean="0">
                <a:solidFill>
                  <a:srgbClr val="FF0000"/>
                </a:solidFill>
              </a:rPr>
              <a:t>ゲームとして違和感やストレスが出ないか</a:t>
            </a:r>
            <a:r>
              <a:rPr lang="en-US" altLang="ja-JP" sz="3200" b="1" dirty="0" smtClean="0">
                <a:solidFill>
                  <a:srgbClr val="FF0000"/>
                </a:solidFill>
              </a:rPr>
              <a:t/>
            </a:r>
            <a:br>
              <a:rPr lang="en-US" altLang="ja-JP" sz="3200" b="1" dirty="0" smtClean="0">
                <a:solidFill>
                  <a:srgbClr val="FF0000"/>
                </a:solidFill>
              </a:rPr>
            </a:br>
            <a:r>
              <a:rPr lang="ja-JP" altLang="en-US" sz="2263" b="1" dirty="0" smtClean="0"/>
              <a:t>という</a:t>
            </a:r>
            <a:r>
              <a:rPr lang="ja-JP" altLang="en-US" sz="2263" b="1" dirty="0"/>
              <a:t>点</a:t>
            </a:r>
            <a:r>
              <a:rPr lang="ja-JP" altLang="en-US" sz="2263" b="1" dirty="0" smtClean="0"/>
              <a:t>である。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ゲームとして遊べる且つ違和感が無ければ、簡単な当たり判定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err="1" smtClean="0"/>
              <a:t>だけ</a:t>
            </a:r>
            <a:r>
              <a:rPr lang="ja-JP" altLang="en-US" sz="2263" b="1" dirty="0" smtClean="0"/>
              <a:t>でも問題ない！！</a:t>
            </a:r>
            <a:endParaRPr lang="en-US" altLang="ja-JP" sz="2263" b="1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077072"/>
            <a:ext cx="1025746" cy="1882103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4115236"/>
            <a:ext cx="971574" cy="1877438"/>
          </a:xfrm>
          <a:prstGeom prst="rect">
            <a:avLst/>
          </a:prstGeom>
          <a:ln w="57150">
            <a:noFill/>
          </a:ln>
        </p:spPr>
      </p:pic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699792" y="4045001"/>
            <a:ext cx="295232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キャラクターが入る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ボックスで行ったり</a:t>
            </a:r>
            <a:endParaRPr lang="en-US" altLang="ja-JP" sz="2263" b="1" dirty="0"/>
          </a:p>
        </p:txBody>
      </p:sp>
      <p:sp>
        <p:nvSpPr>
          <p:cNvPr id="2" name="フローチャート: 結合子 1"/>
          <p:cNvSpPr/>
          <p:nvPr/>
        </p:nvSpPr>
        <p:spPr>
          <a:xfrm>
            <a:off x="7190840" y="5402191"/>
            <a:ext cx="630438" cy="5760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/>
          <p:cNvCxnSpPr/>
          <p:nvPr/>
        </p:nvCxnSpPr>
        <p:spPr>
          <a:xfrm flipH="1">
            <a:off x="2429394" y="4439404"/>
            <a:ext cx="558430" cy="213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774832" y="5690223"/>
            <a:ext cx="2952328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足元の球だけで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当たり判定をしたり</a:t>
            </a:r>
            <a:endParaRPr lang="en-US" altLang="ja-JP" sz="2263" b="1" dirty="0"/>
          </a:p>
        </p:txBody>
      </p:sp>
      <p:cxnSp>
        <p:nvCxnSpPr>
          <p:cNvPr id="23" name="直線矢印コネクタ 22"/>
          <p:cNvCxnSpPr/>
          <p:nvPr/>
        </p:nvCxnSpPr>
        <p:spPr>
          <a:xfrm flipV="1">
            <a:off x="6444208" y="5690224"/>
            <a:ext cx="746632" cy="3944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16584</TotalTime>
  <Words>200</Words>
  <Application>Microsoft Office PowerPoint</Application>
  <PresentationFormat>画面に合わせる (4:3)</PresentationFormat>
  <Paragraphs>31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HGS創英角ﾎﾟｯﾌﾟ体</vt:lpstr>
      <vt:lpstr>ＭＳ Ｐゴシック</vt:lpstr>
      <vt:lpstr>Arial</vt:lpstr>
      <vt:lpstr>Calibri</vt:lpstr>
      <vt:lpstr>Cambria Math</vt:lpstr>
      <vt:lpstr>標準デザイン</vt:lpstr>
      <vt:lpstr>この単元の目標</vt:lpstr>
      <vt:lpstr>5 球の当たり判定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597</cp:revision>
  <dcterms:created xsi:type="dcterms:W3CDTF">2013-04-19T02:46:48Z</dcterms:created>
  <dcterms:modified xsi:type="dcterms:W3CDTF">2017-04-25T06:43:42Z</dcterms:modified>
</cp:coreProperties>
</file>