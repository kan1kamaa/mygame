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74" r:id="rId2"/>
    <p:sldId id="263" r:id="rId3"/>
    <p:sldId id="518" r:id="rId4"/>
    <p:sldId id="514" r:id="rId5"/>
    <p:sldId id="480" r:id="rId6"/>
    <p:sldId id="497" r:id="rId7"/>
    <p:sldId id="519" r:id="rId8"/>
    <p:sldId id="520" r:id="rId9"/>
    <p:sldId id="521" r:id="rId10"/>
    <p:sldId id="522" r:id="rId11"/>
  </p:sldIdLst>
  <p:sldSz cx="9144000" cy="6858000" type="screen4x3"/>
  <p:notesSz cx="6858000" cy="9144000"/>
  <p:defaultTextStyle>
    <a:defPPr>
      <a:defRPr lang="ja-JP"/>
    </a:defPPr>
    <a:lvl1pPr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0000FF"/>
    <a:srgbClr val="FF99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333" autoAdjust="0"/>
    <p:restoredTop sz="93432" autoAdjust="0"/>
  </p:normalViewPr>
  <p:slideViewPr>
    <p:cSldViewPr>
      <p:cViewPr varScale="1">
        <p:scale>
          <a:sx n="74" d="100"/>
          <a:sy n="74" d="100"/>
        </p:scale>
        <p:origin x="1314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</a:lstStyle>
          <a:p>
            <a:pPr>
              <a:defRPr/>
            </a:pPr>
            <a:fld id="{27E591F3-6C5C-4237-9A0F-19C627DFAD91}" type="datetimeFigureOut">
              <a:rPr lang="ja-JP" altLang="en-US"/>
              <a:pPr>
                <a:defRPr/>
              </a:pPr>
              <a:t>2019/5/7</a:t>
            </a:fld>
            <a:endParaRPr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ja-JP" altLang="en-US" noProof="0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ja-JP" altLang="en-US" noProof="0"/>
              <a:t>マスター テキストの書式設定</a:t>
            </a:r>
          </a:p>
          <a:p>
            <a:pPr lvl="1"/>
            <a:r>
              <a:rPr lang="ja-JP" altLang="en-US" noProof="0"/>
              <a:t>第 </a:t>
            </a:r>
            <a:r>
              <a:rPr lang="en-US" altLang="ja-JP" noProof="0"/>
              <a:t>2 </a:t>
            </a:r>
            <a:r>
              <a:rPr lang="ja-JP" altLang="en-US" noProof="0"/>
              <a:t>レベル</a:t>
            </a:r>
          </a:p>
          <a:p>
            <a:pPr lvl="2"/>
            <a:r>
              <a:rPr lang="ja-JP" altLang="en-US" noProof="0"/>
              <a:t>第 </a:t>
            </a:r>
            <a:r>
              <a:rPr lang="en-US" altLang="ja-JP" noProof="0"/>
              <a:t>3 </a:t>
            </a:r>
            <a:r>
              <a:rPr lang="ja-JP" altLang="en-US" noProof="0"/>
              <a:t>レベル</a:t>
            </a:r>
          </a:p>
          <a:p>
            <a:pPr lvl="3"/>
            <a:r>
              <a:rPr lang="ja-JP" altLang="en-US" noProof="0"/>
              <a:t>第 </a:t>
            </a:r>
            <a:r>
              <a:rPr lang="en-US" altLang="ja-JP" noProof="0"/>
              <a:t>4 </a:t>
            </a:r>
            <a:r>
              <a:rPr lang="ja-JP" altLang="en-US" noProof="0"/>
              <a:t>レベル</a:t>
            </a:r>
          </a:p>
          <a:p>
            <a:pPr lvl="4"/>
            <a:r>
              <a:rPr lang="ja-JP" altLang="en-US" noProof="0"/>
              <a:t>第 </a:t>
            </a:r>
            <a:r>
              <a:rPr lang="en-US" altLang="ja-JP" noProof="0"/>
              <a:t>5 </a:t>
            </a:r>
            <a:r>
              <a:rPr lang="ja-JP" altLang="en-US" noProof="0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ea typeface="ＭＳ Ｐゴシック" panose="020B0600070205080204" pitchFamily="50" charset="-128"/>
              </a:defRPr>
            </a:lvl1pPr>
          </a:lstStyle>
          <a:p>
            <a:pPr>
              <a:defRPr/>
            </a:pPr>
            <a:fld id="{E94BE2DB-0632-44C0-A305-06F0D4B9CEE2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87645999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スライド イメージ プレースホルダー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3" name="ノート プレースホルダー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5124" name="スライド番号プレースホルダー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9736DED6-970D-448F-85CD-4C9A77D3E903}" type="slidenum">
              <a:rPr lang="ja-JP" altLang="en-US" smtClean="0"/>
              <a:pPr/>
              <a:t>2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6597417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ja-JP" altLang="en-US"/>
              <a:t>マスター サブタイトルの書式設定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AE94326-21EF-45D6-9938-6B5BD0D058E7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2349058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101B8C3-4F1B-4F8C-B78A-BA008A42883E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8740394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C00992A-329F-4748-B8BD-5ACE4AD4DE4D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40944703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A9F9311-072B-437B-8F4A-90FAC793E747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3868709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662856A-195B-44FC-9E8C-2B8EFCAF2E3E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3913497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7C8990D-02EF-4AF9-8193-ADA8B1D08AA2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356823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8EE9533-605F-4AB1-90F2-B443A41F5FFA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7477562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5BF4E6F-8E4F-465C-BE46-3CA155F67AB0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8535622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ja-JP" altLang="en-US" noProof="0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9BA2F0E-8486-49C0-88FF-C5FCF562858F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1250235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90312D0-E269-4F66-A389-47D91A25CDD6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5746466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CD5277F-FF33-41BB-B110-8F2E985F6F0B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6206237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 タイトルの書式設定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latin typeface="Arial" charset="0"/>
                <a:ea typeface="ＭＳ Ｐゴシック" charset="-128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Arial" charset="0"/>
                <a:ea typeface="ＭＳ Ｐゴシック" charset="-128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ea typeface="ＭＳ Ｐゴシック" panose="020B0600070205080204" pitchFamily="50" charset="-128"/>
              </a:defRPr>
            </a:lvl1pPr>
          </a:lstStyle>
          <a:p>
            <a:pPr>
              <a:defRPr/>
            </a:pPr>
            <a:fld id="{F2B73C9D-6D14-4BD8-824F-F00887877170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charset="-128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charset="-128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charset="-128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charset="-128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gi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11188" y="468313"/>
            <a:ext cx="7772400" cy="865187"/>
          </a:xfrm>
        </p:spPr>
        <p:txBody>
          <a:bodyPr/>
          <a:lstStyle/>
          <a:p>
            <a:pPr eaLnBrk="1" hangingPunct="1"/>
            <a:r>
              <a:rPr lang="ja-JP" altLang="en-US" sz="6000" b="1">
                <a:solidFill>
                  <a:srgbClr val="FF0000"/>
                </a:solidFill>
              </a:rPr>
              <a:t>この単元の目標</a:t>
            </a:r>
          </a:p>
        </p:txBody>
      </p:sp>
      <p:pic>
        <p:nvPicPr>
          <p:cNvPr id="3075" name="図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388" y="4437063"/>
            <a:ext cx="3209925" cy="2271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6" name="図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35663" y="4437063"/>
            <a:ext cx="3208337" cy="2271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2"/>
          <p:cNvSpPr txBox="1">
            <a:spLocks noChangeArrowheads="1"/>
          </p:cNvSpPr>
          <p:nvPr/>
        </p:nvSpPr>
        <p:spPr bwMode="auto">
          <a:xfrm>
            <a:off x="775556" y="1484784"/>
            <a:ext cx="7772400" cy="2952328"/>
          </a:xfrm>
          <a:prstGeom prst="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Arial" charset="0"/>
                <a:ea typeface="ＭＳ Ｐゴシック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Arial" charset="0"/>
                <a:ea typeface="ＭＳ Ｐゴシック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Arial" charset="0"/>
                <a:ea typeface="ＭＳ Ｐゴシック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Arial" charset="0"/>
                <a:ea typeface="ＭＳ Ｐゴシック" charset="-128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Arial" charset="0"/>
                <a:ea typeface="ＭＳ Ｐゴシック" charset="-128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Arial" charset="0"/>
                <a:ea typeface="ＭＳ Ｐゴシック" charset="-128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Arial" charset="0"/>
                <a:ea typeface="ＭＳ Ｐゴシック" charset="-128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>
              <a:defRPr/>
            </a:pPr>
            <a:r>
              <a:rPr lang="ja-JP" altLang="en-US" sz="4800" b="1" kern="0" dirty="0" smtClean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直方体同士の</a:t>
            </a:r>
            <a:r>
              <a:rPr lang="en-US" altLang="ja-JP" sz="4800" b="1" kern="0" dirty="0" smtClean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/>
            </a:r>
            <a:br>
              <a:rPr lang="en-US" altLang="ja-JP" sz="4800" b="1" kern="0" dirty="0" smtClean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</a:br>
            <a:r>
              <a:rPr lang="ja-JP" altLang="en-US" sz="4800" b="1" kern="0" dirty="0" smtClean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当たり判定結果を表示できる</a:t>
            </a:r>
            <a:endParaRPr lang="en-US" altLang="ja-JP" sz="4800" b="1" kern="0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図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616" y="3140968"/>
            <a:ext cx="2093116" cy="2515915"/>
          </a:xfrm>
          <a:prstGeom prst="rect">
            <a:avLst/>
          </a:prstGeom>
        </p:spPr>
      </p:pic>
      <p:sp>
        <p:nvSpPr>
          <p:cNvPr id="410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11188" y="468313"/>
            <a:ext cx="7772400" cy="865187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ja-JP" dirty="0"/>
              <a:t>4</a:t>
            </a:r>
            <a:r>
              <a:rPr lang="en-US" altLang="ja-JP" dirty="0" smtClean="0"/>
              <a:t> </a:t>
            </a:r>
            <a:r>
              <a:rPr lang="ja-JP" altLang="en-US" dirty="0"/>
              <a:t>直方体</a:t>
            </a:r>
            <a:r>
              <a:rPr lang="ja-JP" altLang="en-US" dirty="0" smtClean="0"/>
              <a:t>の当たり</a:t>
            </a:r>
            <a:r>
              <a:rPr lang="ja-JP" altLang="en-US" dirty="0"/>
              <a:t>判定</a:t>
            </a:r>
          </a:p>
        </p:txBody>
      </p:sp>
      <p:sp>
        <p:nvSpPr>
          <p:cNvPr id="5" name="Text Box 5"/>
          <p:cNvSpPr txBox="1">
            <a:spLocks noChangeArrowheads="1"/>
          </p:cNvSpPr>
          <p:nvPr/>
        </p:nvSpPr>
        <p:spPr bwMode="auto">
          <a:xfrm>
            <a:off x="520699" y="1938411"/>
            <a:ext cx="7953375" cy="4405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ja-JP" altLang="en-US" sz="2263" b="1" dirty="0" smtClean="0"/>
              <a:t>今回は当たり判定を簡単にするために、以下のモデルを使用。</a:t>
            </a:r>
            <a:endParaRPr lang="en-US" altLang="ja-JP" sz="2263" b="1" dirty="0"/>
          </a:p>
        </p:txBody>
      </p:sp>
      <p:sp>
        <p:nvSpPr>
          <p:cNvPr id="9" name="Text Box 5"/>
          <p:cNvSpPr txBox="1">
            <a:spLocks noChangeArrowheads="1"/>
          </p:cNvSpPr>
          <p:nvPr/>
        </p:nvSpPr>
        <p:spPr bwMode="auto">
          <a:xfrm>
            <a:off x="320923" y="1520424"/>
            <a:ext cx="8352928" cy="4405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altLang="ja-JP" sz="2263" b="1" dirty="0" smtClean="0"/>
              <a:t>[</a:t>
            </a:r>
            <a:r>
              <a:rPr lang="ja-JP" altLang="en-US" sz="2263" b="1" dirty="0" smtClean="0"/>
              <a:t>プログラムの作成前に</a:t>
            </a:r>
            <a:r>
              <a:rPr lang="en-US" altLang="ja-JP" sz="2263" b="1" dirty="0" smtClean="0"/>
              <a:t>]</a:t>
            </a:r>
            <a:endParaRPr lang="en-US" altLang="ja-JP" sz="2263" b="1" dirty="0"/>
          </a:p>
        </p:txBody>
      </p:sp>
      <p:sp>
        <p:nvSpPr>
          <p:cNvPr id="11" name="左矢印 10"/>
          <p:cNvSpPr/>
          <p:nvPr/>
        </p:nvSpPr>
        <p:spPr>
          <a:xfrm>
            <a:off x="2627784" y="4182901"/>
            <a:ext cx="2304256" cy="432048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Text Box 5"/>
          <p:cNvSpPr txBox="1">
            <a:spLocks noChangeArrowheads="1"/>
          </p:cNvSpPr>
          <p:nvPr/>
        </p:nvSpPr>
        <p:spPr bwMode="auto">
          <a:xfrm>
            <a:off x="4932040" y="3656286"/>
            <a:ext cx="3888432" cy="11370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ja-JP" altLang="en-US" sz="2263" b="1" dirty="0" smtClean="0"/>
              <a:t>モデルの原点が、</a:t>
            </a:r>
            <a:r>
              <a:rPr lang="en-US" altLang="ja-JP" sz="2263" b="1" dirty="0" smtClean="0"/>
              <a:t/>
            </a:r>
            <a:br>
              <a:rPr lang="en-US" altLang="ja-JP" sz="2263" b="1" dirty="0" smtClean="0"/>
            </a:br>
            <a:r>
              <a:rPr lang="ja-JP" altLang="en-US" sz="2263" b="1" dirty="0" smtClean="0">
                <a:solidFill>
                  <a:srgbClr val="FF0000"/>
                </a:solidFill>
              </a:rPr>
              <a:t>オブジェクトの中心</a:t>
            </a:r>
            <a:r>
              <a:rPr lang="ja-JP" altLang="en-US" sz="2263" b="1" dirty="0" smtClean="0"/>
              <a:t>に</a:t>
            </a:r>
            <a:r>
              <a:rPr lang="en-US" altLang="ja-JP" sz="2263" b="1" dirty="0" smtClean="0"/>
              <a:t/>
            </a:r>
            <a:br>
              <a:rPr lang="en-US" altLang="ja-JP" sz="2263" b="1" dirty="0" smtClean="0"/>
            </a:br>
            <a:r>
              <a:rPr lang="ja-JP" altLang="en-US" sz="2263" b="1" dirty="0" smtClean="0"/>
              <a:t>存在している。</a:t>
            </a:r>
            <a:endParaRPr lang="en-US" altLang="ja-JP" sz="2263" b="1" dirty="0"/>
          </a:p>
        </p:txBody>
      </p:sp>
      <p:sp>
        <p:nvSpPr>
          <p:cNvPr id="2" name="フローチャート: 結合子 1"/>
          <p:cNvSpPr/>
          <p:nvPr/>
        </p:nvSpPr>
        <p:spPr>
          <a:xfrm>
            <a:off x="2130078" y="4335135"/>
            <a:ext cx="141411" cy="178380"/>
          </a:xfrm>
          <a:prstGeom prst="flowChartConnector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Box 5"/>
          <p:cNvSpPr txBox="1">
            <a:spLocks noChangeArrowheads="1"/>
          </p:cNvSpPr>
          <p:nvPr/>
        </p:nvSpPr>
        <p:spPr bwMode="auto">
          <a:xfrm>
            <a:off x="454169" y="188640"/>
            <a:ext cx="8223650" cy="7888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ja-JP" altLang="en-US" sz="2263" b="1" dirty="0" smtClean="0"/>
              <a:t>通常のゲームで使用するモデルは、多くがキャラクターの</a:t>
            </a:r>
            <a:r>
              <a:rPr lang="en-US" altLang="ja-JP" sz="2263" b="1" dirty="0" smtClean="0"/>
              <a:t/>
            </a:r>
            <a:br>
              <a:rPr lang="en-US" altLang="ja-JP" sz="2263" b="1" dirty="0" smtClean="0"/>
            </a:br>
            <a:r>
              <a:rPr lang="ja-JP" altLang="en-US" sz="2263" b="1" dirty="0" smtClean="0">
                <a:solidFill>
                  <a:srgbClr val="FF0000"/>
                </a:solidFill>
              </a:rPr>
              <a:t>足元</a:t>
            </a:r>
            <a:r>
              <a:rPr lang="ja-JP" altLang="en-US" sz="2263" b="1" dirty="0" smtClean="0"/>
              <a:t>に原点が存在する。</a:t>
            </a:r>
            <a:endParaRPr lang="en-US" altLang="ja-JP" sz="2263" b="1" dirty="0"/>
          </a:p>
        </p:txBody>
      </p:sp>
      <p:pic>
        <p:nvPicPr>
          <p:cNvPr id="5" name="図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1760" y="1268760"/>
            <a:ext cx="3086100" cy="3067050"/>
          </a:xfrm>
          <a:prstGeom prst="rect">
            <a:avLst/>
          </a:prstGeom>
        </p:spPr>
      </p:pic>
      <p:sp>
        <p:nvSpPr>
          <p:cNvPr id="14" name="フローチャート: 結合子 13"/>
          <p:cNvSpPr/>
          <p:nvPr/>
        </p:nvSpPr>
        <p:spPr>
          <a:xfrm>
            <a:off x="3750243" y="3979813"/>
            <a:ext cx="141411" cy="178380"/>
          </a:xfrm>
          <a:prstGeom prst="flowChartConnector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左矢印 17"/>
          <p:cNvSpPr/>
          <p:nvPr/>
        </p:nvSpPr>
        <p:spPr>
          <a:xfrm>
            <a:off x="4078009" y="3852979"/>
            <a:ext cx="1790135" cy="432048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Text Box 5"/>
          <p:cNvSpPr txBox="1">
            <a:spLocks noChangeArrowheads="1"/>
          </p:cNvSpPr>
          <p:nvPr/>
        </p:nvSpPr>
        <p:spPr bwMode="auto">
          <a:xfrm>
            <a:off x="6054499" y="3411291"/>
            <a:ext cx="2765973" cy="7888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ja-JP" altLang="en-US" sz="2263" b="1" dirty="0" smtClean="0"/>
              <a:t>地面との判定は</a:t>
            </a:r>
            <a:r>
              <a:rPr lang="en-US" altLang="ja-JP" sz="2263" b="1" dirty="0" smtClean="0"/>
              <a:t/>
            </a:r>
            <a:br>
              <a:rPr lang="en-US" altLang="ja-JP" sz="2263" b="1" dirty="0" smtClean="0"/>
            </a:br>
            <a:r>
              <a:rPr lang="ja-JP" altLang="en-US" sz="2263" b="1" dirty="0" smtClean="0"/>
              <a:t>こちらの方が便利。</a:t>
            </a:r>
            <a:endParaRPr lang="en-US" altLang="ja-JP" sz="2263" b="1" dirty="0"/>
          </a:p>
        </p:txBody>
      </p:sp>
      <p:sp>
        <p:nvSpPr>
          <p:cNvPr id="20" name="Text Box 5"/>
          <p:cNvSpPr txBox="1">
            <a:spLocks noChangeArrowheads="1"/>
          </p:cNvSpPr>
          <p:nvPr/>
        </p:nvSpPr>
        <p:spPr bwMode="auto">
          <a:xfrm>
            <a:off x="323528" y="4725144"/>
            <a:ext cx="8223650" cy="7888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ja-JP" altLang="en-US" sz="2263" b="1" dirty="0"/>
              <a:t>原点</a:t>
            </a:r>
            <a:r>
              <a:rPr lang="ja-JP" altLang="en-US" sz="2263" b="1" dirty="0" smtClean="0"/>
              <a:t>がオブジェクトの基本となる座標になるため</a:t>
            </a:r>
            <a:r>
              <a:rPr lang="en-US" altLang="ja-JP" sz="2263" b="1" dirty="0" smtClean="0"/>
              <a:t/>
            </a:r>
            <a:br>
              <a:rPr lang="en-US" altLang="ja-JP" sz="2263" b="1" dirty="0" smtClean="0"/>
            </a:br>
            <a:r>
              <a:rPr lang="ja-JP" altLang="en-US" sz="2263" b="1" dirty="0" smtClean="0"/>
              <a:t>気をつけておこう！！</a:t>
            </a:r>
            <a:endParaRPr lang="en-US" altLang="ja-JP" sz="2263" b="1" dirty="0"/>
          </a:p>
        </p:txBody>
      </p:sp>
    </p:spTree>
    <p:extLst>
      <p:ext uri="{BB962C8B-B14F-4D97-AF65-F5344CB8AC3E}">
        <p14:creationId xmlns:p14="http://schemas.microsoft.com/office/powerpoint/2010/main" val="15443343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爆発 1 1"/>
          <p:cNvSpPr/>
          <p:nvPr/>
        </p:nvSpPr>
        <p:spPr>
          <a:xfrm>
            <a:off x="2771775" y="115888"/>
            <a:ext cx="3916363" cy="1441450"/>
          </a:xfrm>
          <a:prstGeom prst="irregularSeal1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ja-JP" altLang="en-US" sz="2000" b="1" dirty="0">
                <a:solidFill>
                  <a:srgbClr val="FF0000"/>
                </a:solidFill>
                <a:latin typeface="HGS創英角ﾎﾟｯﾌﾟ体" panose="040B0A00000000000000" pitchFamily="50" charset="-128"/>
                <a:ea typeface="HGS創英角ﾎﾟｯﾌﾟ体" panose="040B0A00000000000000" pitchFamily="50" charset="-128"/>
              </a:rPr>
              <a:t>作ってみよう</a:t>
            </a:r>
            <a:r>
              <a:rPr lang="en-US" altLang="ja-JP" sz="2000" b="1" dirty="0">
                <a:solidFill>
                  <a:srgbClr val="FF0000"/>
                </a:solidFill>
                <a:latin typeface="HGS創英角ﾎﾟｯﾌﾟ体" panose="040B0A00000000000000" pitchFamily="50" charset="-128"/>
                <a:ea typeface="HGS創英角ﾎﾟｯﾌﾟ体" panose="040B0A00000000000000" pitchFamily="50" charset="-128"/>
              </a:rPr>
              <a:t>!!</a:t>
            </a:r>
            <a:endParaRPr lang="ja-JP" altLang="en-US" sz="2000" b="1" dirty="0">
              <a:solidFill>
                <a:srgbClr val="FF0000"/>
              </a:solidFill>
              <a:latin typeface="HGS創英角ﾎﾟｯﾌﾟ体" panose="040B0A00000000000000" pitchFamily="50" charset="-128"/>
              <a:ea typeface="HGS創英角ﾎﾟｯﾌﾟ体" panose="040B0A00000000000000" pitchFamily="50" charset="-128"/>
            </a:endParaRPr>
          </a:p>
        </p:txBody>
      </p:sp>
      <p:sp>
        <p:nvSpPr>
          <p:cNvPr id="15" name="Text Box 5"/>
          <p:cNvSpPr txBox="1">
            <a:spLocks noChangeArrowheads="1"/>
          </p:cNvSpPr>
          <p:nvPr/>
        </p:nvSpPr>
        <p:spPr bwMode="auto">
          <a:xfrm>
            <a:off x="179512" y="1871982"/>
            <a:ext cx="7564437" cy="47935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ja-JP" altLang="en-US" sz="2263" b="1" dirty="0" smtClean="0"/>
              <a:t>右図のように表示されるよう、</a:t>
            </a:r>
            <a:r>
              <a:rPr lang="en-US" altLang="ja-JP" sz="2263" b="1" dirty="0" smtClean="0"/>
              <a:t/>
            </a:r>
            <a:br>
              <a:rPr lang="en-US" altLang="ja-JP" sz="2263" b="1" dirty="0" smtClean="0"/>
            </a:br>
            <a:r>
              <a:rPr lang="ja-JP" altLang="en-US" sz="2263" b="1" dirty="0" smtClean="0"/>
              <a:t>プログラムを作成しなさい。</a:t>
            </a:r>
            <a:endParaRPr lang="en-US" altLang="ja-JP" sz="2263" b="1" dirty="0" smtClean="0"/>
          </a:p>
          <a:p>
            <a:pPr eaLnBrk="1" hangingPunct="1">
              <a:spcBef>
                <a:spcPct val="50000"/>
              </a:spcBef>
              <a:defRPr/>
            </a:pPr>
            <a:r>
              <a:rPr lang="en-US" altLang="ja-JP" sz="2263" b="1" dirty="0" smtClean="0"/>
              <a:t>※</a:t>
            </a:r>
            <a:r>
              <a:rPr lang="ja-JP" altLang="en-US" sz="2263" b="1" dirty="0" smtClean="0"/>
              <a:t>二つとも「</a:t>
            </a:r>
            <a:r>
              <a:rPr lang="en-US" altLang="ja-JP" sz="2263" b="1" dirty="0" err="1"/>
              <a:t>BoxChan.x</a:t>
            </a:r>
            <a:r>
              <a:rPr lang="ja-JP" altLang="en-US" sz="2263" b="1" dirty="0" smtClean="0"/>
              <a:t>」であるので</a:t>
            </a:r>
            <a:r>
              <a:rPr lang="en-US" altLang="ja-JP" sz="2263" b="1" dirty="0" smtClean="0"/>
              <a:t/>
            </a:r>
            <a:br>
              <a:rPr lang="en-US" altLang="ja-JP" sz="2263" b="1" dirty="0" smtClean="0"/>
            </a:br>
            <a:r>
              <a:rPr lang="ja-JP" altLang="en-US" sz="2263" b="1" dirty="0" smtClean="0"/>
              <a:t>　 </a:t>
            </a:r>
            <a:r>
              <a:rPr lang="ja-JP" altLang="en-US" sz="2263" b="1" dirty="0" smtClean="0">
                <a:solidFill>
                  <a:srgbClr val="FF0000"/>
                </a:solidFill>
              </a:rPr>
              <a:t>複製</a:t>
            </a:r>
            <a:r>
              <a:rPr lang="ja-JP" altLang="en-US" sz="2263" b="1" dirty="0" smtClean="0"/>
              <a:t>を行う事。</a:t>
            </a:r>
            <a:r>
              <a:rPr lang="en-US" altLang="ja-JP" sz="2263" b="1" dirty="0" smtClean="0"/>
              <a:t/>
            </a:r>
            <a:br>
              <a:rPr lang="en-US" altLang="ja-JP" sz="2263" b="1" dirty="0" smtClean="0"/>
            </a:br>
            <a:r>
              <a:rPr lang="en-US" altLang="ja-JP" sz="2263" b="1" dirty="0" smtClean="0"/>
              <a:t/>
            </a:r>
            <a:br>
              <a:rPr lang="en-US" altLang="ja-JP" sz="2263" b="1" dirty="0" smtClean="0"/>
            </a:br>
            <a:r>
              <a:rPr lang="en-US" altLang="ja-JP" sz="2263" b="1" dirty="0" smtClean="0"/>
              <a:t>【</a:t>
            </a:r>
            <a:r>
              <a:rPr lang="ja-JP" altLang="en-US" sz="2263" b="1" dirty="0"/>
              <a:t>入</a:t>
            </a:r>
            <a:r>
              <a:rPr lang="ja-JP" altLang="en-US" sz="2263" b="1" dirty="0" smtClean="0"/>
              <a:t>れておく仕様</a:t>
            </a:r>
            <a:r>
              <a:rPr lang="en-US" altLang="ja-JP" sz="2263" b="1" dirty="0" smtClean="0"/>
              <a:t>】</a:t>
            </a:r>
            <a:br>
              <a:rPr lang="en-US" altLang="ja-JP" sz="2263" b="1" dirty="0" smtClean="0"/>
            </a:br>
            <a:r>
              <a:rPr lang="ja-JP" altLang="en-US" sz="2263" b="1" dirty="0" smtClean="0"/>
              <a:t>○オブジェクト</a:t>
            </a:r>
            <a:r>
              <a:rPr lang="en-US" altLang="ja-JP" sz="2263" b="1" dirty="0" smtClean="0"/>
              <a:t>1</a:t>
            </a:r>
            <a:r>
              <a:rPr lang="ja-JP" altLang="en-US" sz="2263" b="1" dirty="0" smtClean="0"/>
              <a:t>は十字キーで</a:t>
            </a:r>
            <a:r>
              <a:rPr lang="en-US" altLang="ja-JP" sz="2263" b="1" dirty="0" smtClean="0"/>
              <a:t>X</a:t>
            </a:r>
            <a:r>
              <a:rPr lang="ja-JP" altLang="en-US" sz="2263" b="1" dirty="0" smtClean="0"/>
              <a:t>軸と</a:t>
            </a:r>
            <a:r>
              <a:rPr lang="en-US" altLang="ja-JP" sz="2263" b="1" dirty="0" smtClean="0"/>
              <a:t/>
            </a:r>
            <a:br>
              <a:rPr lang="en-US" altLang="ja-JP" sz="2263" b="1" dirty="0" smtClean="0"/>
            </a:br>
            <a:r>
              <a:rPr lang="ja-JP" altLang="en-US" sz="2263" b="1" dirty="0" smtClean="0"/>
              <a:t>　 </a:t>
            </a:r>
            <a:r>
              <a:rPr lang="en-US" altLang="ja-JP" sz="2263" b="1" dirty="0" smtClean="0"/>
              <a:t>Z</a:t>
            </a:r>
            <a:r>
              <a:rPr lang="ja-JP" altLang="en-US" sz="2263" b="1" dirty="0" smtClean="0"/>
              <a:t>軸を移動する。</a:t>
            </a:r>
            <a:r>
              <a:rPr lang="en-US" altLang="ja-JP" sz="2263" b="1" dirty="0" smtClean="0"/>
              <a:t/>
            </a:r>
            <a:br>
              <a:rPr lang="en-US" altLang="ja-JP" sz="2263" b="1" dirty="0" smtClean="0"/>
            </a:br>
            <a:r>
              <a:rPr lang="ja-JP" altLang="en-US" sz="2263" b="1" dirty="0" smtClean="0"/>
              <a:t>　 </a:t>
            </a:r>
            <a:r>
              <a:rPr lang="en-US" altLang="ja-JP" sz="2263" b="1" dirty="0" smtClean="0"/>
              <a:t>Shift</a:t>
            </a:r>
            <a:r>
              <a:rPr lang="ja-JP" altLang="en-US" sz="2263" b="1" dirty="0" smtClean="0"/>
              <a:t>キーを押しながら上と下を</a:t>
            </a:r>
            <a:r>
              <a:rPr lang="en-US" altLang="ja-JP" sz="2263" b="1" dirty="0" smtClean="0"/>
              <a:t/>
            </a:r>
            <a:br>
              <a:rPr lang="en-US" altLang="ja-JP" sz="2263" b="1" dirty="0" smtClean="0"/>
            </a:br>
            <a:r>
              <a:rPr lang="ja-JP" altLang="en-US" sz="2263" b="1" dirty="0" smtClean="0"/>
              <a:t>　 押すと、</a:t>
            </a:r>
            <a:r>
              <a:rPr lang="en-US" altLang="ja-JP" sz="2263" b="1" dirty="0" smtClean="0"/>
              <a:t>Y</a:t>
            </a:r>
            <a:r>
              <a:rPr lang="ja-JP" altLang="en-US" sz="2263" b="1" dirty="0" smtClean="0"/>
              <a:t>軸を移動する。</a:t>
            </a:r>
            <a:r>
              <a:rPr lang="en-US" altLang="ja-JP" sz="2263" b="1" dirty="0" smtClean="0"/>
              <a:t/>
            </a:r>
            <a:br>
              <a:rPr lang="en-US" altLang="ja-JP" sz="2263" b="1" dirty="0" smtClean="0"/>
            </a:br>
            <a:r>
              <a:rPr lang="ja-JP" altLang="en-US" sz="2263" b="1" dirty="0" smtClean="0"/>
              <a:t>○オブジェクト</a:t>
            </a:r>
            <a:r>
              <a:rPr lang="en-US" altLang="ja-JP" sz="2263" b="1" dirty="0" smtClean="0"/>
              <a:t>2</a:t>
            </a:r>
            <a:r>
              <a:rPr lang="ja-JP" altLang="en-US" sz="2263" b="1" dirty="0" smtClean="0"/>
              <a:t>は</a:t>
            </a:r>
            <a:r>
              <a:rPr lang="en-US" altLang="ja-JP" sz="2263" b="1" dirty="0" smtClean="0"/>
              <a:t>WASD</a:t>
            </a:r>
            <a:r>
              <a:rPr lang="ja-JP" altLang="en-US" sz="2263" b="1" dirty="0" smtClean="0"/>
              <a:t>キーで</a:t>
            </a:r>
            <a:r>
              <a:rPr lang="en-US" altLang="ja-JP" sz="2263" b="1" dirty="0" smtClean="0"/>
              <a:t>X</a:t>
            </a:r>
            <a:r>
              <a:rPr lang="ja-JP" altLang="en-US" sz="2263" b="1" dirty="0" smtClean="0"/>
              <a:t>軸と</a:t>
            </a:r>
            <a:r>
              <a:rPr lang="en-US" altLang="ja-JP" sz="2263" b="1" dirty="0" smtClean="0"/>
              <a:t/>
            </a:r>
            <a:br>
              <a:rPr lang="en-US" altLang="ja-JP" sz="2263" b="1" dirty="0" smtClean="0"/>
            </a:br>
            <a:r>
              <a:rPr lang="ja-JP" altLang="en-US" sz="2263" b="1" dirty="0" smtClean="0"/>
              <a:t>　 </a:t>
            </a:r>
            <a:r>
              <a:rPr lang="en-US" altLang="ja-JP" sz="2263" b="1" dirty="0" smtClean="0"/>
              <a:t>Z</a:t>
            </a:r>
            <a:r>
              <a:rPr lang="ja-JP" altLang="en-US" sz="2263" b="1" dirty="0" smtClean="0"/>
              <a:t>軸を移動する。</a:t>
            </a:r>
            <a:r>
              <a:rPr lang="en-US" altLang="ja-JP" sz="2263" b="1" dirty="0" smtClean="0"/>
              <a:t/>
            </a:r>
            <a:br>
              <a:rPr lang="en-US" altLang="ja-JP" sz="2263" b="1" dirty="0" smtClean="0"/>
            </a:br>
            <a:r>
              <a:rPr lang="ja-JP" altLang="en-US" sz="2263" b="1" dirty="0" smtClean="0"/>
              <a:t>　 </a:t>
            </a:r>
            <a:r>
              <a:rPr lang="en-US" altLang="ja-JP" sz="2263" b="1" dirty="0"/>
              <a:t>Shift</a:t>
            </a:r>
            <a:r>
              <a:rPr lang="ja-JP" altLang="en-US" sz="2263" b="1" dirty="0"/>
              <a:t>キーを</a:t>
            </a:r>
            <a:r>
              <a:rPr lang="ja-JP" altLang="en-US" sz="2263" b="1" dirty="0" smtClean="0"/>
              <a:t>押しながら</a:t>
            </a:r>
            <a:r>
              <a:rPr lang="en-US" altLang="ja-JP" sz="2263" b="1" dirty="0" smtClean="0"/>
              <a:t>W</a:t>
            </a:r>
            <a:r>
              <a:rPr lang="ja-JP" altLang="en-US" sz="2263" b="1" dirty="0" smtClean="0"/>
              <a:t>と</a:t>
            </a:r>
            <a:r>
              <a:rPr lang="en-US" altLang="ja-JP" sz="2263" b="1" dirty="0" smtClean="0"/>
              <a:t>S</a:t>
            </a:r>
            <a:r>
              <a:rPr lang="ja-JP" altLang="en-US" sz="2263" b="1" dirty="0" smtClean="0"/>
              <a:t>キーを押すと、</a:t>
            </a:r>
            <a:r>
              <a:rPr lang="en-US" altLang="ja-JP" sz="2263" b="1" dirty="0" smtClean="0"/>
              <a:t>Y</a:t>
            </a:r>
            <a:r>
              <a:rPr lang="ja-JP" altLang="en-US" sz="2263" b="1" dirty="0" smtClean="0"/>
              <a:t>軸を移動する。</a:t>
            </a:r>
            <a:endParaRPr lang="ja-JP" altLang="en-US" sz="2263" b="1" dirty="0"/>
          </a:p>
        </p:txBody>
      </p:sp>
      <p:pic>
        <p:nvPicPr>
          <p:cNvPr id="4" name="図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2040" y="2204864"/>
            <a:ext cx="3935338" cy="3112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34740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Box 5"/>
          <p:cNvSpPr txBox="1">
            <a:spLocks noChangeArrowheads="1"/>
          </p:cNvSpPr>
          <p:nvPr/>
        </p:nvSpPr>
        <p:spPr bwMode="auto">
          <a:xfrm>
            <a:off x="179512" y="237347"/>
            <a:ext cx="8352928" cy="4405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altLang="ja-JP" sz="2263" b="1" dirty="0" smtClean="0"/>
              <a:t>[</a:t>
            </a:r>
            <a:r>
              <a:rPr lang="ja-JP" altLang="en-US" sz="2263" b="1" dirty="0" smtClean="0"/>
              <a:t>矩形</a:t>
            </a:r>
            <a:r>
              <a:rPr lang="ja-JP" altLang="en-US" sz="2263" b="1" dirty="0"/>
              <a:t>同士</a:t>
            </a:r>
            <a:r>
              <a:rPr lang="ja-JP" altLang="en-US" sz="2263" b="1" dirty="0" smtClean="0"/>
              <a:t>の当たり判定　～復習～</a:t>
            </a:r>
            <a:r>
              <a:rPr lang="en-US" altLang="ja-JP" sz="2263" b="1" dirty="0" smtClean="0"/>
              <a:t>]</a:t>
            </a:r>
            <a:endParaRPr lang="en-US" altLang="ja-JP" sz="2263" b="1" dirty="0"/>
          </a:p>
        </p:txBody>
      </p:sp>
      <p:sp>
        <p:nvSpPr>
          <p:cNvPr id="12" name="Text Box 5"/>
          <p:cNvSpPr txBox="1">
            <a:spLocks noChangeArrowheads="1"/>
          </p:cNvSpPr>
          <p:nvPr/>
        </p:nvSpPr>
        <p:spPr bwMode="auto">
          <a:xfrm>
            <a:off x="711892" y="719857"/>
            <a:ext cx="8460432" cy="2181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altLang="ja-JP" sz="2263" b="1" dirty="0" smtClean="0"/>
              <a:t>2D</a:t>
            </a:r>
            <a:r>
              <a:rPr lang="ja-JP" altLang="en-US" sz="2263" b="1" dirty="0" smtClean="0"/>
              <a:t>ゲームでの矩形</a:t>
            </a:r>
            <a:r>
              <a:rPr lang="en-US" altLang="ja-JP" sz="2263" b="1" dirty="0" smtClean="0"/>
              <a:t>A</a:t>
            </a:r>
            <a:r>
              <a:rPr lang="ja-JP" altLang="en-US" sz="2263" b="1" dirty="0" smtClean="0"/>
              <a:t>と矩形</a:t>
            </a:r>
            <a:r>
              <a:rPr lang="en-US" altLang="ja-JP" sz="2263" b="1" dirty="0" smtClean="0"/>
              <a:t>B</a:t>
            </a:r>
            <a:r>
              <a:rPr lang="ja-JP" altLang="en-US" sz="2263" b="1" dirty="0" err="1" smtClean="0"/>
              <a:t>は・・</a:t>
            </a:r>
            <a:r>
              <a:rPr lang="ja-JP" altLang="en-US" sz="2263" b="1" dirty="0" smtClean="0"/>
              <a:t>・</a:t>
            </a:r>
            <a:r>
              <a:rPr lang="en-US" altLang="ja-JP" sz="2263" b="1" dirty="0"/>
              <a:t/>
            </a:r>
            <a:br>
              <a:rPr lang="en-US" altLang="ja-JP" sz="2263" b="1" dirty="0"/>
            </a:br>
            <a:r>
              <a:rPr lang="ja-JP" altLang="en-US" sz="2263" b="1" dirty="0"/>
              <a:t>　</a:t>
            </a:r>
            <a:r>
              <a:rPr lang="ja-JP" altLang="en-US" sz="2263" b="1" dirty="0" smtClean="0"/>
              <a:t>①</a:t>
            </a:r>
            <a:r>
              <a:rPr lang="ja-JP" altLang="en-US" sz="2263" b="1" dirty="0" smtClean="0">
                <a:solidFill>
                  <a:srgbClr val="00B050"/>
                </a:solidFill>
              </a:rPr>
              <a:t>矩形</a:t>
            </a:r>
            <a:r>
              <a:rPr lang="en-US" altLang="ja-JP" sz="2263" b="1" dirty="0" smtClean="0">
                <a:solidFill>
                  <a:srgbClr val="00B050"/>
                </a:solidFill>
              </a:rPr>
              <a:t>A</a:t>
            </a:r>
            <a:r>
              <a:rPr lang="ja-JP" altLang="en-US" sz="2263" b="1" dirty="0" smtClean="0">
                <a:solidFill>
                  <a:srgbClr val="00B050"/>
                </a:solidFill>
              </a:rPr>
              <a:t>の左端</a:t>
            </a:r>
            <a:r>
              <a:rPr lang="ja-JP" altLang="en-US" sz="2263" b="1" dirty="0" smtClean="0"/>
              <a:t>が</a:t>
            </a:r>
            <a:r>
              <a:rPr lang="ja-JP" altLang="en-US" sz="2263" b="1" dirty="0" smtClean="0">
                <a:solidFill>
                  <a:srgbClr val="0070C0"/>
                </a:solidFill>
              </a:rPr>
              <a:t>矩形</a:t>
            </a:r>
            <a:r>
              <a:rPr lang="en-US" altLang="ja-JP" sz="2263" b="1" dirty="0" smtClean="0">
                <a:solidFill>
                  <a:srgbClr val="0070C0"/>
                </a:solidFill>
              </a:rPr>
              <a:t>B</a:t>
            </a:r>
            <a:r>
              <a:rPr lang="ja-JP" altLang="en-US" sz="2263" b="1" dirty="0" smtClean="0">
                <a:solidFill>
                  <a:srgbClr val="0070C0"/>
                </a:solidFill>
              </a:rPr>
              <a:t>の右端</a:t>
            </a:r>
            <a:r>
              <a:rPr lang="ja-JP" altLang="en-US" sz="2263" b="1" dirty="0" smtClean="0"/>
              <a:t>よりも</a:t>
            </a:r>
            <a:r>
              <a:rPr lang="ja-JP" altLang="en-US" sz="2263" b="1" dirty="0" smtClean="0">
                <a:solidFill>
                  <a:srgbClr val="FF0000"/>
                </a:solidFill>
              </a:rPr>
              <a:t>左側</a:t>
            </a:r>
            <a:r>
              <a:rPr lang="ja-JP" altLang="en-US" sz="2263" b="1" dirty="0" smtClean="0"/>
              <a:t>にある。</a:t>
            </a:r>
            <a:r>
              <a:rPr lang="en-US" altLang="ja-JP" sz="2263" b="1" dirty="0"/>
              <a:t/>
            </a:r>
            <a:br>
              <a:rPr lang="en-US" altLang="ja-JP" sz="2263" b="1" dirty="0"/>
            </a:br>
            <a:r>
              <a:rPr lang="ja-JP" altLang="en-US" sz="2263" b="1" dirty="0"/>
              <a:t>　</a:t>
            </a:r>
            <a:r>
              <a:rPr lang="ja-JP" altLang="en-US" sz="2263" b="1" dirty="0" smtClean="0"/>
              <a:t>②</a:t>
            </a:r>
            <a:r>
              <a:rPr lang="ja-JP" altLang="en-US" sz="2263" b="1" dirty="0">
                <a:solidFill>
                  <a:srgbClr val="00B050"/>
                </a:solidFill>
              </a:rPr>
              <a:t>矩形</a:t>
            </a:r>
            <a:r>
              <a:rPr lang="en-US" altLang="ja-JP" sz="2263" b="1" dirty="0">
                <a:solidFill>
                  <a:srgbClr val="00B050"/>
                </a:solidFill>
              </a:rPr>
              <a:t>A</a:t>
            </a:r>
            <a:r>
              <a:rPr lang="ja-JP" altLang="en-US" sz="2263" b="1" dirty="0" smtClean="0">
                <a:solidFill>
                  <a:srgbClr val="00B050"/>
                </a:solidFill>
              </a:rPr>
              <a:t>の右端</a:t>
            </a:r>
            <a:r>
              <a:rPr lang="ja-JP" altLang="en-US" sz="2263" b="1" dirty="0"/>
              <a:t>が</a:t>
            </a:r>
            <a:r>
              <a:rPr lang="ja-JP" altLang="en-US" sz="2263" b="1" dirty="0">
                <a:solidFill>
                  <a:srgbClr val="0070C0"/>
                </a:solidFill>
              </a:rPr>
              <a:t>矩形</a:t>
            </a:r>
            <a:r>
              <a:rPr lang="en-US" altLang="ja-JP" sz="2263" b="1" dirty="0">
                <a:solidFill>
                  <a:srgbClr val="0070C0"/>
                </a:solidFill>
              </a:rPr>
              <a:t>B</a:t>
            </a:r>
            <a:r>
              <a:rPr lang="ja-JP" altLang="en-US" sz="2263" b="1" dirty="0" smtClean="0">
                <a:solidFill>
                  <a:srgbClr val="0070C0"/>
                </a:solidFill>
              </a:rPr>
              <a:t>の左端</a:t>
            </a:r>
            <a:r>
              <a:rPr lang="ja-JP" altLang="en-US" sz="2263" b="1" dirty="0"/>
              <a:t>より</a:t>
            </a:r>
            <a:r>
              <a:rPr lang="ja-JP" altLang="en-US" sz="2263" b="1" dirty="0" smtClean="0"/>
              <a:t>も</a:t>
            </a:r>
            <a:r>
              <a:rPr lang="ja-JP" altLang="en-US" sz="2263" b="1" dirty="0" smtClean="0">
                <a:solidFill>
                  <a:srgbClr val="FF0000"/>
                </a:solidFill>
              </a:rPr>
              <a:t>右側</a:t>
            </a:r>
            <a:r>
              <a:rPr lang="ja-JP" altLang="en-US" sz="2263" b="1" dirty="0"/>
              <a:t>にある。</a:t>
            </a:r>
            <a:r>
              <a:rPr lang="en-US" altLang="ja-JP" sz="2263" b="1" dirty="0"/>
              <a:t/>
            </a:r>
            <a:br>
              <a:rPr lang="en-US" altLang="ja-JP" sz="2263" b="1" dirty="0"/>
            </a:br>
            <a:r>
              <a:rPr lang="ja-JP" altLang="en-US" sz="2263" b="1" dirty="0"/>
              <a:t>　</a:t>
            </a:r>
            <a:r>
              <a:rPr lang="ja-JP" altLang="en-US" sz="2263" b="1" dirty="0" smtClean="0"/>
              <a:t>③</a:t>
            </a:r>
            <a:r>
              <a:rPr lang="ja-JP" altLang="en-US" sz="2263" b="1" dirty="0">
                <a:solidFill>
                  <a:srgbClr val="00B050"/>
                </a:solidFill>
              </a:rPr>
              <a:t>矩形</a:t>
            </a:r>
            <a:r>
              <a:rPr lang="en-US" altLang="ja-JP" sz="2263" b="1" dirty="0">
                <a:solidFill>
                  <a:srgbClr val="00B050"/>
                </a:solidFill>
              </a:rPr>
              <a:t>A</a:t>
            </a:r>
            <a:r>
              <a:rPr lang="ja-JP" altLang="en-US" sz="2263" b="1" dirty="0" smtClean="0">
                <a:solidFill>
                  <a:srgbClr val="00B050"/>
                </a:solidFill>
              </a:rPr>
              <a:t>の上端</a:t>
            </a:r>
            <a:r>
              <a:rPr lang="ja-JP" altLang="en-US" sz="2263" b="1" dirty="0"/>
              <a:t>が</a:t>
            </a:r>
            <a:r>
              <a:rPr lang="ja-JP" altLang="en-US" sz="2263" b="1" dirty="0">
                <a:solidFill>
                  <a:srgbClr val="0070C0"/>
                </a:solidFill>
              </a:rPr>
              <a:t>矩形</a:t>
            </a:r>
            <a:r>
              <a:rPr lang="en-US" altLang="ja-JP" sz="2263" b="1" dirty="0">
                <a:solidFill>
                  <a:srgbClr val="0070C0"/>
                </a:solidFill>
              </a:rPr>
              <a:t>B</a:t>
            </a:r>
            <a:r>
              <a:rPr lang="ja-JP" altLang="en-US" sz="2263" b="1" dirty="0" smtClean="0">
                <a:solidFill>
                  <a:srgbClr val="0070C0"/>
                </a:solidFill>
              </a:rPr>
              <a:t>の下端</a:t>
            </a:r>
            <a:r>
              <a:rPr lang="ja-JP" altLang="en-US" sz="2263" b="1" dirty="0"/>
              <a:t>より</a:t>
            </a:r>
            <a:r>
              <a:rPr lang="ja-JP" altLang="en-US" sz="2263" b="1" dirty="0" smtClean="0"/>
              <a:t>も</a:t>
            </a:r>
            <a:r>
              <a:rPr lang="ja-JP" altLang="en-US" sz="2263" b="1" dirty="0" smtClean="0">
                <a:solidFill>
                  <a:srgbClr val="FF0000"/>
                </a:solidFill>
              </a:rPr>
              <a:t>上側</a:t>
            </a:r>
            <a:r>
              <a:rPr lang="ja-JP" altLang="en-US" sz="2263" b="1" dirty="0"/>
              <a:t>にある。</a:t>
            </a:r>
            <a:r>
              <a:rPr lang="en-US" altLang="ja-JP" sz="2263" b="1" dirty="0"/>
              <a:t/>
            </a:r>
            <a:br>
              <a:rPr lang="en-US" altLang="ja-JP" sz="2263" b="1" dirty="0"/>
            </a:br>
            <a:r>
              <a:rPr lang="ja-JP" altLang="en-US" sz="2263" b="1" dirty="0"/>
              <a:t>　</a:t>
            </a:r>
            <a:r>
              <a:rPr lang="ja-JP" altLang="en-US" sz="2263" b="1" dirty="0" smtClean="0"/>
              <a:t>④</a:t>
            </a:r>
            <a:r>
              <a:rPr lang="ja-JP" altLang="en-US" sz="2263" b="1" dirty="0">
                <a:solidFill>
                  <a:srgbClr val="00B050"/>
                </a:solidFill>
              </a:rPr>
              <a:t>矩形</a:t>
            </a:r>
            <a:r>
              <a:rPr lang="en-US" altLang="ja-JP" sz="2263" b="1" dirty="0">
                <a:solidFill>
                  <a:srgbClr val="00B050"/>
                </a:solidFill>
              </a:rPr>
              <a:t>A</a:t>
            </a:r>
            <a:r>
              <a:rPr lang="ja-JP" altLang="en-US" sz="2263" b="1" dirty="0" smtClean="0">
                <a:solidFill>
                  <a:srgbClr val="00B050"/>
                </a:solidFill>
              </a:rPr>
              <a:t>の下端</a:t>
            </a:r>
            <a:r>
              <a:rPr lang="ja-JP" altLang="en-US" sz="2263" b="1" dirty="0"/>
              <a:t>が</a:t>
            </a:r>
            <a:r>
              <a:rPr lang="ja-JP" altLang="en-US" sz="2263" b="1" dirty="0">
                <a:solidFill>
                  <a:srgbClr val="0070C0"/>
                </a:solidFill>
              </a:rPr>
              <a:t>矩形</a:t>
            </a:r>
            <a:r>
              <a:rPr lang="en-US" altLang="ja-JP" sz="2263" b="1" dirty="0">
                <a:solidFill>
                  <a:srgbClr val="0070C0"/>
                </a:solidFill>
              </a:rPr>
              <a:t>B</a:t>
            </a:r>
            <a:r>
              <a:rPr lang="ja-JP" altLang="en-US" sz="2263" b="1" dirty="0" smtClean="0">
                <a:solidFill>
                  <a:srgbClr val="0070C0"/>
                </a:solidFill>
              </a:rPr>
              <a:t>の上端</a:t>
            </a:r>
            <a:r>
              <a:rPr lang="ja-JP" altLang="en-US" sz="2263" b="1" dirty="0"/>
              <a:t>より</a:t>
            </a:r>
            <a:r>
              <a:rPr lang="ja-JP" altLang="en-US" sz="2263" b="1" dirty="0" smtClean="0"/>
              <a:t>も</a:t>
            </a:r>
            <a:r>
              <a:rPr lang="ja-JP" altLang="en-US" sz="2263" b="1" dirty="0" smtClean="0">
                <a:solidFill>
                  <a:srgbClr val="FF0000"/>
                </a:solidFill>
              </a:rPr>
              <a:t>下側</a:t>
            </a:r>
            <a:r>
              <a:rPr lang="ja-JP" altLang="en-US" sz="2263" b="1" dirty="0"/>
              <a:t>にある。</a:t>
            </a:r>
            <a:r>
              <a:rPr lang="en-US" altLang="ja-JP" sz="2263" b="1" dirty="0"/>
              <a:t/>
            </a:r>
            <a:br>
              <a:rPr lang="en-US" altLang="ja-JP" sz="2263" b="1" dirty="0"/>
            </a:br>
            <a:r>
              <a:rPr lang="ja-JP" altLang="en-US" sz="2263" b="1" dirty="0"/>
              <a:t>の全てを満たして</a:t>
            </a:r>
            <a:r>
              <a:rPr lang="ja-JP" altLang="en-US" sz="2263" b="1" dirty="0" smtClean="0"/>
              <a:t>いれば当たっているという判定を利用した。</a:t>
            </a:r>
            <a:endParaRPr lang="en-US" altLang="ja-JP" sz="2263" b="1" dirty="0"/>
          </a:p>
        </p:txBody>
      </p:sp>
      <p:pic>
        <p:nvPicPr>
          <p:cNvPr id="5" name="図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5656" y="3861048"/>
            <a:ext cx="1025746" cy="1882103"/>
          </a:xfrm>
          <a:prstGeom prst="rect">
            <a:avLst/>
          </a:prstGeom>
          <a:ln w="38100">
            <a:solidFill>
              <a:srgbClr val="0000FF"/>
            </a:solidFill>
          </a:ln>
        </p:spPr>
      </p:pic>
      <p:pic>
        <p:nvPicPr>
          <p:cNvPr id="6" name="図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9752" y="4400002"/>
            <a:ext cx="971574" cy="1877438"/>
          </a:xfrm>
          <a:prstGeom prst="rect">
            <a:avLst/>
          </a:prstGeom>
          <a:ln w="57150">
            <a:solidFill>
              <a:srgbClr val="FF0000"/>
            </a:solidFill>
          </a:ln>
        </p:spPr>
      </p:pic>
      <p:sp>
        <p:nvSpPr>
          <p:cNvPr id="18" name="Text Box 5"/>
          <p:cNvSpPr txBox="1">
            <a:spLocks noChangeArrowheads="1"/>
          </p:cNvSpPr>
          <p:nvPr/>
        </p:nvSpPr>
        <p:spPr bwMode="auto">
          <a:xfrm>
            <a:off x="1244894" y="3315428"/>
            <a:ext cx="1094858" cy="440570"/>
          </a:xfrm>
          <a:prstGeom prst="rect">
            <a:avLst/>
          </a:prstGeom>
          <a:noFill/>
          <a:ln w="9525">
            <a:solidFill>
              <a:srgbClr val="00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ja-JP" altLang="en-US" sz="2263" b="1" dirty="0" smtClean="0">
                <a:solidFill>
                  <a:srgbClr val="0000FF"/>
                </a:solidFill>
              </a:rPr>
              <a:t>矩形</a:t>
            </a:r>
            <a:r>
              <a:rPr lang="en-US" altLang="ja-JP" sz="2263" b="1" dirty="0" smtClean="0">
                <a:solidFill>
                  <a:srgbClr val="0000FF"/>
                </a:solidFill>
              </a:rPr>
              <a:t>A</a:t>
            </a:r>
            <a:endParaRPr lang="en-US" altLang="ja-JP" sz="2263" b="1" dirty="0">
              <a:solidFill>
                <a:srgbClr val="0000FF"/>
              </a:solidFill>
            </a:endParaRPr>
          </a:p>
        </p:txBody>
      </p:sp>
      <p:sp>
        <p:nvSpPr>
          <p:cNvPr id="19" name="Text Box 5"/>
          <p:cNvSpPr txBox="1">
            <a:spLocks noChangeArrowheads="1"/>
          </p:cNvSpPr>
          <p:nvPr/>
        </p:nvSpPr>
        <p:spPr bwMode="auto">
          <a:xfrm>
            <a:off x="2665236" y="3842469"/>
            <a:ext cx="1094858" cy="44057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ja-JP" altLang="en-US" sz="2263" b="1" dirty="0" smtClean="0">
                <a:solidFill>
                  <a:srgbClr val="FF0000"/>
                </a:solidFill>
              </a:rPr>
              <a:t>矩形</a:t>
            </a:r>
            <a:r>
              <a:rPr lang="en-US" altLang="ja-JP" sz="2263" b="1" dirty="0" smtClean="0">
                <a:solidFill>
                  <a:srgbClr val="FF0000"/>
                </a:solidFill>
              </a:rPr>
              <a:t>B</a:t>
            </a:r>
            <a:endParaRPr lang="en-US" altLang="ja-JP" sz="2263" b="1" dirty="0">
              <a:solidFill>
                <a:srgbClr val="FF0000"/>
              </a:solidFill>
            </a:endParaRPr>
          </a:p>
        </p:txBody>
      </p:sp>
      <p:sp>
        <p:nvSpPr>
          <p:cNvPr id="20" name="Text Box 5"/>
          <p:cNvSpPr txBox="1">
            <a:spLocks noChangeArrowheads="1"/>
          </p:cNvSpPr>
          <p:nvPr/>
        </p:nvSpPr>
        <p:spPr bwMode="auto">
          <a:xfrm>
            <a:off x="4499992" y="3499200"/>
            <a:ext cx="4464496" cy="32264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altLang="ja-JP" sz="2263" b="1" dirty="0" smtClean="0"/>
              <a:t>2D</a:t>
            </a:r>
            <a:r>
              <a:rPr lang="ja-JP" altLang="en-US" sz="2263" b="1" dirty="0" smtClean="0"/>
              <a:t>ゲームと</a:t>
            </a:r>
            <a:r>
              <a:rPr lang="en-US" altLang="ja-JP" sz="2263" b="1" dirty="0" smtClean="0"/>
              <a:t>3D</a:t>
            </a:r>
            <a:r>
              <a:rPr lang="ja-JP" altLang="en-US" sz="2263" b="1" dirty="0" smtClean="0"/>
              <a:t>ゲームの一番の</a:t>
            </a:r>
            <a:r>
              <a:rPr lang="en-US" altLang="ja-JP" sz="2263" b="1" dirty="0" smtClean="0"/>
              <a:t/>
            </a:r>
            <a:br>
              <a:rPr lang="en-US" altLang="ja-JP" sz="2263" b="1" dirty="0" smtClean="0"/>
            </a:br>
            <a:r>
              <a:rPr lang="ja-JP" altLang="en-US" sz="2263" b="1" dirty="0" smtClean="0"/>
              <a:t>違いは、「</a:t>
            </a:r>
            <a:r>
              <a:rPr lang="en-US" altLang="ja-JP" sz="2263" b="1" dirty="0" smtClean="0">
                <a:solidFill>
                  <a:srgbClr val="FF0000"/>
                </a:solidFill>
              </a:rPr>
              <a:t>Z</a:t>
            </a:r>
            <a:r>
              <a:rPr lang="ja-JP" altLang="en-US" sz="2263" b="1" dirty="0" smtClean="0">
                <a:solidFill>
                  <a:srgbClr val="FF0000"/>
                </a:solidFill>
              </a:rPr>
              <a:t>軸の有無</a:t>
            </a:r>
            <a:r>
              <a:rPr lang="ja-JP" altLang="en-US" sz="2263" b="1" dirty="0" smtClean="0"/>
              <a:t>」である。</a:t>
            </a:r>
            <a:r>
              <a:rPr lang="en-US" altLang="ja-JP" sz="2263" b="1" dirty="0" smtClean="0"/>
              <a:t/>
            </a:r>
            <a:br>
              <a:rPr lang="en-US" altLang="ja-JP" sz="2263" b="1" dirty="0" smtClean="0"/>
            </a:br>
            <a:r>
              <a:rPr lang="ja-JP" altLang="en-US" sz="2263" b="1" dirty="0" smtClean="0"/>
              <a:t>つまり、</a:t>
            </a:r>
            <a:r>
              <a:rPr lang="en-US" altLang="ja-JP" sz="2263" b="1" dirty="0" smtClean="0"/>
              <a:t>3D</a:t>
            </a:r>
            <a:r>
              <a:rPr lang="ja-JP" altLang="en-US" sz="2263" b="1" dirty="0" smtClean="0"/>
              <a:t>ゲームでの立方体同士の当たり判定を行う際は、</a:t>
            </a:r>
            <a:r>
              <a:rPr lang="en-US" altLang="ja-JP" sz="2263" b="1" dirty="0" smtClean="0"/>
              <a:t/>
            </a:r>
            <a:br>
              <a:rPr lang="en-US" altLang="ja-JP" sz="2263" b="1" dirty="0" smtClean="0"/>
            </a:br>
            <a:r>
              <a:rPr lang="en-US" altLang="ja-JP" sz="2263" b="1" dirty="0" smtClean="0"/>
              <a:t/>
            </a:r>
            <a:br>
              <a:rPr lang="en-US" altLang="ja-JP" sz="2263" b="1" dirty="0" smtClean="0"/>
            </a:br>
            <a:r>
              <a:rPr lang="en-US" altLang="ja-JP" sz="2263" b="1" dirty="0" smtClean="0"/>
              <a:t/>
            </a:r>
            <a:br>
              <a:rPr lang="en-US" altLang="ja-JP" sz="2263" b="1" dirty="0" smtClean="0"/>
            </a:br>
            <a:r>
              <a:rPr lang="en-US" altLang="ja-JP" sz="2263" b="1" dirty="0" smtClean="0"/>
              <a:t/>
            </a:r>
            <a:br>
              <a:rPr lang="en-US" altLang="ja-JP" sz="2263" b="1" dirty="0" smtClean="0"/>
            </a:br>
            <a:r>
              <a:rPr lang="en-US" altLang="ja-JP" sz="2263" b="1" dirty="0" smtClean="0"/>
              <a:t/>
            </a:r>
            <a:br>
              <a:rPr lang="en-US" altLang="ja-JP" sz="2263" b="1" dirty="0" smtClean="0"/>
            </a:br>
            <a:r>
              <a:rPr lang="ja-JP" altLang="en-US" sz="2263" b="1" dirty="0" smtClean="0"/>
              <a:t>となればよい。</a:t>
            </a:r>
            <a:endParaRPr lang="en-US" altLang="ja-JP" sz="2263" b="1" dirty="0"/>
          </a:p>
        </p:txBody>
      </p:sp>
      <p:sp>
        <p:nvSpPr>
          <p:cNvPr id="21" name="Text Box 5"/>
          <p:cNvSpPr txBox="1">
            <a:spLocks noChangeArrowheads="1"/>
          </p:cNvSpPr>
          <p:nvPr/>
        </p:nvSpPr>
        <p:spPr bwMode="auto">
          <a:xfrm>
            <a:off x="4492268" y="4908219"/>
            <a:ext cx="4464496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ja-JP" altLang="en-US" sz="2800" b="1" dirty="0" smtClean="0">
                <a:solidFill>
                  <a:srgbClr val="FF0000"/>
                </a:solidFill>
              </a:rPr>
              <a:t>矩形同士の当たり判定</a:t>
            </a:r>
            <a:r>
              <a:rPr lang="en-US" altLang="ja-JP" sz="2800" b="1" dirty="0" smtClean="0">
                <a:solidFill>
                  <a:srgbClr val="FF0000"/>
                </a:solidFill>
              </a:rPr>
              <a:t/>
            </a:r>
            <a:br>
              <a:rPr lang="en-US" altLang="ja-JP" sz="2800" b="1" dirty="0" smtClean="0">
                <a:solidFill>
                  <a:srgbClr val="FF0000"/>
                </a:solidFill>
              </a:rPr>
            </a:br>
            <a:r>
              <a:rPr lang="ja-JP" altLang="en-US" sz="2800" b="1" dirty="0" smtClean="0">
                <a:solidFill>
                  <a:srgbClr val="FF0000"/>
                </a:solidFill>
              </a:rPr>
              <a:t>＋</a:t>
            </a:r>
            <a:r>
              <a:rPr lang="en-US" altLang="ja-JP" sz="2800" b="1" dirty="0" smtClean="0">
                <a:solidFill>
                  <a:srgbClr val="FF0000"/>
                </a:solidFill>
              </a:rPr>
              <a:t/>
            </a:r>
            <a:br>
              <a:rPr lang="en-US" altLang="ja-JP" sz="2800" b="1" dirty="0" smtClean="0">
                <a:solidFill>
                  <a:srgbClr val="FF0000"/>
                </a:solidFill>
              </a:rPr>
            </a:br>
            <a:r>
              <a:rPr lang="en-US" altLang="ja-JP" sz="2800" b="1" dirty="0" smtClean="0">
                <a:solidFill>
                  <a:srgbClr val="FF0000"/>
                </a:solidFill>
              </a:rPr>
              <a:t>Z</a:t>
            </a:r>
            <a:r>
              <a:rPr lang="ja-JP" altLang="en-US" sz="2800" b="1" dirty="0" smtClean="0">
                <a:solidFill>
                  <a:srgbClr val="FF0000"/>
                </a:solidFill>
              </a:rPr>
              <a:t>軸の当たり判定</a:t>
            </a:r>
            <a:endParaRPr lang="en-US" altLang="ja-JP" sz="28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961507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5"/>
          <p:cNvSpPr txBox="1">
            <a:spLocks noChangeArrowheads="1"/>
          </p:cNvSpPr>
          <p:nvPr/>
        </p:nvSpPr>
        <p:spPr bwMode="auto">
          <a:xfrm>
            <a:off x="907346" y="518198"/>
            <a:ext cx="7089358" cy="4405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ja-JP" altLang="en-US" sz="2263" b="1" dirty="0" smtClean="0"/>
              <a:t>いきなりで難しい人は、次のように考えて実行すればよい。</a:t>
            </a:r>
            <a:endParaRPr lang="en-US" altLang="ja-JP" sz="2263" b="1" dirty="0"/>
          </a:p>
        </p:txBody>
      </p:sp>
      <p:pic>
        <p:nvPicPr>
          <p:cNvPr id="19" name="図 1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5696" y="5140049"/>
            <a:ext cx="727835" cy="1335477"/>
          </a:xfrm>
          <a:prstGeom prst="rect">
            <a:avLst/>
          </a:prstGeom>
          <a:ln w="38100">
            <a:solidFill>
              <a:srgbClr val="0000FF"/>
            </a:solidFill>
          </a:ln>
        </p:spPr>
      </p:pic>
      <p:pic>
        <p:nvPicPr>
          <p:cNvPr id="20" name="図 1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9470" y="5470960"/>
            <a:ext cx="648072" cy="1252313"/>
          </a:xfrm>
          <a:prstGeom prst="rect">
            <a:avLst/>
          </a:prstGeom>
          <a:ln w="57150">
            <a:solidFill>
              <a:srgbClr val="FF0000"/>
            </a:solidFill>
          </a:ln>
        </p:spPr>
      </p:pic>
      <p:sp>
        <p:nvSpPr>
          <p:cNvPr id="21" name="Text Box 5"/>
          <p:cNvSpPr txBox="1">
            <a:spLocks noChangeArrowheads="1"/>
          </p:cNvSpPr>
          <p:nvPr/>
        </p:nvSpPr>
        <p:spPr bwMode="auto">
          <a:xfrm>
            <a:off x="1468673" y="4605425"/>
            <a:ext cx="1094858" cy="440570"/>
          </a:xfrm>
          <a:prstGeom prst="rect">
            <a:avLst/>
          </a:prstGeom>
          <a:noFill/>
          <a:ln w="9525">
            <a:solidFill>
              <a:srgbClr val="00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ja-JP" altLang="en-US" sz="2263" b="1" dirty="0" smtClean="0">
                <a:solidFill>
                  <a:srgbClr val="0000FF"/>
                </a:solidFill>
              </a:rPr>
              <a:t>矩形</a:t>
            </a:r>
            <a:r>
              <a:rPr lang="en-US" altLang="ja-JP" sz="2263" b="1" dirty="0" smtClean="0">
                <a:solidFill>
                  <a:srgbClr val="0000FF"/>
                </a:solidFill>
              </a:rPr>
              <a:t>A</a:t>
            </a:r>
            <a:endParaRPr lang="en-US" altLang="ja-JP" sz="2263" b="1" dirty="0">
              <a:solidFill>
                <a:srgbClr val="0000FF"/>
              </a:solidFill>
            </a:endParaRPr>
          </a:p>
        </p:txBody>
      </p:sp>
      <p:sp>
        <p:nvSpPr>
          <p:cNvPr id="22" name="Text Box 5"/>
          <p:cNvSpPr txBox="1">
            <a:spLocks noChangeArrowheads="1"/>
          </p:cNvSpPr>
          <p:nvPr/>
        </p:nvSpPr>
        <p:spPr bwMode="auto">
          <a:xfrm>
            <a:off x="2690690" y="4901125"/>
            <a:ext cx="1094858" cy="44057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ja-JP" altLang="en-US" sz="2263" b="1" dirty="0" smtClean="0">
                <a:solidFill>
                  <a:srgbClr val="FF0000"/>
                </a:solidFill>
              </a:rPr>
              <a:t>矩形</a:t>
            </a:r>
            <a:r>
              <a:rPr lang="en-US" altLang="ja-JP" sz="2263" b="1" dirty="0" smtClean="0">
                <a:solidFill>
                  <a:srgbClr val="FF0000"/>
                </a:solidFill>
              </a:rPr>
              <a:t>B</a:t>
            </a:r>
            <a:endParaRPr lang="en-US" altLang="ja-JP" sz="2263" b="1" dirty="0">
              <a:solidFill>
                <a:srgbClr val="FF0000"/>
              </a:solidFill>
            </a:endParaRPr>
          </a:p>
        </p:txBody>
      </p:sp>
      <p:sp>
        <p:nvSpPr>
          <p:cNvPr id="23" name="Text Box 5"/>
          <p:cNvSpPr txBox="1">
            <a:spLocks noChangeArrowheads="1"/>
          </p:cNvSpPr>
          <p:nvPr/>
        </p:nvSpPr>
        <p:spPr bwMode="auto">
          <a:xfrm>
            <a:off x="755577" y="1005795"/>
            <a:ext cx="7776864" cy="252998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altLang="ja-JP" sz="2263" b="1" dirty="0" smtClean="0"/>
              <a:t>if(</a:t>
            </a:r>
            <a:r>
              <a:rPr lang="ja-JP" altLang="en-US" sz="2263" b="1" dirty="0" smtClean="0"/>
              <a:t>矩形</a:t>
            </a:r>
            <a:r>
              <a:rPr lang="en-US" altLang="ja-JP" sz="2263" b="1" dirty="0" smtClean="0"/>
              <a:t>A</a:t>
            </a:r>
            <a:r>
              <a:rPr lang="ja-JP" altLang="en-US" sz="2263" b="1" dirty="0" smtClean="0"/>
              <a:t>と矩形</a:t>
            </a:r>
            <a:r>
              <a:rPr lang="en-US" altLang="ja-JP" sz="2263" b="1" dirty="0" smtClean="0"/>
              <a:t>B</a:t>
            </a:r>
            <a:r>
              <a:rPr lang="ja-JP" altLang="en-US" sz="2263" b="1" dirty="0" smtClean="0"/>
              <a:t>が当たっている</a:t>
            </a:r>
            <a:r>
              <a:rPr lang="en-US" altLang="ja-JP" sz="2263" b="1" dirty="0" smtClean="0"/>
              <a:t>)</a:t>
            </a:r>
            <a:br>
              <a:rPr lang="en-US" altLang="ja-JP" sz="2263" b="1" dirty="0" smtClean="0"/>
            </a:br>
            <a:r>
              <a:rPr lang="en-US" altLang="ja-JP" sz="2263" b="1" dirty="0" smtClean="0"/>
              <a:t>{</a:t>
            </a:r>
            <a:br>
              <a:rPr lang="en-US" altLang="ja-JP" sz="2263" b="1" dirty="0" smtClean="0"/>
            </a:br>
            <a:r>
              <a:rPr lang="en-US" altLang="ja-JP" sz="2263" b="1" dirty="0" smtClean="0"/>
              <a:t>	if(</a:t>
            </a:r>
            <a:r>
              <a:rPr lang="ja-JP" altLang="en-US" sz="2263" b="1" dirty="0" smtClean="0"/>
              <a:t>オブジェクト</a:t>
            </a:r>
            <a:r>
              <a:rPr lang="en-US" altLang="ja-JP" sz="2263" b="1" dirty="0" smtClean="0"/>
              <a:t>A</a:t>
            </a:r>
            <a:r>
              <a:rPr lang="ja-JP" altLang="en-US" sz="2263" b="1" dirty="0" smtClean="0"/>
              <a:t>とオブジェクト</a:t>
            </a:r>
            <a:r>
              <a:rPr lang="en-US" altLang="ja-JP" sz="2263" b="1" dirty="0" smtClean="0"/>
              <a:t>B</a:t>
            </a:r>
            <a:r>
              <a:rPr lang="ja-JP" altLang="en-US" sz="2263" b="1" dirty="0" smtClean="0"/>
              <a:t>の</a:t>
            </a:r>
            <a:r>
              <a:rPr lang="en-US" altLang="ja-JP" sz="2263" b="1" dirty="0" smtClean="0"/>
              <a:t>Z</a:t>
            </a:r>
            <a:r>
              <a:rPr lang="ja-JP" altLang="en-US" sz="2263" b="1" dirty="0" smtClean="0"/>
              <a:t>軸が当たっている</a:t>
            </a:r>
            <a:r>
              <a:rPr lang="en-US" altLang="ja-JP" sz="2263" b="1" dirty="0" smtClean="0"/>
              <a:t>)</a:t>
            </a:r>
            <a:br>
              <a:rPr lang="en-US" altLang="ja-JP" sz="2263" b="1" dirty="0" smtClean="0"/>
            </a:br>
            <a:r>
              <a:rPr lang="en-US" altLang="ja-JP" sz="2263" b="1" dirty="0" smtClean="0"/>
              <a:t>	{</a:t>
            </a:r>
            <a:br>
              <a:rPr lang="en-US" altLang="ja-JP" sz="2263" b="1" dirty="0" smtClean="0"/>
            </a:br>
            <a:r>
              <a:rPr lang="en-US" altLang="ja-JP" sz="2263" b="1" dirty="0" smtClean="0"/>
              <a:t>		</a:t>
            </a:r>
            <a:r>
              <a:rPr lang="ja-JP" altLang="en-US" sz="2263" b="1" dirty="0" smtClean="0"/>
              <a:t>ここまで来たらヒット！！</a:t>
            </a:r>
            <a:r>
              <a:rPr lang="en-US" altLang="ja-JP" sz="2263" b="1" dirty="0" smtClean="0"/>
              <a:t/>
            </a:r>
            <a:br>
              <a:rPr lang="en-US" altLang="ja-JP" sz="2263" b="1" dirty="0" smtClean="0"/>
            </a:br>
            <a:r>
              <a:rPr lang="en-US" altLang="ja-JP" sz="2263" b="1" dirty="0" smtClean="0"/>
              <a:t>	}</a:t>
            </a:r>
            <a:br>
              <a:rPr lang="en-US" altLang="ja-JP" sz="2263" b="1" dirty="0" smtClean="0"/>
            </a:br>
            <a:r>
              <a:rPr lang="en-US" altLang="ja-JP" sz="2263" b="1" dirty="0" smtClean="0"/>
              <a:t>}</a:t>
            </a:r>
            <a:endParaRPr lang="en-US" altLang="ja-JP" sz="2263" b="1" dirty="0"/>
          </a:p>
        </p:txBody>
      </p:sp>
      <p:pic>
        <p:nvPicPr>
          <p:cNvPr id="2" name="図 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2803" y="5661444"/>
            <a:ext cx="670268" cy="670268"/>
          </a:xfrm>
          <a:prstGeom prst="rect">
            <a:avLst/>
          </a:prstGeom>
          <a:ln w="38100">
            <a:solidFill>
              <a:srgbClr val="FF0000"/>
            </a:solidFill>
          </a:ln>
        </p:spPr>
      </p:pic>
      <p:pic>
        <p:nvPicPr>
          <p:cNvPr id="5" name="図 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8390" y="5267019"/>
            <a:ext cx="727865" cy="727865"/>
          </a:xfrm>
          <a:prstGeom prst="rect">
            <a:avLst/>
          </a:prstGeom>
          <a:ln w="38100">
            <a:solidFill>
              <a:srgbClr val="0000FF"/>
            </a:solidFill>
          </a:ln>
        </p:spPr>
      </p:pic>
      <p:sp>
        <p:nvSpPr>
          <p:cNvPr id="24" name="Text Box 5"/>
          <p:cNvSpPr txBox="1">
            <a:spLocks noChangeArrowheads="1"/>
          </p:cNvSpPr>
          <p:nvPr/>
        </p:nvSpPr>
        <p:spPr bwMode="auto">
          <a:xfrm>
            <a:off x="675036" y="4035590"/>
            <a:ext cx="3776989" cy="4405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ja-JP" altLang="en-US" sz="2263" b="1" dirty="0" smtClean="0"/>
              <a:t>ここは</a:t>
            </a:r>
            <a:r>
              <a:rPr lang="en-US" altLang="ja-JP" sz="2263" b="1" dirty="0" smtClean="0"/>
              <a:t>2D</a:t>
            </a:r>
            <a:r>
              <a:rPr lang="ja-JP" altLang="en-US" sz="2263" b="1" dirty="0" smtClean="0"/>
              <a:t>でやった当たり判定</a:t>
            </a:r>
            <a:endParaRPr lang="en-US" altLang="ja-JP" sz="2263" b="1" dirty="0"/>
          </a:p>
        </p:txBody>
      </p:sp>
      <p:sp>
        <p:nvSpPr>
          <p:cNvPr id="8" name="右矢印 7"/>
          <p:cNvSpPr/>
          <p:nvPr/>
        </p:nvSpPr>
        <p:spPr>
          <a:xfrm>
            <a:off x="4346022" y="5341695"/>
            <a:ext cx="936104" cy="99001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Text Box 5"/>
          <p:cNvSpPr txBox="1">
            <a:spLocks noChangeArrowheads="1"/>
          </p:cNvSpPr>
          <p:nvPr/>
        </p:nvSpPr>
        <p:spPr bwMode="auto">
          <a:xfrm>
            <a:off x="5148064" y="4035590"/>
            <a:ext cx="3995936" cy="7888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altLang="ja-JP" sz="2263" b="1" dirty="0" smtClean="0"/>
              <a:t>Z</a:t>
            </a:r>
            <a:r>
              <a:rPr lang="ja-JP" altLang="en-US" sz="2263" b="1" dirty="0" smtClean="0"/>
              <a:t>軸に関しての当たり判定のみ</a:t>
            </a:r>
            <a:r>
              <a:rPr lang="en-US" altLang="ja-JP" sz="2263" b="1" dirty="0" smtClean="0"/>
              <a:t/>
            </a:r>
            <a:br>
              <a:rPr lang="en-US" altLang="ja-JP" sz="2263" b="1" dirty="0" smtClean="0"/>
            </a:br>
            <a:r>
              <a:rPr lang="ja-JP" altLang="en-US" sz="2263" b="1" dirty="0" smtClean="0"/>
              <a:t>チェックを行う</a:t>
            </a:r>
            <a:endParaRPr lang="en-US" altLang="ja-JP" sz="2263" b="1" dirty="0"/>
          </a:p>
        </p:txBody>
      </p:sp>
      <p:sp>
        <p:nvSpPr>
          <p:cNvPr id="26" name="Text Box 5"/>
          <p:cNvSpPr txBox="1">
            <a:spLocks noChangeArrowheads="1"/>
          </p:cNvSpPr>
          <p:nvPr/>
        </p:nvSpPr>
        <p:spPr bwMode="auto">
          <a:xfrm>
            <a:off x="169558" y="132458"/>
            <a:ext cx="8352928" cy="4405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altLang="ja-JP" sz="2263" b="1" dirty="0" smtClean="0"/>
              <a:t>[</a:t>
            </a:r>
            <a:r>
              <a:rPr lang="ja-JP" altLang="en-US" sz="2263" b="1" dirty="0"/>
              <a:t>直方体</a:t>
            </a:r>
            <a:r>
              <a:rPr lang="ja-JP" altLang="en-US" sz="2263" b="1" dirty="0" smtClean="0"/>
              <a:t>同士の当たり判定</a:t>
            </a:r>
            <a:r>
              <a:rPr lang="en-US" altLang="ja-JP" sz="2263" b="1" dirty="0" smtClean="0"/>
              <a:t>]</a:t>
            </a:r>
            <a:endParaRPr lang="en-US" altLang="ja-JP" sz="2263" b="1" dirty="0"/>
          </a:p>
        </p:txBody>
      </p:sp>
    </p:spTree>
    <p:extLst>
      <p:ext uri="{BB962C8B-B14F-4D97-AF65-F5344CB8AC3E}">
        <p14:creationId xmlns:p14="http://schemas.microsoft.com/office/powerpoint/2010/main" val="36850158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5"/>
          <p:cNvSpPr txBox="1">
            <a:spLocks noChangeArrowheads="1"/>
          </p:cNvSpPr>
          <p:nvPr/>
        </p:nvSpPr>
        <p:spPr bwMode="auto">
          <a:xfrm>
            <a:off x="1032348" y="332656"/>
            <a:ext cx="7089358" cy="4405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ja-JP" altLang="en-US" sz="2263" b="1" dirty="0" smtClean="0"/>
              <a:t>理想の形としては、以下のように作成する。</a:t>
            </a:r>
            <a:endParaRPr lang="en-US" altLang="ja-JP" sz="2263" b="1" dirty="0"/>
          </a:p>
        </p:txBody>
      </p:sp>
      <p:sp>
        <p:nvSpPr>
          <p:cNvPr id="23" name="Text Box 5"/>
          <p:cNvSpPr txBox="1">
            <a:spLocks noChangeArrowheads="1"/>
          </p:cNvSpPr>
          <p:nvPr/>
        </p:nvSpPr>
        <p:spPr bwMode="auto">
          <a:xfrm>
            <a:off x="2041766" y="988304"/>
            <a:ext cx="4608511" cy="218175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altLang="ja-JP" sz="2263" b="1" dirty="0" smtClean="0"/>
              <a:t>if( X</a:t>
            </a:r>
            <a:r>
              <a:rPr lang="ja-JP" altLang="en-US" sz="2263" b="1" dirty="0" smtClean="0"/>
              <a:t>軸に関して当たっている</a:t>
            </a:r>
            <a:r>
              <a:rPr lang="en-US" altLang="ja-JP" sz="2263" b="1" dirty="0" smtClean="0"/>
              <a:t/>
            </a:r>
            <a:br>
              <a:rPr lang="en-US" altLang="ja-JP" sz="2263" b="1" dirty="0" smtClean="0"/>
            </a:br>
            <a:r>
              <a:rPr lang="ja-JP" altLang="en-US" sz="2263" b="1" dirty="0" smtClean="0"/>
              <a:t>　　</a:t>
            </a:r>
            <a:r>
              <a:rPr lang="en-US" altLang="ja-JP" sz="2263" b="1" dirty="0" smtClean="0">
                <a:solidFill>
                  <a:srgbClr val="FF0000"/>
                </a:solidFill>
              </a:rPr>
              <a:t>&amp;&amp;</a:t>
            </a:r>
            <a:r>
              <a:rPr lang="ja-JP" altLang="en-US" sz="2263" b="1" dirty="0" smtClean="0"/>
              <a:t>　</a:t>
            </a:r>
            <a:r>
              <a:rPr lang="en-US" altLang="ja-JP" sz="2263" b="1" dirty="0" smtClean="0"/>
              <a:t>Y</a:t>
            </a:r>
            <a:r>
              <a:rPr lang="ja-JP" altLang="en-US" sz="2263" b="1" dirty="0" smtClean="0"/>
              <a:t>軸に関して当たっている</a:t>
            </a:r>
            <a:r>
              <a:rPr lang="en-US" altLang="ja-JP" sz="2263" b="1" dirty="0" smtClean="0"/>
              <a:t/>
            </a:r>
            <a:br>
              <a:rPr lang="en-US" altLang="ja-JP" sz="2263" b="1" dirty="0" smtClean="0"/>
            </a:br>
            <a:r>
              <a:rPr lang="ja-JP" altLang="en-US" sz="2263" b="1" dirty="0" smtClean="0"/>
              <a:t>　　</a:t>
            </a:r>
            <a:r>
              <a:rPr lang="en-US" altLang="ja-JP" sz="2263" b="1" dirty="0" smtClean="0">
                <a:solidFill>
                  <a:srgbClr val="FF0000"/>
                </a:solidFill>
              </a:rPr>
              <a:t>&amp;&amp;</a:t>
            </a:r>
            <a:r>
              <a:rPr lang="ja-JP" altLang="en-US" sz="2263" b="1" dirty="0" smtClean="0"/>
              <a:t>　</a:t>
            </a:r>
            <a:r>
              <a:rPr lang="en-US" altLang="ja-JP" sz="2263" b="1" dirty="0" smtClean="0"/>
              <a:t>Z</a:t>
            </a:r>
            <a:r>
              <a:rPr lang="ja-JP" altLang="en-US" sz="2263" b="1" dirty="0" smtClean="0"/>
              <a:t>軸に関して当たっている </a:t>
            </a:r>
            <a:r>
              <a:rPr lang="en-US" altLang="ja-JP" sz="2263" b="1" dirty="0" smtClean="0"/>
              <a:t>)</a:t>
            </a:r>
            <a:br>
              <a:rPr lang="en-US" altLang="ja-JP" sz="2263" b="1" dirty="0" smtClean="0"/>
            </a:br>
            <a:r>
              <a:rPr lang="en-US" altLang="ja-JP" sz="2263" b="1" dirty="0" smtClean="0"/>
              <a:t>{</a:t>
            </a:r>
            <a:br>
              <a:rPr lang="en-US" altLang="ja-JP" sz="2263" b="1" dirty="0" smtClean="0"/>
            </a:br>
            <a:r>
              <a:rPr lang="en-US" altLang="ja-JP" sz="2263" b="1" dirty="0" smtClean="0"/>
              <a:t>	</a:t>
            </a:r>
            <a:r>
              <a:rPr lang="ja-JP" altLang="en-US" sz="2263" b="1" dirty="0" smtClean="0"/>
              <a:t>ヒット！！</a:t>
            </a:r>
            <a:r>
              <a:rPr lang="en-US" altLang="ja-JP" sz="2263" b="1" dirty="0" smtClean="0"/>
              <a:t/>
            </a:r>
            <a:br>
              <a:rPr lang="en-US" altLang="ja-JP" sz="2263" b="1" dirty="0" smtClean="0"/>
            </a:br>
            <a:r>
              <a:rPr lang="en-US" altLang="ja-JP" sz="2263" b="1" dirty="0" smtClean="0"/>
              <a:t>}</a:t>
            </a:r>
            <a:endParaRPr lang="en-US" altLang="ja-JP" sz="2263" b="1" dirty="0"/>
          </a:p>
        </p:txBody>
      </p:sp>
      <p:pic>
        <p:nvPicPr>
          <p:cNvPr id="3" name="図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2691" y="4365104"/>
            <a:ext cx="1765752" cy="2121024"/>
          </a:xfrm>
          <a:prstGeom prst="rect">
            <a:avLst/>
          </a:prstGeom>
        </p:spPr>
      </p:pic>
      <p:sp>
        <p:nvSpPr>
          <p:cNvPr id="14" name="角丸四角形吹き出し 10"/>
          <p:cNvSpPr/>
          <p:nvPr/>
        </p:nvSpPr>
        <p:spPr>
          <a:xfrm>
            <a:off x="3275856" y="4365104"/>
            <a:ext cx="4752528" cy="1800200"/>
          </a:xfrm>
          <a:prstGeom prst="wedgeRoundRectCallout">
            <a:avLst>
              <a:gd name="adj1" fmla="val -65573"/>
              <a:gd name="adj2" fmla="val -20257"/>
              <a:gd name="adj3" fmla="val 16667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ja-JP" altLang="en-US" sz="2000" b="1" dirty="0" smtClean="0">
                <a:latin typeface="ＭＳ Ｐゴシック"/>
              </a:rPr>
              <a:t>あとは各軸の端の座標さえ分かれば</a:t>
            </a:r>
            <a:r>
              <a:rPr lang="en-US" altLang="ja-JP" sz="2000" b="1" dirty="0" smtClean="0">
                <a:latin typeface="ＭＳ Ｐゴシック"/>
              </a:rPr>
              <a:t/>
            </a:r>
            <a:br>
              <a:rPr lang="en-US" altLang="ja-JP" sz="2000" b="1" dirty="0" smtClean="0">
                <a:latin typeface="ＭＳ Ｐゴシック"/>
              </a:rPr>
            </a:br>
            <a:r>
              <a:rPr lang="ja-JP" altLang="en-US" sz="2000" b="1" dirty="0" smtClean="0">
                <a:latin typeface="ＭＳ Ｐゴシック"/>
              </a:rPr>
              <a:t>きっと当たり判定は作れるはず！</a:t>
            </a:r>
            <a:r>
              <a:rPr lang="en-US" altLang="ja-JP" sz="2000" b="1" dirty="0" smtClean="0">
                <a:latin typeface="ＭＳ Ｐゴシック"/>
              </a:rPr>
              <a:t/>
            </a:r>
            <a:br>
              <a:rPr lang="en-US" altLang="ja-JP" sz="2000" b="1" dirty="0" smtClean="0">
                <a:latin typeface="ＭＳ Ｐゴシック"/>
              </a:rPr>
            </a:br>
            <a:r>
              <a:rPr lang="ja-JP" altLang="en-US" sz="2000" b="1" dirty="0" smtClean="0">
                <a:latin typeface="ＭＳ Ｐゴシック"/>
              </a:rPr>
              <a:t>端の座標の計算方法を忘れた人は</a:t>
            </a:r>
            <a:r>
              <a:rPr lang="en-US" altLang="ja-JP" sz="2000" b="1" dirty="0" smtClean="0">
                <a:latin typeface="ＭＳ Ｐゴシック"/>
              </a:rPr>
              <a:t/>
            </a:r>
            <a:br>
              <a:rPr lang="en-US" altLang="ja-JP" sz="2000" b="1" dirty="0" smtClean="0">
                <a:latin typeface="ＭＳ Ｐゴシック"/>
              </a:rPr>
            </a:br>
            <a:r>
              <a:rPr lang="ja-JP" altLang="en-US" sz="2000" b="1" dirty="0" smtClean="0">
                <a:latin typeface="ＭＳ Ｐゴシック"/>
              </a:rPr>
              <a:t>以前</a:t>
            </a:r>
            <a:r>
              <a:rPr lang="ja-JP" altLang="en-US" sz="2000" b="1" dirty="0">
                <a:latin typeface="ＭＳ Ｐゴシック"/>
              </a:rPr>
              <a:t>制作</a:t>
            </a:r>
            <a:r>
              <a:rPr lang="ja-JP" altLang="en-US" sz="2000" b="1" dirty="0" smtClean="0">
                <a:latin typeface="ＭＳ Ｐゴシック"/>
              </a:rPr>
              <a:t>したプログラムを</a:t>
            </a:r>
            <a:r>
              <a:rPr lang="en-US" altLang="ja-JP" sz="2000" b="1" dirty="0" smtClean="0">
                <a:latin typeface="ＭＳ Ｐゴシック"/>
              </a:rPr>
              <a:t/>
            </a:r>
            <a:br>
              <a:rPr lang="en-US" altLang="ja-JP" sz="2000" b="1" dirty="0" smtClean="0">
                <a:latin typeface="ＭＳ Ｐゴシック"/>
              </a:rPr>
            </a:br>
            <a:r>
              <a:rPr lang="ja-JP" altLang="en-US" sz="2000" b="1" dirty="0" smtClean="0">
                <a:latin typeface="ＭＳ Ｐゴシック"/>
              </a:rPr>
              <a:t>確認しよう！！</a:t>
            </a:r>
            <a:endParaRPr lang="ja-JP" altLang="en-US" sz="2000" b="1" dirty="0">
              <a:latin typeface="ＭＳ Ｐゴシック"/>
            </a:endParaRPr>
          </a:p>
        </p:txBody>
      </p:sp>
    </p:spTree>
    <p:extLst>
      <p:ext uri="{BB962C8B-B14F-4D97-AF65-F5344CB8AC3E}">
        <p14:creationId xmlns:p14="http://schemas.microsoft.com/office/powerpoint/2010/main" val="27875332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爆発 1 1"/>
          <p:cNvSpPr/>
          <p:nvPr/>
        </p:nvSpPr>
        <p:spPr>
          <a:xfrm>
            <a:off x="2771775" y="115888"/>
            <a:ext cx="3916363" cy="1441450"/>
          </a:xfrm>
          <a:prstGeom prst="irregularSeal1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ja-JP" altLang="en-US" sz="2000" b="1" dirty="0">
                <a:solidFill>
                  <a:srgbClr val="FF0000"/>
                </a:solidFill>
                <a:latin typeface="HGS創英角ﾎﾟｯﾌﾟ体" panose="040B0A00000000000000" pitchFamily="50" charset="-128"/>
                <a:ea typeface="HGS創英角ﾎﾟｯﾌﾟ体" panose="040B0A00000000000000" pitchFamily="50" charset="-128"/>
              </a:rPr>
              <a:t>作ってみよう</a:t>
            </a:r>
            <a:r>
              <a:rPr lang="en-US" altLang="ja-JP" sz="2000" b="1" dirty="0">
                <a:solidFill>
                  <a:srgbClr val="FF0000"/>
                </a:solidFill>
                <a:latin typeface="HGS創英角ﾎﾟｯﾌﾟ体" panose="040B0A00000000000000" pitchFamily="50" charset="-128"/>
                <a:ea typeface="HGS創英角ﾎﾟｯﾌﾟ体" panose="040B0A00000000000000" pitchFamily="50" charset="-128"/>
              </a:rPr>
              <a:t>!!</a:t>
            </a:r>
            <a:endParaRPr lang="ja-JP" altLang="en-US" sz="2000" b="1" dirty="0">
              <a:solidFill>
                <a:srgbClr val="FF0000"/>
              </a:solidFill>
              <a:latin typeface="HGS創英角ﾎﾟｯﾌﾟ体" panose="040B0A00000000000000" pitchFamily="50" charset="-128"/>
              <a:ea typeface="HGS創英角ﾎﾟｯﾌﾟ体" panose="040B0A00000000000000" pitchFamily="50" charset="-128"/>
            </a:endParaRPr>
          </a:p>
        </p:txBody>
      </p:sp>
      <p:sp>
        <p:nvSpPr>
          <p:cNvPr id="15" name="Text Box 5"/>
          <p:cNvSpPr txBox="1">
            <a:spLocks noChangeArrowheads="1"/>
          </p:cNvSpPr>
          <p:nvPr/>
        </p:nvSpPr>
        <p:spPr bwMode="auto">
          <a:xfrm>
            <a:off x="179512" y="2364182"/>
            <a:ext cx="4392487" cy="23559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ja-JP" altLang="en-US" sz="2263" b="1" dirty="0" smtClean="0"/>
              <a:t>右図のように表示されるよう、</a:t>
            </a:r>
            <a:r>
              <a:rPr lang="en-US" altLang="ja-JP" sz="2263" b="1" dirty="0" smtClean="0"/>
              <a:t/>
            </a:r>
            <a:br>
              <a:rPr lang="en-US" altLang="ja-JP" sz="2263" b="1" dirty="0" smtClean="0"/>
            </a:br>
            <a:r>
              <a:rPr lang="ja-JP" altLang="en-US" sz="2263" b="1" dirty="0" smtClean="0"/>
              <a:t>プログラムを作成しなさい。</a:t>
            </a:r>
            <a:endParaRPr lang="en-US" altLang="ja-JP" sz="2263" b="1" dirty="0" smtClean="0"/>
          </a:p>
          <a:p>
            <a:pPr eaLnBrk="1" hangingPunct="1">
              <a:spcBef>
                <a:spcPct val="50000"/>
              </a:spcBef>
              <a:defRPr/>
            </a:pPr>
            <a:r>
              <a:rPr lang="ja-JP" altLang="en-US" sz="2263" b="1" dirty="0" smtClean="0"/>
              <a:t>二つの物体が重なった時だけ</a:t>
            </a:r>
            <a:r>
              <a:rPr lang="en-US" altLang="ja-JP" sz="2263" b="1" dirty="0" smtClean="0"/>
              <a:t/>
            </a:r>
            <a:br>
              <a:rPr lang="en-US" altLang="ja-JP" sz="2263" b="1" dirty="0" smtClean="0"/>
            </a:br>
            <a:r>
              <a:rPr lang="ja-JP" altLang="en-US" sz="2263" b="1" dirty="0" smtClean="0"/>
              <a:t>「ヒット！！」と表示すること。</a:t>
            </a:r>
            <a:r>
              <a:rPr lang="en-US" altLang="ja-JP" sz="2263" b="1" dirty="0"/>
              <a:t/>
            </a:r>
            <a:br>
              <a:rPr lang="en-US" altLang="ja-JP" sz="2263" b="1" dirty="0"/>
            </a:br>
            <a:r>
              <a:rPr lang="ja-JP" altLang="en-US" sz="2263" b="1" dirty="0" smtClean="0"/>
              <a:t>なお、最初に作成したプログラムに</a:t>
            </a:r>
            <a:r>
              <a:rPr lang="en-US" altLang="ja-JP" sz="2263" b="1" dirty="0" smtClean="0"/>
              <a:t/>
            </a:r>
            <a:br>
              <a:rPr lang="en-US" altLang="ja-JP" sz="2263" b="1" dirty="0" smtClean="0"/>
            </a:br>
            <a:r>
              <a:rPr lang="ja-JP" altLang="en-US" sz="2263" b="1" dirty="0" smtClean="0"/>
              <a:t>追加するだけでよい。</a:t>
            </a:r>
            <a:endParaRPr lang="en-US" altLang="ja-JP" sz="2263" b="1" dirty="0" smtClean="0"/>
          </a:p>
        </p:txBody>
      </p:sp>
      <p:pic>
        <p:nvPicPr>
          <p:cNvPr id="3" name="図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9956" y="1871982"/>
            <a:ext cx="4223370" cy="3340302"/>
          </a:xfrm>
          <a:prstGeom prst="rect">
            <a:avLst/>
          </a:prstGeom>
        </p:spPr>
      </p:pic>
      <p:pic>
        <p:nvPicPr>
          <p:cNvPr id="7" name="図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568" y="5085184"/>
            <a:ext cx="1317956" cy="1584176"/>
          </a:xfrm>
          <a:prstGeom prst="rect">
            <a:avLst/>
          </a:prstGeom>
        </p:spPr>
      </p:pic>
      <p:sp>
        <p:nvSpPr>
          <p:cNvPr id="8" name="角丸四角形吹き出し 10"/>
          <p:cNvSpPr/>
          <p:nvPr/>
        </p:nvSpPr>
        <p:spPr>
          <a:xfrm>
            <a:off x="2771775" y="5393905"/>
            <a:ext cx="4752528" cy="1250445"/>
          </a:xfrm>
          <a:prstGeom prst="wedgeRoundRectCallout">
            <a:avLst>
              <a:gd name="adj1" fmla="val -65258"/>
              <a:gd name="adj2" fmla="val -11865"/>
              <a:gd name="adj3" fmla="val 16667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ja-JP" altLang="en-US" sz="2000" b="1" dirty="0" smtClean="0">
                <a:latin typeface="ＭＳ Ｐゴシック"/>
              </a:rPr>
              <a:t>僕のサイズは次の通りだよ。</a:t>
            </a:r>
            <a:r>
              <a:rPr lang="en-US" altLang="ja-JP" sz="2000" b="1" dirty="0" smtClean="0">
                <a:latin typeface="ＭＳ Ｐゴシック"/>
              </a:rPr>
              <a:t/>
            </a:r>
            <a:br>
              <a:rPr lang="en-US" altLang="ja-JP" sz="2000" b="1" dirty="0" smtClean="0">
                <a:latin typeface="ＭＳ Ｐゴシック"/>
              </a:rPr>
            </a:br>
            <a:r>
              <a:rPr lang="ja-JP" altLang="en-US" sz="2000" b="1" dirty="0" smtClean="0">
                <a:solidFill>
                  <a:srgbClr val="FF0000"/>
                </a:solidFill>
                <a:latin typeface="ＭＳ Ｐゴシック"/>
              </a:rPr>
              <a:t>幅</a:t>
            </a:r>
            <a:r>
              <a:rPr lang="ja-JP" altLang="en-US" sz="2000" b="1" dirty="0">
                <a:solidFill>
                  <a:srgbClr val="FF0000"/>
                </a:solidFill>
                <a:latin typeface="ＭＳ Ｐゴシック"/>
              </a:rPr>
              <a:t>：</a:t>
            </a:r>
            <a:r>
              <a:rPr lang="en-US" altLang="ja-JP" sz="2000" b="1" dirty="0" smtClean="0">
                <a:solidFill>
                  <a:srgbClr val="FF0000"/>
                </a:solidFill>
                <a:latin typeface="ＭＳ Ｐゴシック"/>
              </a:rPr>
              <a:t>2.0</a:t>
            </a:r>
            <a:r>
              <a:rPr lang="en-US" altLang="ja-JP" sz="2000" b="1" dirty="0">
                <a:latin typeface="ＭＳ Ｐゴシック"/>
              </a:rPr>
              <a:t/>
            </a:r>
            <a:br>
              <a:rPr lang="en-US" altLang="ja-JP" sz="2000" b="1" dirty="0">
                <a:latin typeface="ＭＳ Ｐゴシック"/>
              </a:rPr>
            </a:br>
            <a:r>
              <a:rPr lang="ja-JP" altLang="en-US" sz="2000" b="1" dirty="0" smtClean="0">
                <a:solidFill>
                  <a:srgbClr val="0000FF"/>
                </a:solidFill>
                <a:latin typeface="ＭＳ Ｐゴシック"/>
              </a:rPr>
              <a:t>高さ：</a:t>
            </a:r>
            <a:r>
              <a:rPr lang="en-US" altLang="ja-JP" sz="2000" b="1" dirty="0" smtClean="0">
                <a:solidFill>
                  <a:srgbClr val="0000FF"/>
                </a:solidFill>
                <a:latin typeface="ＭＳ Ｐゴシック"/>
              </a:rPr>
              <a:t>3.0</a:t>
            </a:r>
            <a:r>
              <a:rPr lang="en-US" altLang="ja-JP" sz="2000" b="1" dirty="0" smtClean="0">
                <a:latin typeface="ＭＳ Ｐゴシック"/>
              </a:rPr>
              <a:t/>
            </a:r>
            <a:br>
              <a:rPr lang="en-US" altLang="ja-JP" sz="2000" b="1" dirty="0" smtClean="0">
                <a:latin typeface="ＭＳ Ｐゴシック"/>
              </a:rPr>
            </a:br>
            <a:r>
              <a:rPr lang="ja-JP" altLang="en-US" sz="2000" b="1" dirty="0" smtClean="0">
                <a:solidFill>
                  <a:srgbClr val="00B050"/>
                </a:solidFill>
                <a:latin typeface="ＭＳ Ｐゴシック"/>
              </a:rPr>
              <a:t>奥行き：</a:t>
            </a:r>
            <a:r>
              <a:rPr lang="en-US" altLang="ja-JP" sz="2000" b="1" dirty="0" smtClean="0">
                <a:solidFill>
                  <a:srgbClr val="00B050"/>
                </a:solidFill>
                <a:latin typeface="ＭＳ Ｐゴシック"/>
              </a:rPr>
              <a:t>2.6</a:t>
            </a:r>
            <a:endParaRPr lang="ja-JP" altLang="en-US" sz="2000" b="1" dirty="0">
              <a:solidFill>
                <a:srgbClr val="00B050"/>
              </a:solidFill>
              <a:latin typeface="ＭＳ Ｐゴシック"/>
            </a:endParaRPr>
          </a:p>
        </p:txBody>
      </p:sp>
    </p:spTree>
    <p:extLst>
      <p:ext uri="{BB962C8B-B14F-4D97-AF65-F5344CB8AC3E}">
        <p14:creationId xmlns:p14="http://schemas.microsoft.com/office/powerpoint/2010/main" val="18746456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爆発 1 1"/>
          <p:cNvSpPr/>
          <p:nvPr/>
        </p:nvSpPr>
        <p:spPr>
          <a:xfrm>
            <a:off x="2771775" y="115888"/>
            <a:ext cx="3916363" cy="1441450"/>
          </a:xfrm>
          <a:prstGeom prst="irregularSeal1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ja-JP" altLang="en-US" sz="2000" b="1" dirty="0">
                <a:solidFill>
                  <a:srgbClr val="FF0000"/>
                </a:solidFill>
                <a:latin typeface="HGS創英角ﾎﾟｯﾌﾟ体" panose="040B0A00000000000000" pitchFamily="50" charset="-128"/>
                <a:ea typeface="HGS創英角ﾎﾟｯﾌﾟ体" panose="040B0A00000000000000" pitchFamily="50" charset="-128"/>
              </a:rPr>
              <a:t>作ってみよう</a:t>
            </a:r>
            <a:r>
              <a:rPr lang="en-US" altLang="ja-JP" sz="2000" b="1" dirty="0">
                <a:solidFill>
                  <a:srgbClr val="FF0000"/>
                </a:solidFill>
                <a:latin typeface="HGS創英角ﾎﾟｯﾌﾟ体" panose="040B0A00000000000000" pitchFamily="50" charset="-128"/>
                <a:ea typeface="HGS創英角ﾎﾟｯﾌﾟ体" panose="040B0A00000000000000" pitchFamily="50" charset="-128"/>
              </a:rPr>
              <a:t>!!</a:t>
            </a:r>
            <a:endParaRPr lang="ja-JP" altLang="en-US" sz="2000" b="1" dirty="0">
              <a:solidFill>
                <a:srgbClr val="FF0000"/>
              </a:solidFill>
              <a:latin typeface="HGS創英角ﾎﾟｯﾌﾟ体" panose="040B0A00000000000000" pitchFamily="50" charset="-128"/>
              <a:ea typeface="HGS創英角ﾎﾟｯﾌﾟ体" panose="040B0A00000000000000" pitchFamily="50" charset="-128"/>
            </a:endParaRPr>
          </a:p>
        </p:txBody>
      </p:sp>
      <p:sp>
        <p:nvSpPr>
          <p:cNvPr id="15" name="Text Box 5"/>
          <p:cNvSpPr txBox="1">
            <a:spLocks noChangeArrowheads="1"/>
          </p:cNvSpPr>
          <p:nvPr/>
        </p:nvSpPr>
        <p:spPr bwMode="auto">
          <a:xfrm>
            <a:off x="697508" y="1772816"/>
            <a:ext cx="8064896" cy="34006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ja-JP" altLang="en-US" sz="2263" b="1" dirty="0" smtClean="0"/>
              <a:t>先ほど作成したプログラムの当たり判定を</a:t>
            </a:r>
            <a:r>
              <a:rPr lang="ja-JP" altLang="en-US" sz="2263" b="1" dirty="0" smtClean="0">
                <a:solidFill>
                  <a:srgbClr val="0000FF"/>
                </a:solidFill>
              </a:rPr>
              <a:t>関数化</a:t>
            </a:r>
            <a:r>
              <a:rPr lang="ja-JP" altLang="en-US" sz="2263" b="1" dirty="0" smtClean="0"/>
              <a:t>しなさい。</a:t>
            </a:r>
            <a:r>
              <a:rPr lang="en-US" altLang="ja-JP" sz="2263" b="1" dirty="0" smtClean="0"/>
              <a:t/>
            </a:r>
            <a:br>
              <a:rPr lang="en-US" altLang="ja-JP" sz="2263" b="1" dirty="0" smtClean="0"/>
            </a:br>
            <a:r>
              <a:rPr lang="ja-JP" altLang="en-US" sz="2263" b="1" dirty="0" smtClean="0"/>
              <a:t>なお、関数の仕様は次の通りとする。</a:t>
            </a:r>
            <a:r>
              <a:rPr lang="en-US" altLang="ja-JP" sz="2263" b="1" dirty="0" smtClean="0"/>
              <a:t/>
            </a:r>
            <a:br>
              <a:rPr lang="en-US" altLang="ja-JP" sz="2263" b="1" dirty="0" smtClean="0"/>
            </a:br>
            <a:r>
              <a:rPr lang="en-US" altLang="ja-JP" sz="2263" b="1" dirty="0" smtClean="0"/>
              <a:t/>
            </a:r>
            <a:br>
              <a:rPr lang="en-US" altLang="ja-JP" sz="2263" b="1" dirty="0" smtClean="0"/>
            </a:br>
            <a:r>
              <a:rPr lang="en-US" altLang="ja-JP" sz="2263" b="1" dirty="0" err="1" smtClean="0"/>
              <a:t>IsHitRect</a:t>
            </a:r>
            <a:r>
              <a:rPr lang="en-US" altLang="ja-JP" sz="2263" b="1" dirty="0" smtClean="0"/>
              <a:t>()</a:t>
            </a:r>
            <a:r>
              <a:rPr lang="ja-JP" altLang="en-US" sz="2263" b="1" dirty="0" smtClean="0"/>
              <a:t>関数</a:t>
            </a:r>
            <a:r>
              <a:rPr lang="en-US" altLang="ja-JP" sz="2263" b="1" dirty="0" smtClean="0"/>
              <a:t/>
            </a:r>
            <a:br>
              <a:rPr lang="en-US" altLang="ja-JP" sz="2263" b="1" dirty="0" smtClean="0"/>
            </a:br>
            <a:r>
              <a:rPr lang="ja-JP" altLang="en-US" sz="2263" b="1" dirty="0" smtClean="0"/>
              <a:t>○第一引数：</a:t>
            </a:r>
            <a:r>
              <a:rPr lang="en-US" altLang="ja-JP" sz="2263" b="1" dirty="0" smtClean="0">
                <a:solidFill>
                  <a:srgbClr val="00B050"/>
                </a:solidFill>
              </a:rPr>
              <a:t>VECTOR</a:t>
            </a:r>
            <a:r>
              <a:rPr lang="ja-JP" altLang="en-US" sz="2263" b="1" dirty="0" smtClean="0">
                <a:solidFill>
                  <a:srgbClr val="00B050"/>
                </a:solidFill>
              </a:rPr>
              <a:t>型　オブジェクト</a:t>
            </a:r>
            <a:r>
              <a:rPr lang="en-US" altLang="ja-JP" sz="2263" b="1" dirty="0" smtClean="0">
                <a:solidFill>
                  <a:srgbClr val="00B050"/>
                </a:solidFill>
              </a:rPr>
              <a:t>1</a:t>
            </a:r>
            <a:r>
              <a:rPr lang="ja-JP" altLang="en-US" sz="2263" b="1" dirty="0" smtClean="0">
                <a:solidFill>
                  <a:srgbClr val="00B050"/>
                </a:solidFill>
              </a:rPr>
              <a:t>の座標</a:t>
            </a:r>
            <a:r>
              <a:rPr lang="en-US" altLang="ja-JP" sz="2263" b="1" dirty="0" smtClean="0"/>
              <a:t/>
            </a:r>
            <a:br>
              <a:rPr lang="en-US" altLang="ja-JP" sz="2263" b="1" dirty="0" smtClean="0"/>
            </a:br>
            <a:r>
              <a:rPr lang="ja-JP" altLang="en-US" sz="2263" b="1" dirty="0" smtClean="0"/>
              <a:t>○第二引数：</a:t>
            </a:r>
            <a:r>
              <a:rPr lang="en-US" altLang="ja-JP" sz="2263" b="1" dirty="0" smtClean="0">
                <a:solidFill>
                  <a:srgbClr val="00B050"/>
                </a:solidFill>
              </a:rPr>
              <a:t>VECTOR</a:t>
            </a:r>
            <a:r>
              <a:rPr lang="ja-JP" altLang="en-US" sz="2263" b="1" dirty="0">
                <a:solidFill>
                  <a:srgbClr val="00B050"/>
                </a:solidFill>
              </a:rPr>
              <a:t>型　オブジェクト</a:t>
            </a:r>
            <a:r>
              <a:rPr lang="en-US" altLang="ja-JP" sz="2263" b="1" dirty="0">
                <a:solidFill>
                  <a:srgbClr val="00B050"/>
                </a:solidFill>
              </a:rPr>
              <a:t>1</a:t>
            </a:r>
            <a:r>
              <a:rPr lang="ja-JP" altLang="en-US" sz="2263" b="1" dirty="0" smtClean="0">
                <a:solidFill>
                  <a:srgbClr val="00B050"/>
                </a:solidFill>
              </a:rPr>
              <a:t>の幅・高さ・奥行き</a:t>
            </a:r>
            <a:r>
              <a:rPr lang="en-US" altLang="ja-JP" sz="2263" b="1" dirty="0" smtClean="0"/>
              <a:t/>
            </a:r>
            <a:br>
              <a:rPr lang="en-US" altLang="ja-JP" sz="2263" b="1" dirty="0" smtClean="0"/>
            </a:br>
            <a:r>
              <a:rPr lang="ja-JP" altLang="en-US" sz="2263" b="1" dirty="0" smtClean="0"/>
              <a:t>○第三引数：</a:t>
            </a:r>
            <a:r>
              <a:rPr lang="en-US" altLang="ja-JP" sz="2263" b="1" dirty="0" smtClean="0">
                <a:solidFill>
                  <a:srgbClr val="0070C0"/>
                </a:solidFill>
              </a:rPr>
              <a:t>VECTOR</a:t>
            </a:r>
            <a:r>
              <a:rPr lang="ja-JP" altLang="en-US" sz="2263" b="1" dirty="0">
                <a:solidFill>
                  <a:srgbClr val="0070C0"/>
                </a:solidFill>
              </a:rPr>
              <a:t>型　</a:t>
            </a:r>
            <a:r>
              <a:rPr lang="ja-JP" altLang="en-US" sz="2263" b="1" dirty="0" smtClean="0">
                <a:solidFill>
                  <a:srgbClr val="0070C0"/>
                </a:solidFill>
              </a:rPr>
              <a:t>オブジェクト</a:t>
            </a:r>
            <a:r>
              <a:rPr lang="en-US" altLang="ja-JP" sz="2263" b="1" dirty="0" smtClean="0">
                <a:solidFill>
                  <a:srgbClr val="0070C0"/>
                </a:solidFill>
              </a:rPr>
              <a:t>2</a:t>
            </a:r>
            <a:r>
              <a:rPr lang="ja-JP" altLang="en-US" sz="2263" b="1" dirty="0" smtClean="0">
                <a:solidFill>
                  <a:srgbClr val="0070C0"/>
                </a:solidFill>
              </a:rPr>
              <a:t>の</a:t>
            </a:r>
            <a:r>
              <a:rPr lang="ja-JP" altLang="en-US" sz="2263" b="1" dirty="0">
                <a:solidFill>
                  <a:srgbClr val="0070C0"/>
                </a:solidFill>
              </a:rPr>
              <a:t>座標</a:t>
            </a:r>
            <a:r>
              <a:rPr lang="en-US" altLang="ja-JP" sz="2263" b="1" dirty="0" smtClean="0">
                <a:solidFill>
                  <a:srgbClr val="0070C0"/>
                </a:solidFill>
              </a:rPr>
              <a:t/>
            </a:r>
            <a:br>
              <a:rPr lang="en-US" altLang="ja-JP" sz="2263" b="1" dirty="0" smtClean="0">
                <a:solidFill>
                  <a:srgbClr val="0070C0"/>
                </a:solidFill>
              </a:rPr>
            </a:br>
            <a:r>
              <a:rPr lang="ja-JP" altLang="en-US" sz="2263" b="1" dirty="0" smtClean="0"/>
              <a:t>○第四引数：</a:t>
            </a:r>
            <a:r>
              <a:rPr lang="en-US" altLang="ja-JP" sz="2263" b="1" dirty="0" smtClean="0">
                <a:solidFill>
                  <a:srgbClr val="0070C0"/>
                </a:solidFill>
              </a:rPr>
              <a:t>VECTOR</a:t>
            </a:r>
            <a:r>
              <a:rPr lang="ja-JP" altLang="en-US" sz="2263" b="1" dirty="0">
                <a:solidFill>
                  <a:srgbClr val="0070C0"/>
                </a:solidFill>
              </a:rPr>
              <a:t>型　</a:t>
            </a:r>
            <a:r>
              <a:rPr lang="ja-JP" altLang="en-US" sz="2263" b="1" dirty="0" smtClean="0">
                <a:solidFill>
                  <a:srgbClr val="0070C0"/>
                </a:solidFill>
              </a:rPr>
              <a:t>オブジェクト</a:t>
            </a:r>
            <a:r>
              <a:rPr lang="en-US" altLang="ja-JP" sz="2263" b="1" dirty="0" smtClean="0">
                <a:solidFill>
                  <a:srgbClr val="0070C0"/>
                </a:solidFill>
              </a:rPr>
              <a:t>2</a:t>
            </a:r>
            <a:r>
              <a:rPr lang="ja-JP" altLang="en-US" sz="2263" b="1" dirty="0" smtClean="0">
                <a:solidFill>
                  <a:srgbClr val="0070C0"/>
                </a:solidFill>
              </a:rPr>
              <a:t>の</a:t>
            </a:r>
            <a:r>
              <a:rPr lang="ja-JP" altLang="en-US" sz="2263" b="1" dirty="0">
                <a:solidFill>
                  <a:srgbClr val="0070C0"/>
                </a:solidFill>
              </a:rPr>
              <a:t>幅・高さ・</a:t>
            </a:r>
            <a:r>
              <a:rPr lang="ja-JP" altLang="en-US" sz="2263" b="1" dirty="0" smtClean="0">
                <a:solidFill>
                  <a:srgbClr val="0070C0"/>
                </a:solidFill>
              </a:rPr>
              <a:t>奥行き</a:t>
            </a:r>
            <a:endParaRPr lang="en-US" altLang="ja-JP" sz="2263" b="1" dirty="0">
              <a:solidFill>
                <a:srgbClr val="0070C0"/>
              </a:solidFill>
            </a:endParaRPr>
          </a:p>
          <a:p>
            <a:pPr eaLnBrk="1" hangingPunct="1">
              <a:spcBef>
                <a:spcPct val="50000"/>
              </a:spcBef>
              <a:defRPr/>
            </a:pPr>
            <a:r>
              <a:rPr lang="ja-JP" altLang="en-US" sz="2263" b="1" dirty="0" smtClean="0"/>
              <a:t>○戻り値：</a:t>
            </a:r>
            <a:r>
              <a:rPr lang="en-US" altLang="ja-JP" sz="2263" b="1" dirty="0" smtClean="0"/>
              <a:t>bool</a:t>
            </a:r>
            <a:r>
              <a:rPr lang="ja-JP" altLang="en-US" sz="2263" b="1" dirty="0" smtClean="0"/>
              <a:t>型　</a:t>
            </a:r>
            <a:r>
              <a:rPr lang="en-US" altLang="ja-JP" sz="2263" b="1" dirty="0" smtClean="0"/>
              <a:t>true</a:t>
            </a:r>
            <a:r>
              <a:rPr lang="ja-JP" altLang="en-US" sz="2263" b="1" dirty="0" smtClean="0"/>
              <a:t>　＝　ヒット　</a:t>
            </a:r>
            <a:r>
              <a:rPr lang="en-US" altLang="ja-JP" sz="2263" b="1" dirty="0" smtClean="0"/>
              <a:t>false</a:t>
            </a:r>
            <a:r>
              <a:rPr lang="ja-JP" altLang="en-US" sz="2263" b="1" dirty="0" smtClean="0"/>
              <a:t>　＝　ヒット無し</a:t>
            </a:r>
            <a:endParaRPr lang="en-US" altLang="ja-JP" sz="2263" b="1" dirty="0" smtClean="0"/>
          </a:p>
        </p:txBody>
      </p:sp>
    </p:spTree>
    <p:extLst>
      <p:ext uri="{BB962C8B-B14F-4D97-AF65-F5344CB8AC3E}">
        <p14:creationId xmlns:p14="http://schemas.microsoft.com/office/powerpoint/2010/main" val="29788024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5"/>
          <p:cNvSpPr txBox="1">
            <a:spLocks noChangeArrowheads="1"/>
          </p:cNvSpPr>
          <p:nvPr/>
        </p:nvSpPr>
        <p:spPr bwMode="auto">
          <a:xfrm>
            <a:off x="467544" y="518198"/>
            <a:ext cx="8136904" cy="21817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ja-JP" altLang="en-US" sz="2263" b="1" dirty="0" smtClean="0"/>
              <a:t>今回</a:t>
            </a:r>
            <a:r>
              <a:rPr lang="ja-JP" altLang="en-US" sz="2263" b="1" dirty="0"/>
              <a:t>作成</a:t>
            </a:r>
            <a:r>
              <a:rPr lang="ja-JP" altLang="en-US" sz="2263" b="1" dirty="0" smtClean="0"/>
              <a:t>した当たり判定は、</a:t>
            </a:r>
            <a:r>
              <a:rPr lang="en-US" altLang="ja-JP" sz="2263" b="1" dirty="0" smtClean="0"/>
              <a:t>X</a:t>
            </a:r>
            <a:r>
              <a:rPr lang="ja-JP" altLang="en-US" sz="2263" b="1" dirty="0" smtClean="0"/>
              <a:t>軸・</a:t>
            </a:r>
            <a:r>
              <a:rPr lang="en-US" altLang="ja-JP" sz="2263" b="1" dirty="0" smtClean="0"/>
              <a:t>Y</a:t>
            </a:r>
            <a:r>
              <a:rPr lang="ja-JP" altLang="en-US" sz="2263" b="1" dirty="0" smtClean="0"/>
              <a:t>軸・</a:t>
            </a:r>
            <a:r>
              <a:rPr lang="en-US" altLang="ja-JP" sz="2263" b="1" dirty="0" smtClean="0"/>
              <a:t>Z</a:t>
            </a:r>
            <a:r>
              <a:rPr lang="ja-JP" altLang="en-US" sz="2263" b="1" dirty="0" smtClean="0"/>
              <a:t>軸に沿った</a:t>
            </a:r>
            <a:r>
              <a:rPr lang="en-US" altLang="ja-JP" sz="2263" b="1" dirty="0" smtClean="0"/>
              <a:t/>
            </a:r>
            <a:br>
              <a:rPr lang="en-US" altLang="ja-JP" sz="2263" b="1" dirty="0" smtClean="0"/>
            </a:br>
            <a:r>
              <a:rPr lang="ja-JP" altLang="en-US" sz="2263" b="1" dirty="0" smtClean="0"/>
              <a:t>立方体同士の当たり判定で、通称</a:t>
            </a:r>
            <a:r>
              <a:rPr lang="en-US" altLang="ja-JP" sz="2263" b="1" dirty="0" smtClean="0">
                <a:solidFill>
                  <a:srgbClr val="FF0000"/>
                </a:solidFill>
              </a:rPr>
              <a:t>AABB</a:t>
            </a:r>
            <a:r>
              <a:rPr lang="ja-JP" altLang="en-US" sz="2263" b="1" dirty="0" smtClean="0"/>
              <a:t>と呼ばれる</a:t>
            </a:r>
            <a:r>
              <a:rPr lang="ja-JP" altLang="en-US" sz="2263" b="1" dirty="0"/>
              <a:t>。</a:t>
            </a:r>
            <a:r>
              <a:rPr lang="en-US" altLang="ja-JP" sz="2263" b="1" dirty="0" smtClean="0"/>
              <a:t/>
            </a:r>
            <a:br>
              <a:rPr lang="en-US" altLang="ja-JP" sz="2263" b="1" dirty="0" smtClean="0"/>
            </a:br>
            <a:r>
              <a:rPr lang="en-US" altLang="ja-JP" sz="2263" b="1" dirty="0" smtClean="0"/>
              <a:t>				(</a:t>
            </a:r>
            <a:r>
              <a:rPr lang="en-US" altLang="ja-JP" sz="2263" b="1" dirty="0" smtClean="0">
                <a:solidFill>
                  <a:srgbClr val="FF0000"/>
                </a:solidFill>
              </a:rPr>
              <a:t>Axis Aligned Bounding Box</a:t>
            </a:r>
            <a:r>
              <a:rPr lang="en-US" altLang="ja-JP" sz="2263" b="1" dirty="0" smtClean="0"/>
              <a:t>)</a:t>
            </a:r>
            <a:br>
              <a:rPr lang="en-US" altLang="ja-JP" sz="2263" b="1" dirty="0" smtClean="0"/>
            </a:br>
            <a:r>
              <a:rPr lang="ja-JP" altLang="en-US" sz="2263" b="1" dirty="0" smtClean="0"/>
              <a:t>これに対し、各軸に沿わない立方体同士の当たり判定の事を</a:t>
            </a:r>
            <a:r>
              <a:rPr lang="en-US" altLang="ja-JP" sz="2263" b="1" dirty="0" smtClean="0"/>
              <a:t/>
            </a:r>
            <a:br>
              <a:rPr lang="en-US" altLang="ja-JP" sz="2263" b="1" dirty="0" smtClean="0"/>
            </a:br>
            <a:r>
              <a:rPr lang="en-US" altLang="ja-JP" sz="2263" b="1" dirty="0" smtClean="0">
                <a:solidFill>
                  <a:srgbClr val="0000FF"/>
                </a:solidFill>
              </a:rPr>
              <a:t>OBB</a:t>
            </a:r>
            <a:r>
              <a:rPr lang="ja-JP" altLang="en-US" sz="2263" b="1" dirty="0" smtClean="0"/>
              <a:t>と呼ぶ。</a:t>
            </a:r>
            <a:r>
              <a:rPr lang="en-US" altLang="ja-JP" sz="2263" b="1" dirty="0" smtClean="0"/>
              <a:t/>
            </a:r>
            <a:br>
              <a:rPr lang="en-US" altLang="ja-JP" sz="2263" b="1" dirty="0" smtClean="0"/>
            </a:br>
            <a:r>
              <a:rPr lang="en-US" altLang="ja-JP" sz="2263" b="1" dirty="0" smtClean="0"/>
              <a:t>(</a:t>
            </a:r>
            <a:r>
              <a:rPr lang="en-US" altLang="ja-JP" sz="2263" b="1" dirty="0" smtClean="0">
                <a:solidFill>
                  <a:srgbClr val="0000FF"/>
                </a:solidFill>
              </a:rPr>
              <a:t>Oriented Bounding Box</a:t>
            </a:r>
            <a:r>
              <a:rPr lang="en-US" altLang="ja-JP" sz="2263" b="1" dirty="0" smtClean="0"/>
              <a:t>)</a:t>
            </a:r>
            <a:endParaRPr lang="en-US" altLang="ja-JP" sz="2263" b="1" dirty="0"/>
          </a:p>
        </p:txBody>
      </p:sp>
      <p:sp>
        <p:nvSpPr>
          <p:cNvPr id="26" name="Text Box 5"/>
          <p:cNvSpPr txBox="1">
            <a:spLocks noChangeArrowheads="1"/>
          </p:cNvSpPr>
          <p:nvPr/>
        </p:nvSpPr>
        <p:spPr bwMode="auto">
          <a:xfrm>
            <a:off x="169558" y="132458"/>
            <a:ext cx="8352928" cy="4405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altLang="ja-JP" sz="2263" b="1" dirty="0" smtClean="0"/>
              <a:t>[AABB</a:t>
            </a:r>
            <a:r>
              <a:rPr lang="ja-JP" altLang="en-US" sz="2263" b="1" dirty="0" smtClean="0"/>
              <a:t>と</a:t>
            </a:r>
            <a:r>
              <a:rPr lang="en-US" altLang="ja-JP" sz="2263" b="1" dirty="0" smtClean="0"/>
              <a:t>OBB]</a:t>
            </a:r>
            <a:endParaRPr lang="en-US" altLang="ja-JP" sz="2263" b="1" dirty="0"/>
          </a:p>
        </p:txBody>
      </p:sp>
      <p:pic>
        <p:nvPicPr>
          <p:cNvPr id="3" name="図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528" y="3076332"/>
            <a:ext cx="5217368" cy="3182594"/>
          </a:xfrm>
          <a:prstGeom prst="rect">
            <a:avLst/>
          </a:prstGeom>
        </p:spPr>
      </p:pic>
      <p:sp>
        <p:nvSpPr>
          <p:cNvPr id="15" name="Text Box 5"/>
          <p:cNvSpPr txBox="1">
            <a:spLocks noChangeArrowheads="1"/>
          </p:cNvSpPr>
          <p:nvPr/>
        </p:nvSpPr>
        <p:spPr bwMode="auto">
          <a:xfrm>
            <a:off x="1331640" y="2856047"/>
            <a:ext cx="1094858" cy="440570"/>
          </a:xfrm>
          <a:prstGeom prst="rect">
            <a:avLst/>
          </a:prstGeom>
          <a:solidFill>
            <a:schemeClr val="bg1"/>
          </a:solidFill>
          <a:ln w="9525">
            <a:solidFill>
              <a:srgbClr val="0000FF"/>
            </a:solidFill>
            <a:miter lim="800000"/>
            <a:headEnd/>
            <a:tailEnd/>
          </a:ln>
          <a:effectLst/>
          <a:extLst/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en-US" altLang="ja-JP" sz="2263" b="1" dirty="0" smtClean="0">
                <a:solidFill>
                  <a:srgbClr val="0000FF"/>
                </a:solidFill>
              </a:rPr>
              <a:t>OBB</a:t>
            </a:r>
            <a:endParaRPr lang="en-US" altLang="ja-JP" sz="2263" b="1" dirty="0">
              <a:solidFill>
                <a:srgbClr val="0000FF"/>
              </a:solidFill>
            </a:endParaRPr>
          </a:p>
        </p:txBody>
      </p:sp>
      <p:sp>
        <p:nvSpPr>
          <p:cNvPr id="16" name="Text Box 5"/>
          <p:cNvSpPr txBox="1">
            <a:spLocks noChangeArrowheads="1"/>
          </p:cNvSpPr>
          <p:nvPr/>
        </p:nvSpPr>
        <p:spPr bwMode="auto">
          <a:xfrm>
            <a:off x="3798593" y="3296617"/>
            <a:ext cx="1094858" cy="440570"/>
          </a:xfrm>
          <a:prstGeom prst="rect">
            <a:avLst/>
          </a:prstGeom>
          <a:solidFill>
            <a:schemeClr val="bg1"/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  <a:extLst/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en-US" altLang="ja-JP" sz="2263" b="1" dirty="0" smtClean="0">
                <a:solidFill>
                  <a:srgbClr val="FF0000"/>
                </a:solidFill>
              </a:rPr>
              <a:t>AABB</a:t>
            </a:r>
            <a:endParaRPr lang="en-US" altLang="ja-JP" sz="2263" b="1" dirty="0">
              <a:solidFill>
                <a:srgbClr val="FF0000"/>
              </a:solidFill>
            </a:endParaRPr>
          </a:p>
        </p:txBody>
      </p:sp>
      <p:sp>
        <p:nvSpPr>
          <p:cNvPr id="17" name="Text Box 5"/>
          <p:cNvSpPr txBox="1">
            <a:spLocks noChangeArrowheads="1"/>
          </p:cNvSpPr>
          <p:nvPr/>
        </p:nvSpPr>
        <p:spPr bwMode="auto">
          <a:xfrm>
            <a:off x="5592304" y="3479847"/>
            <a:ext cx="3442970" cy="21817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altLang="ja-JP" sz="2263" b="1" dirty="0" smtClean="0"/>
              <a:t>OBB</a:t>
            </a:r>
            <a:r>
              <a:rPr lang="ja-JP" altLang="en-US" sz="2263" b="1" dirty="0" smtClean="0"/>
              <a:t>は理論自体が大変</a:t>
            </a:r>
            <a:r>
              <a:rPr lang="en-US" altLang="ja-JP" sz="2263" b="1" dirty="0" smtClean="0"/>
              <a:t/>
            </a:r>
            <a:br>
              <a:rPr lang="en-US" altLang="ja-JP" sz="2263" b="1" dirty="0" smtClean="0"/>
            </a:br>
            <a:r>
              <a:rPr lang="ja-JP" altLang="en-US" sz="2263" b="1" dirty="0" smtClean="0">
                <a:solidFill>
                  <a:srgbClr val="FF0000"/>
                </a:solidFill>
              </a:rPr>
              <a:t>難易度が高く</a:t>
            </a:r>
            <a:r>
              <a:rPr lang="ja-JP" altLang="en-US" sz="2263" b="1" dirty="0" smtClean="0"/>
              <a:t>、計算方法も</a:t>
            </a:r>
            <a:r>
              <a:rPr lang="en-US" altLang="ja-JP" sz="2263" b="1" dirty="0" smtClean="0"/>
              <a:t/>
            </a:r>
            <a:br>
              <a:rPr lang="en-US" altLang="ja-JP" sz="2263" b="1" dirty="0" smtClean="0"/>
            </a:br>
            <a:r>
              <a:rPr lang="ja-JP" altLang="en-US" sz="2263" b="1" dirty="0" smtClean="0"/>
              <a:t>かなり複雑・・・。</a:t>
            </a:r>
            <a:r>
              <a:rPr lang="en-US" altLang="ja-JP" sz="2263" b="1" dirty="0" smtClean="0"/>
              <a:t/>
            </a:r>
            <a:br>
              <a:rPr lang="en-US" altLang="ja-JP" sz="2263" b="1" dirty="0" smtClean="0"/>
            </a:br>
            <a:r>
              <a:rPr lang="ja-JP" altLang="en-US" sz="2263" b="1" dirty="0" smtClean="0">
                <a:solidFill>
                  <a:srgbClr val="FF0000"/>
                </a:solidFill>
              </a:rPr>
              <a:t>処理コストも高い</a:t>
            </a:r>
            <a:r>
              <a:rPr lang="ja-JP" altLang="en-US" sz="2263" b="1" dirty="0" smtClean="0"/>
              <a:t>ので、</a:t>
            </a:r>
            <a:r>
              <a:rPr lang="en-US" altLang="ja-JP" sz="2263" b="1" dirty="0" smtClean="0"/>
              <a:t/>
            </a:r>
            <a:br>
              <a:rPr lang="en-US" altLang="ja-JP" sz="2263" b="1" dirty="0" smtClean="0"/>
            </a:br>
            <a:r>
              <a:rPr lang="ja-JP" altLang="en-US" sz="2263" b="1" dirty="0" smtClean="0"/>
              <a:t>もっと</a:t>
            </a:r>
            <a:r>
              <a:rPr lang="en-US" altLang="ja-JP" sz="2263" b="1" dirty="0" smtClean="0"/>
              <a:t>3D</a:t>
            </a:r>
            <a:r>
              <a:rPr lang="ja-JP" altLang="en-US" sz="2263" b="1" dirty="0" smtClean="0"/>
              <a:t>に慣れてきてから</a:t>
            </a:r>
            <a:r>
              <a:rPr lang="en-US" altLang="ja-JP" sz="2263" b="1" dirty="0" smtClean="0"/>
              <a:t/>
            </a:r>
            <a:br>
              <a:rPr lang="en-US" altLang="ja-JP" sz="2263" b="1" dirty="0" smtClean="0"/>
            </a:br>
            <a:r>
              <a:rPr lang="ja-JP" altLang="en-US" sz="2263" b="1" dirty="0" smtClean="0"/>
              <a:t>挑戦しよう！！</a:t>
            </a:r>
            <a:endParaRPr lang="en-US" altLang="ja-JP" sz="2263" b="1" dirty="0"/>
          </a:p>
        </p:txBody>
      </p:sp>
    </p:spTree>
    <p:extLst>
      <p:ext uri="{BB962C8B-B14F-4D97-AF65-F5344CB8AC3E}">
        <p14:creationId xmlns:p14="http://schemas.microsoft.com/office/powerpoint/2010/main" val="28820158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標準デザイン">
  <a:themeElements>
    <a:clrScheme name="標準デザイン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標準デザイン">
      <a:majorFont>
        <a:latin typeface="Arial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標準デザイン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16352</TotalTime>
  <Words>265</Words>
  <Application>Microsoft Office PowerPoint</Application>
  <PresentationFormat>画面に合わせる (4:3)</PresentationFormat>
  <Paragraphs>41</Paragraphs>
  <Slides>10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10</vt:i4>
      </vt:variant>
    </vt:vector>
  </HeadingPairs>
  <TitlesOfParts>
    <vt:vector size="15" baseType="lpstr">
      <vt:lpstr>HGS創英角ﾎﾟｯﾌﾟ体</vt:lpstr>
      <vt:lpstr>ＭＳ Ｐゴシック</vt:lpstr>
      <vt:lpstr>Arial</vt:lpstr>
      <vt:lpstr>Calibri</vt:lpstr>
      <vt:lpstr>標準デザイン</vt:lpstr>
      <vt:lpstr>この単元の目標</vt:lpstr>
      <vt:lpstr>4 直方体の当たり判定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麻生塾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第1章　初めてのプログラム</dc:title>
  <dc:creator>t_ymmt</dc:creator>
  <cp:lastModifiedBy>山本　隆行</cp:lastModifiedBy>
  <cp:revision>590</cp:revision>
  <dcterms:created xsi:type="dcterms:W3CDTF">2013-04-19T02:46:48Z</dcterms:created>
  <dcterms:modified xsi:type="dcterms:W3CDTF">2019-05-07T05:47:10Z</dcterms:modified>
</cp:coreProperties>
</file>