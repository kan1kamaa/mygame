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4" r:id="rId2"/>
    <p:sldId id="263" r:id="rId3"/>
    <p:sldId id="514" r:id="rId4"/>
    <p:sldId id="480" r:id="rId5"/>
    <p:sldId id="497" r:id="rId6"/>
    <p:sldId id="505" r:id="rId7"/>
    <p:sldId id="510" r:id="rId8"/>
    <p:sldId id="515" r:id="rId9"/>
    <p:sldId id="516" r:id="rId10"/>
    <p:sldId id="517" r:id="rId11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00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113" d="100"/>
          <a:sy n="113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2026/4/1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複数の</a:t>
            </a:r>
            <a: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3D</a:t>
            </a: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モデルを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表示させる事ができる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0943556-7191-402F-967E-C5C744069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872" y="3199978"/>
            <a:ext cx="3041779" cy="23302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3 </a:t>
            </a:r>
            <a:r>
              <a:rPr lang="ja-JP" altLang="en-US" dirty="0"/>
              <a:t>複数のモデル表示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95313" y="193841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別のオブジェクトを表示させる際は</a:t>
            </a:r>
            <a:r>
              <a:rPr lang="en-US" altLang="ja-JP" sz="2263" b="1" dirty="0"/>
              <a:t>2D</a:t>
            </a:r>
            <a:r>
              <a:rPr lang="ja-JP" altLang="en-US" sz="2263" b="1" dirty="0"/>
              <a:t>と同じ方法でよい。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別のオブジェクトの表示</a:t>
            </a:r>
            <a:r>
              <a:rPr lang="en-US" altLang="ja-JP" sz="2263" b="1" dirty="0"/>
              <a:t>]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1724904" y="3649712"/>
            <a:ext cx="1368152" cy="15794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左矢印 10"/>
          <p:cNvSpPr/>
          <p:nvPr/>
        </p:nvSpPr>
        <p:spPr>
          <a:xfrm>
            <a:off x="3326523" y="4262996"/>
            <a:ext cx="2304256" cy="4320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853406" y="3696817"/>
            <a:ext cx="2463010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キャラクターとは</a:t>
            </a:r>
            <a:br>
              <a:rPr lang="en-US" altLang="ja-JP" sz="2263" b="1" dirty="0"/>
            </a:br>
            <a:r>
              <a:rPr lang="ja-JP" altLang="en-US" sz="2263" b="1" dirty="0"/>
              <a:t>別のモデル。</a:t>
            </a:r>
            <a:br>
              <a:rPr lang="en-US" altLang="ja-JP" sz="2263" b="1" dirty="0"/>
            </a:br>
            <a:r>
              <a:rPr lang="ja-JP" altLang="en-US" sz="2263" b="1" dirty="0"/>
              <a:t>プログラムは同じ</a:t>
            </a:r>
            <a:br>
              <a:rPr lang="en-US" altLang="ja-JP" sz="2263" b="1" dirty="0"/>
            </a:br>
            <a:r>
              <a:rPr lang="ja-JP" altLang="en-US" sz="2263" b="1" dirty="0"/>
              <a:t>手順を行うだけ。</a:t>
            </a:r>
            <a:endParaRPr lang="en-US" altLang="ja-JP" sz="2263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1871982"/>
            <a:ext cx="7564437" cy="4445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右図のように表示されるよう、</a:t>
            </a:r>
            <a:br>
              <a:rPr lang="en-US" altLang="ja-JP" sz="2263" b="1" dirty="0"/>
            </a:br>
            <a:r>
              <a:rPr lang="ja-JP" altLang="en-US" sz="2263" b="1" dirty="0"/>
              <a:t>プログラムを作成しなさい。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</a:t>
            </a:r>
            <a:r>
              <a:rPr lang="en-US" altLang="ja-JP" sz="2263" b="1" dirty="0"/>
              <a:t>Ground</a:t>
            </a:r>
            <a:r>
              <a:rPr lang="ja-JP" altLang="en-US" sz="2263" b="1" dirty="0"/>
              <a:t>の位置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/>
              <a:t>x=0,y=0,z=0</a:t>
            </a:r>
            <a:br>
              <a:rPr lang="en-US" altLang="ja-JP" sz="2263" b="1" dirty="0"/>
            </a:br>
            <a:r>
              <a:rPr lang="ja-JP" altLang="en-US" sz="2263" b="1" dirty="0"/>
              <a:t>○</a:t>
            </a:r>
            <a:r>
              <a:rPr lang="en-US" altLang="ja-JP" sz="2263" b="1" dirty="0"/>
              <a:t>Flag</a:t>
            </a:r>
            <a:r>
              <a:rPr lang="ja-JP" altLang="en-US" sz="2263" b="1" dirty="0"/>
              <a:t>の位置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/>
              <a:t>x=-10,y=1,z=5</a:t>
            </a: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en-US" altLang="ja-JP" sz="2263" b="1" dirty="0"/>
              <a:t>【</a:t>
            </a:r>
            <a:r>
              <a:rPr lang="ja-JP" altLang="en-US" sz="2263" b="1" dirty="0"/>
              <a:t>表示までの手順</a:t>
            </a:r>
            <a:r>
              <a:rPr lang="en-US" altLang="ja-JP" sz="2263" b="1" dirty="0"/>
              <a:t>】</a:t>
            </a:r>
            <a:br>
              <a:rPr lang="en-US" altLang="ja-JP" sz="2263" b="1" dirty="0"/>
            </a:br>
            <a:r>
              <a:rPr lang="ja-JP" altLang="en-US" sz="2263" b="1" dirty="0"/>
              <a:t>①モデルをロードする。</a:t>
            </a:r>
            <a:br>
              <a:rPr lang="en-US" altLang="ja-JP" sz="2263" b="1" dirty="0"/>
            </a:br>
            <a:r>
              <a:rPr lang="ja-JP" altLang="en-US" sz="2263" b="1" dirty="0"/>
              <a:t>②座標をセットする。</a:t>
            </a:r>
            <a:br>
              <a:rPr lang="en-US" altLang="ja-JP" sz="2263" b="1" dirty="0"/>
            </a:br>
            <a:r>
              <a:rPr lang="ja-JP" altLang="en-US" sz="2263" b="1" dirty="0"/>
              <a:t>③描画関数を呼ぶ。</a:t>
            </a:r>
            <a:br>
              <a:rPr lang="en-US" altLang="ja-JP" sz="2263" b="1" dirty="0"/>
            </a:br>
            <a:r>
              <a:rPr lang="ja-JP" altLang="en-US" sz="2263" b="1" dirty="0"/>
              <a:t>④不必要になったタイミングで破棄する。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B547B5B-CFE6-42B6-9E8C-DB531B01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16" y="2563637"/>
            <a:ext cx="5220072" cy="306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7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506AA383-9B9E-42B5-B482-A42211CA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725144"/>
            <a:ext cx="4753460" cy="1569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同じオブジェクトの表示</a:t>
            </a:r>
            <a:r>
              <a:rPr lang="en-US" altLang="ja-JP" sz="2263" b="1" dirty="0"/>
              <a:t>]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0175" y="3356992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3D</a:t>
            </a:r>
            <a:r>
              <a:rPr lang="ja-JP" altLang="en-US" sz="2263" b="1" dirty="0"/>
              <a:t>でも同じ手段で複数のモデルを表示する事が可能。</a:t>
            </a:r>
            <a:br>
              <a:rPr lang="en-US" altLang="ja-JP" sz="2263" b="1" dirty="0"/>
            </a:br>
            <a:r>
              <a:rPr lang="ja-JP" altLang="en-US" sz="2263" b="1" dirty="0"/>
              <a:t>ただし、次のようなプログラムになる。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836712"/>
            <a:ext cx="1792982" cy="2269597"/>
          </a:xfrm>
          <a:prstGeom prst="rect">
            <a:avLst/>
          </a:prstGeom>
        </p:spPr>
      </p:pic>
      <p:sp>
        <p:nvSpPr>
          <p:cNvPr id="7" name="角丸四角形吹き出し 10"/>
          <p:cNvSpPr/>
          <p:nvPr/>
        </p:nvSpPr>
        <p:spPr>
          <a:xfrm>
            <a:off x="3203848" y="1178273"/>
            <a:ext cx="4752528" cy="1022820"/>
          </a:xfrm>
          <a:prstGeom prst="wedgeRoundRectCallout">
            <a:avLst>
              <a:gd name="adj1" fmla="val -62103"/>
              <a:gd name="adj2" fmla="val -219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2D</a:t>
            </a:r>
            <a:r>
              <a:rPr lang="ja-JP" altLang="en-US" sz="2000" b="1" dirty="0">
                <a:latin typeface="ＭＳ Ｐゴシック"/>
              </a:rPr>
              <a:t>の時はメモリ節約のために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同じ画像ハンドルを使いまわし</a:t>
            </a:r>
            <a:r>
              <a:rPr lang="ja-JP" altLang="en-US" sz="2000" b="1" dirty="0">
                <a:latin typeface="ＭＳ Ｐゴシック"/>
              </a:rPr>
              <a:t>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同じ画像を複数表示していたな・・・。</a:t>
            </a:r>
          </a:p>
        </p:txBody>
      </p:sp>
      <p:sp>
        <p:nvSpPr>
          <p:cNvPr id="10" name="角丸四角形 9"/>
          <p:cNvSpPr/>
          <p:nvPr/>
        </p:nvSpPr>
        <p:spPr>
          <a:xfrm>
            <a:off x="287524" y="5017368"/>
            <a:ext cx="4572508" cy="6546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 14"/>
          <p:cNvSpPr/>
          <p:nvPr/>
        </p:nvSpPr>
        <p:spPr>
          <a:xfrm>
            <a:off x="308400" y="5689302"/>
            <a:ext cx="4623640" cy="654618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054813" y="5124392"/>
            <a:ext cx="105059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一体目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054813" y="5796326"/>
            <a:ext cx="1050597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二体目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E453059-5BA0-49CA-B342-3F332349B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5" y="4222069"/>
            <a:ext cx="2826850" cy="25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268760"/>
            <a:ext cx="1230635" cy="1473814"/>
          </a:xfrm>
          <a:prstGeom prst="rect">
            <a:avLst/>
          </a:prstGeo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40964" y="332656"/>
            <a:ext cx="686207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ただし、この方法は</a:t>
            </a:r>
            <a:r>
              <a:rPr lang="ja-JP" altLang="en-US" sz="2263" b="1" dirty="0">
                <a:solidFill>
                  <a:srgbClr val="0000FF"/>
                </a:solidFill>
              </a:rPr>
              <a:t>バグを引き起こしやすい</a:t>
            </a:r>
            <a:r>
              <a:rPr lang="ja-JP" altLang="en-US" sz="2263" b="1" dirty="0"/>
              <a:t>という</a:t>
            </a:r>
            <a:br>
              <a:rPr lang="en-US" altLang="ja-JP" sz="2263" b="1" dirty="0"/>
            </a:br>
            <a:r>
              <a:rPr lang="ja-JP" altLang="en-US" sz="2263" b="1" dirty="0"/>
              <a:t>問題が発生するため、</a:t>
            </a:r>
            <a:r>
              <a:rPr lang="ja-JP" altLang="en-US" sz="2263" b="1" dirty="0">
                <a:solidFill>
                  <a:srgbClr val="FF0000"/>
                </a:solidFill>
              </a:rPr>
              <a:t>基本的には使用しない</a:t>
            </a:r>
            <a:r>
              <a:rPr lang="ja-JP" altLang="en-US" sz="2263" b="1" dirty="0"/>
              <a:t>としておく。</a:t>
            </a:r>
            <a:endParaRPr lang="en-US" altLang="ja-JP" sz="2263" b="1" dirty="0"/>
          </a:p>
        </p:txBody>
      </p:sp>
      <p:sp>
        <p:nvSpPr>
          <p:cNvPr id="7" name="角丸四角形吹き出し 10"/>
          <p:cNvSpPr/>
          <p:nvPr/>
        </p:nvSpPr>
        <p:spPr>
          <a:xfrm>
            <a:off x="3131840" y="1494257"/>
            <a:ext cx="4752528" cy="1022820"/>
          </a:xfrm>
          <a:prstGeom prst="wedgeRoundRectCallout">
            <a:avLst>
              <a:gd name="adj1" fmla="val -62103"/>
              <a:gd name="adj2" fmla="val -219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もちろん</a:t>
            </a:r>
            <a:r>
              <a:rPr lang="ja-JP" altLang="en-US" sz="2000" b="1" dirty="0">
                <a:solidFill>
                  <a:srgbClr val="FF00FF"/>
                </a:solidFill>
                <a:latin typeface="ＭＳ Ｐゴシック"/>
              </a:rPr>
              <a:t>複数回</a:t>
            </a:r>
            <a:r>
              <a:rPr lang="en-US" altLang="ja-JP" sz="2000" b="1" dirty="0">
                <a:solidFill>
                  <a:srgbClr val="FF00FF"/>
                </a:solidFill>
                <a:latin typeface="ＭＳ Ｐゴシック"/>
              </a:rPr>
              <a:t>MV1LoadModel</a:t>
            </a:r>
            <a:r>
              <a:rPr lang="ja-JP" altLang="en-US" sz="2000" b="1" dirty="0">
                <a:solidFill>
                  <a:srgbClr val="FF00FF"/>
                </a:solidFill>
                <a:latin typeface="ＭＳ Ｐゴシック"/>
              </a:rPr>
              <a:t>関数を</a:t>
            </a:r>
            <a:br>
              <a:rPr lang="en-US" altLang="ja-JP" sz="2000" b="1" dirty="0">
                <a:solidFill>
                  <a:srgbClr val="FF00FF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FF00FF"/>
                </a:solidFill>
                <a:latin typeface="ＭＳ Ｐゴシック"/>
              </a:rPr>
              <a:t>呼び出す</a:t>
            </a:r>
            <a:r>
              <a:rPr lang="ja-JP" altLang="en-US" sz="2000" b="1" dirty="0">
                <a:latin typeface="ＭＳ Ｐゴシック"/>
              </a:rPr>
              <a:t>ことも、メモリの無駄が多いから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7030A0"/>
                </a:solidFill>
                <a:latin typeface="ＭＳ Ｐゴシック"/>
              </a:rPr>
              <a:t>禁止</a:t>
            </a:r>
            <a:r>
              <a:rPr lang="ja-JP" altLang="en-US" sz="2000" b="1" dirty="0">
                <a:latin typeface="ＭＳ Ｐゴシック"/>
              </a:rPr>
              <a:t>だよ！！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96948" y="3429000"/>
            <a:ext cx="715010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そこで、</a:t>
            </a:r>
            <a:r>
              <a:rPr lang="en-US" altLang="ja-JP" sz="2263" b="1" dirty="0"/>
              <a:t>3D</a:t>
            </a:r>
            <a:r>
              <a:rPr lang="ja-JP" altLang="en-US" sz="2263" b="1" dirty="0"/>
              <a:t>では同じモデルを</a:t>
            </a:r>
            <a:r>
              <a:rPr lang="ja-JP" altLang="en-US" sz="2263" b="1" dirty="0">
                <a:solidFill>
                  <a:srgbClr val="FF0000"/>
                </a:solidFill>
              </a:rPr>
              <a:t>複製</a:t>
            </a:r>
            <a:r>
              <a:rPr lang="ja-JP" altLang="en-US" sz="2263" b="1" dirty="0"/>
              <a:t>する方法で表示する。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07" y="3928238"/>
            <a:ext cx="1688976" cy="1688976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5169024"/>
            <a:ext cx="1688976" cy="1688976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836" y="5160257"/>
            <a:ext cx="1688976" cy="1688976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812" y="5169024"/>
            <a:ext cx="1688976" cy="1688976"/>
          </a:xfrm>
          <a:prstGeom prst="rect">
            <a:avLst/>
          </a:prstGeom>
        </p:spPr>
      </p:pic>
      <p:sp>
        <p:nvSpPr>
          <p:cNvPr id="13" name="曲折矢印 12"/>
          <p:cNvSpPr/>
          <p:nvPr/>
        </p:nvSpPr>
        <p:spPr>
          <a:xfrm flipV="1">
            <a:off x="1703116" y="5675882"/>
            <a:ext cx="1815816" cy="777454"/>
          </a:xfrm>
          <a:prstGeom prst="ben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032347" y="5155998"/>
            <a:ext cx="158417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オリジナル</a:t>
            </a:r>
            <a:endParaRPr lang="en-US" altLang="ja-JP" sz="2263" b="1" dirty="0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688296" y="6365916"/>
            <a:ext cx="158417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コピー</a:t>
            </a:r>
            <a:r>
              <a:rPr lang="en-US" altLang="ja-JP" sz="2263" b="1" dirty="0"/>
              <a:t>A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491982" y="6356451"/>
            <a:ext cx="158417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コピー</a:t>
            </a:r>
            <a:r>
              <a:rPr lang="en-US" altLang="ja-JP" sz="2263" b="1" dirty="0"/>
              <a:t>B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7183212" y="6365916"/>
            <a:ext cx="158417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コピー</a:t>
            </a:r>
            <a:r>
              <a:rPr lang="en-US" altLang="ja-JP" sz="2263" b="1" dirty="0"/>
              <a:t>C</a:t>
            </a:r>
          </a:p>
        </p:txBody>
      </p:sp>
      <p:sp>
        <p:nvSpPr>
          <p:cNvPr id="18" name="角丸四角形吹き出し 10"/>
          <p:cNvSpPr/>
          <p:nvPr/>
        </p:nvSpPr>
        <p:spPr>
          <a:xfrm>
            <a:off x="2749322" y="4028694"/>
            <a:ext cx="3882692" cy="773606"/>
          </a:xfrm>
          <a:prstGeom prst="wedgeRoundRectCallout">
            <a:avLst>
              <a:gd name="adj1" fmla="val -64346"/>
              <a:gd name="adj2" fmla="val -691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僕だけが</a:t>
            </a:r>
            <a:r>
              <a:rPr lang="en-US" altLang="ja-JP" sz="2000" b="1" dirty="0">
                <a:latin typeface="ＭＳ Ｐゴシック"/>
              </a:rPr>
              <a:t>MV1LoadModel</a:t>
            </a:r>
            <a:r>
              <a:rPr lang="ja-JP" altLang="en-US" sz="2000" b="1" dirty="0">
                <a:latin typeface="ＭＳ Ｐゴシック"/>
              </a:rPr>
              <a:t>を使って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ロードされてるよ。</a:t>
            </a:r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064018" y="892423"/>
            <a:ext cx="6264696" cy="61290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MV1DuplicateModel(</a:t>
            </a:r>
            <a:r>
              <a:rPr kumimoji="1" lang="en-US" altLang="ja-JP" sz="2400" b="1" dirty="0" err="1">
                <a:solidFill>
                  <a:schemeClr val="tx1"/>
                </a:solidFill>
              </a:rPr>
              <a:t>int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  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モデルハンドル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)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552" y="183734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モデルの複製</a:t>
            </a:r>
            <a:r>
              <a:rPr lang="en-US" altLang="ja-JP" sz="2263" b="1" dirty="0"/>
              <a:t>]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064018" y="1700808"/>
            <a:ext cx="664514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第一引数：コピーしたいモデルのハンドル</a:t>
            </a:r>
            <a:br>
              <a:rPr lang="en-US" altLang="ja-JP" sz="2263" b="1" dirty="0"/>
            </a:br>
            <a:r>
              <a:rPr lang="ja-JP" altLang="en-US" sz="2263" b="1" dirty="0"/>
              <a:t>戻り値：複製後のモデルハンドル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3546263"/>
            <a:ext cx="822365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最初に必ず</a:t>
            </a:r>
            <a:r>
              <a:rPr lang="ja-JP" altLang="en-US" sz="2263" b="1" dirty="0">
                <a:solidFill>
                  <a:srgbClr val="00B050"/>
                </a:solidFill>
              </a:rPr>
              <a:t>コピー元になるモデルをロードしておく</a:t>
            </a:r>
            <a:r>
              <a:rPr lang="ja-JP" altLang="en-US" sz="2263" b="1" dirty="0"/>
              <a:t>必要がある。</a:t>
            </a:r>
            <a:br>
              <a:rPr lang="en-US" altLang="ja-JP" sz="2263" b="1" dirty="0"/>
            </a:br>
            <a:r>
              <a:rPr lang="ja-JP" altLang="en-US" sz="2263" b="1" dirty="0"/>
              <a:t>また、戻り値で受け取ったモデルハンドルは</a:t>
            </a:r>
            <a:br>
              <a:rPr lang="en-US" altLang="ja-JP" sz="2263" b="1" dirty="0"/>
            </a:br>
            <a:r>
              <a:rPr lang="ja-JP" altLang="en-US" sz="2263" b="1" dirty="0"/>
              <a:t>オリジナルのモデルハンドルと同じように使用可能。</a:t>
            </a:r>
            <a:endParaRPr lang="en-US" altLang="ja-JP" sz="2263" b="1" dirty="0"/>
          </a:p>
        </p:txBody>
      </p:sp>
      <p:pic>
        <p:nvPicPr>
          <p:cNvPr id="1026" name="Picture 2" descr="自動生産ラインのイラスト">
            <a:extLst>
              <a:ext uri="{FF2B5EF4-FFF2-40B4-BE49-F238E27FC236}">
                <a16:creationId xmlns:a16="http://schemas.microsoft.com/office/drawing/2014/main" id="{1A7DE0B4-3DB1-405B-9ECA-B9F65BB96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10412"/>
            <a:ext cx="2746276" cy="214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角丸四角形吹き出し 10">
            <a:extLst>
              <a:ext uri="{FF2B5EF4-FFF2-40B4-BE49-F238E27FC236}">
                <a16:creationId xmlns:a16="http://schemas.microsoft.com/office/drawing/2014/main" id="{D4668156-3401-4CB7-9355-F8C06F9442A2}"/>
              </a:ext>
            </a:extLst>
          </p:cNvPr>
          <p:cNvSpPr/>
          <p:nvPr/>
        </p:nvSpPr>
        <p:spPr>
          <a:xfrm>
            <a:off x="4217326" y="5145276"/>
            <a:ext cx="4675154" cy="1380067"/>
          </a:xfrm>
          <a:prstGeom prst="wedgeRoundRectCallout">
            <a:avLst>
              <a:gd name="adj1" fmla="val -64346"/>
              <a:gd name="adj2" fmla="val -691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同じものを複数描画するならこれです。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ロード時の関数が違うだけですが、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ロードの読み込み時間やメモリ消費量が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大幅に改善されます！</a:t>
            </a:r>
          </a:p>
        </p:txBody>
      </p:sp>
    </p:spTree>
    <p:extLst>
      <p:ext uri="{BB962C8B-B14F-4D97-AF65-F5344CB8AC3E}">
        <p14:creationId xmlns:p14="http://schemas.microsoft.com/office/powerpoint/2010/main" val="42038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7A61B7FD-8A7B-4BC0-AE1C-BDBB34460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53" y="4985103"/>
            <a:ext cx="7125694" cy="1381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E4CBCEE-3C59-4AF1-BB3C-B96407F45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234" y="1144592"/>
            <a:ext cx="4715533" cy="2381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99383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改良プログラム</a:t>
            </a:r>
            <a:r>
              <a:rPr lang="en-US" altLang="ja-JP" sz="2263" b="1" dirty="0"/>
              <a:t>]</a:t>
            </a:r>
          </a:p>
        </p:txBody>
      </p:sp>
      <p:cxnSp>
        <p:nvCxnSpPr>
          <p:cNvPr id="5" name="直線コネクタ 4"/>
          <p:cNvCxnSpPr>
            <a:cxnSpLocks/>
          </p:cNvCxnSpPr>
          <p:nvPr/>
        </p:nvCxnSpPr>
        <p:spPr>
          <a:xfrm>
            <a:off x="2225410" y="2492896"/>
            <a:ext cx="371474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>
            <a:cxnSpLocks/>
          </p:cNvCxnSpPr>
          <p:nvPr/>
        </p:nvCxnSpPr>
        <p:spPr>
          <a:xfrm>
            <a:off x="1026087" y="6042494"/>
            <a:ext cx="63542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13858" y="575771"/>
            <a:ext cx="84786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①今回は箱を</a:t>
            </a:r>
            <a:r>
              <a:rPr lang="en-US" altLang="ja-JP" sz="2263" b="1" dirty="0"/>
              <a:t>10</a:t>
            </a:r>
            <a:r>
              <a:rPr lang="ja-JP" altLang="en-US" sz="2263" b="1" dirty="0"/>
              <a:t>個表示するので、箱の数を定義しておく。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32689" y="4073254"/>
            <a:ext cx="8478621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</a:t>
            </a:r>
            <a:r>
              <a:rPr lang="ja-JP" altLang="en-US" sz="2263" b="1" dirty="0">
                <a:solidFill>
                  <a:srgbClr val="FF0000"/>
                </a:solidFill>
              </a:rPr>
              <a:t>オリジナルのモデルハンドルを保存</a:t>
            </a:r>
            <a:r>
              <a:rPr lang="ja-JP" altLang="en-US" sz="2263" b="1" dirty="0"/>
              <a:t>する変数と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ja-JP" altLang="en-US" sz="2263" b="1" dirty="0">
                <a:solidFill>
                  <a:srgbClr val="0000FF"/>
                </a:solidFill>
              </a:rPr>
              <a:t>コピーのモデルハンドルを保存</a:t>
            </a:r>
            <a:r>
              <a:rPr lang="ja-JP" altLang="en-US" sz="2263" b="1" dirty="0"/>
              <a:t>する配列を用意する。</a:t>
            </a:r>
            <a:endParaRPr lang="en-US" altLang="ja-JP" sz="2263" b="1" dirty="0"/>
          </a:p>
        </p:txBody>
      </p:sp>
      <p:cxnSp>
        <p:nvCxnSpPr>
          <p:cNvPr id="13" name="直線コネクタ 12"/>
          <p:cNvCxnSpPr>
            <a:cxnSpLocks/>
          </p:cNvCxnSpPr>
          <p:nvPr/>
        </p:nvCxnSpPr>
        <p:spPr>
          <a:xfrm>
            <a:off x="1026087" y="6324086"/>
            <a:ext cx="6083127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90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C6E1ACD-97D9-45F0-8E18-E4F2E208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19" y="3692776"/>
            <a:ext cx="7725853" cy="2124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62DA437-6687-41C9-A4F5-0D3FA076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836712"/>
            <a:ext cx="7575772" cy="18515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" name="直線コネクタ 4"/>
          <p:cNvCxnSpPr>
            <a:cxnSpLocks/>
          </p:cNvCxnSpPr>
          <p:nvPr/>
        </p:nvCxnSpPr>
        <p:spPr>
          <a:xfrm flipV="1">
            <a:off x="1475656" y="2315138"/>
            <a:ext cx="6696744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32689" y="260648"/>
            <a:ext cx="84786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③オリジナルのモデルハンドルを元に、コピーを行っていく。</a:t>
            </a:r>
            <a:endParaRPr lang="en-US" altLang="ja-JP" sz="2263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95536" y="3060438"/>
            <a:ext cx="84786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④場所が被らないように、ずらして配置していく。</a:t>
            </a:r>
            <a:endParaRPr lang="en-US" altLang="ja-JP" sz="2263" b="1" dirty="0"/>
          </a:p>
        </p:txBody>
      </p:sp>
      <p:cxnSp>
        <p:nvCxnSpPr>
          <p:cNvPr id="14" name="直線コネクタ 13"/>
          <p:cNvCxnSpPr>
            <a:cxnSpLocks/>
          </p:cNvCxnSpPr>
          <p:nvPr/>
        </p:nvCxnSpPr>
        <p:spPr>
          <a:xfrm>
            <a:off x="1331640" y="5589240"/>
            <a:ext cx="33843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54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32689" y="3276462"/>
            <a:ext cx="84786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⑥描画を行う際は、</a:t>
            </a:r>
            <a:r>
              <a:rPr lang="ja-JP" altLang="en-US" sz="2263" b="1" dirty="0">
                <a:solidFill>
                  <a:srgbClr val="FF0000"/>
                </a:solidFill>
              </a:rPr>
              <a:t>オリジナルは表示せず</a:t>
            </a:r>
            <a:r>
              <a:rPr lang="ja-JP" altLang="en-US" sz="2263" b="1" dirty="0"/>
              <a:t>にコピーだけ表示する。</a:t>
            </a:r>
            <a:endParaRPr lang="en-US" altLang="ja-JP" sz="2263" b="1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AAFB55B-8602-4F94-8F1D-0CE621B6E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88" y="260648"/>
            <a:ext cx="84786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</a:t>
            </a:r>
            <a:r>
              <a:rPr lang="en-US" altLang="ja-JP" sz="2263" b="1" dirty="0"/>
              <a:t>MV1SetPosition()</a:t>
            </a:r>
            <a:r>
              <a:rPr lang="ja-JP" altLang="en-US" sz="2263" b="1" dirty="0"/>
              <a:t>で各々のハンドルに座標をセットする。</a:t>
            </a:r>
            <a:endParaRPr lang="en-US" altLang="ja-JP" sz="2263" b="1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172F515-53B6-41C8-A397-C0241351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3" y="700226"/>
            <a:ext cx="6582694" cy="21815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ACF3FFEB-2DF8-48BD-9AC3-223D2EB24D17}"/>
              </a:ext>
            </a:extLst>
          </p:cNvPr>
          <p:cNvSpPr/>
          <p:nvPr/>
        </p:nvSpPr>
        <p:spPr>
          <a:xfrm>
            <a:off x="1331640" y="1484784"/>
            <a:ext cx="6480720" cy="1296144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4C22707-6F93-4058-9155-1087BA81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4028850"/>
            <a:ext cx="4752528" cy="20644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フローチャート: 処理 9">
            <a:extLst>
              <a:ext uri="{FF2B5EF4-FFF2-40B4-BE49-F238E27FC236}">
                <a16:creationId xmlns:a16="http://schemas.microsoft.com/office/drawing/2014/main" id="{B4A19DD5-F66C-4097-902B-C8790D7290B2}"/>
              </a:ext>
            </a:extLst>
          </p:cNvPr>
          <p:cNvSpPr/>
          <p:nvPr/>
        </p:nvSpPr>
        <p:spPr>
          <a:xfrm>
            <a:off x="2223923" y="4861630"/>
            <a:ext cx="4580325" cy="115965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15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009F7FB-7454-4567-8362-B5D8EBD5E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221088"/>
            <a:ext cx="3851920" cy="2259472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32689" y="332656"/>
            <a:ext cx="8478621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⑥プログラム終了前にモデルハンドルを破棄する。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ja-JP" altLang="en-US" sz="2263" b="1" dirty="0">
                <a:solidFill>
                  <a:srgbClr val="FF00FF"/>
                </a:solidFill>
              </a:rPr>
              <a:t>先にコピーを破棄</a:t>
            </a:r>
            <a:r>
              <a:rPr lang="ja-JP" altLang="en-US" sz="2263" b="1" dirty="0"/>
              <a:t>してから、オリジナルを破棄した方が安全。</a:t>
            </a:r>
            <a:endParaRPr lang="en-US" altLang="ja-JP" sz="2263" b="1" dirty="0"/>
          </a:p>
        </p:txBody>
      </p:sp>
      <p:sp>
        <p:nvSpPr>
          <p:cNvPr id="10" name="角丸四角形吹き出し 10"/>
          <p:cNvSpPr/>
          <p:nvPr/>
        </p:nvSpPr>
        <p:spPr>
          <a:xfrm>
            <a:off x="4356246" y="4509120"/>
            <a:ext cx="4455064" cy="1022820"/>
          </a:xfrm>
          <a:prstGeom prst="wedgeRoundRectCallout">
            <a:avLst>
              <a:gd name="adj1" fmla="val -62103"/>
              <a:gd name="adj2" fmla="val -219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このような感じで表示されれば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成功だよ！！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FEE4852-3871-40AB-A205-63DD2BDB8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53" y="1412776"/>
            <a:ext cx="7125694" cy="2172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34925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16319</TotalTime>
  <Words>535</Words>
  <Application>Microsoft Office PowerPoint</Application>
  <PresentationFormat>画面に合わせる (4:3)</PresentationFormat>
  <Paragraphs>37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HGS創英角ﾎﾟｯﾌﾟ体</vt:lpstr>
      <vt:lpstr>ＭＳ Ｐゴシック</vt:lpstr>
      <vt:lpstr>Arial</vt:lpstr>
      <vt:lpstr>Calibri</vt:lpstr>
      <vt:lpstr>標準デザイン</vt:lpstr>
      <vt:lpstr>この単元の目標</vt:lpstr>
      <vt:lpstr>3 複数のモデル表示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590</cp:revision>
  <dcterms:created xsi:type="dcterms:W3CDTF">2013-04-19T02:46:48Z</dcterms:created>
  <dcterms:modified xsi:type="dcterms:W3CDTF">2026-04-01T08:48:57Z</dcterms:modified>
</cp:coreProperties>
</file>