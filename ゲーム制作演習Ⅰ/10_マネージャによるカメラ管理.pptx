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4" r:id="rId2"/>
    <p:sldId id="263" r:id="rId3"/>
    <p:sldId id="534" r:id="rId4"/>
    <p:sldId id="523" r:id="rId5"/>
    <p:sldId id="535" r:id="rId6"/>
    <p:sldId id="553" r:id="rId7"/>
    <p:sldId id="554" r:id="rId8"/>
    <p:sldId id="557" r:id="rId9"/>
    <p:sldId id="558" r:id="rId10"/>
    <p:sldId id="559" r:id="rId11"/>
    <p:sldId id="560" r:id="rId12"/>
    <p:sldId id="561" r:id="rId13"/>
    <p:sldId id="564" r:id="rId14"/>
    <p:sldId id="562" r:id="rId15"/>
    <p:sldId id="565" r:id="rId16"/>
  </p:sldIdLst>
  <p:sldSz cx="9144000" cy="6858000" type="screen4x3"/>
  <p:notesSz cx="6858000" cy="91440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3" autoAdjust="0"/>
    <p:restoredTop sz="93432" autoAdjust="0"/>
  </p:normalViewPr>
  <p:slideViewPr>
    <p:cSldViewPr>
      <p:cViewPr varScale="1">
        <p:scale>
          <a:sx n="104" d="100"/>
          <a:sy n="104" d="100"/>
        </p:scale>
        <p:origin x="14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27E591F3-6C5C-4237-9A0F-19C627DFAD91}" type="datetimeFigureOut">
              <a:rPr lang="ja-JP" altLang="en-US"/>
              <a:pPr>
                <a:defRPr/>
              </a:pPr>
              <a:t>2026/5/14</a:t>
            </a:fld>
            <a:endParaRPr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E94BE2DB-0632-44C0-A305-06F0D4B9CEE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64599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2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5974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4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66157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5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74818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29037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472362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65324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スライド イメージ プレースホルダー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ノート プレースホルダー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5124" name="スライド番号プレースホルダー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736DED6-970D-448F-85CD-4C9A77D3E903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72431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E94326-21EF-45D6-9938-6B5BD0D058E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349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01B8C3-4F1B-4F8C-B78A-BA008A4288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7403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00992A-329F-4748-B8BD-5ACE4AD4DE4D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94470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F9311-072B-437B-8F4A-90FAC793E74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86870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62856A-195B-44FC-9E8C-2B8EFCAF2E3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1349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8990D-02EF-4AF9-8193-ADA8B1D08AA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82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EE9533-605F-4AB1-90F2-B443A41F5FF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74775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BF4E6F-8E4F-465C-BE46-3CA155F67AB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53562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BA2F0E-8486-49C0-88FF-C5FCF562858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25023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12D0-E269-4F66-A389-47D91A25CDD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7464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D5277F-FF33-41BB-B110-8F2E985F6F0B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20623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F2B73C9D-6D14-4BD8-824F-F008878771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8" y="468313"/>
            <a:ext cx="7772400" cy="865187"/>
          </a:xfrm>
        </p:spPr>
        <p:txBody>
          <a:bodyPr/>
          <a:lstStyle/>
          <a:p>
            <a:pPr eaLnBrk="1" hangingPunct="1"/>
            <a:r>
              <a:rPr lang="ja-JP" altLang="en-US" sz="6000" b="1">
                <a:solidFill>
                  <a:srgbClr val="FF0000"/>
                </a:solidFill>
              </a:rPr>
              <a:t>この単元の目標</a:t>
            </a:r>
          </a:p>
        </p:txBody>
      </p:sp>
      <p:pic>
        <p:nvPicPr>
          <p:cNvPr id="307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4437063"/>
            <a:ext cx="3209925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図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5663" y="4437063"/>
            <a:ext cx="3208337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775556" y="1484784"/>
            <a:ext cx="7772400" cy="2952328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マネージャクラスを使って</a:t>
            </a:r>
            <a:br>
              <a:rPr lang="en-US" altLang="ja-JP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</a:br>
            <a:r>
              <a:rPr lang="ja-JP" altLang="en-US" sz="4800" b="1" kern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カメラの管理ができる</a:t>
            </a:r>
            <a:endParaRPr lang="en-US" altLang="ja-JP" sz="4800" b="1" kern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115551"/>
            <a:ext cx="2686569" cy="2639554"/>
          </a:xfrm>
          <a:prstGeom prst="rect">
            <a:avLst/>
          </a:prstGeom>
        </p:spPr>
      </p:pic>
      <p:sp>
        <p:nvSpPr>
          <p:cNvPr id="410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1187" y="468313"/>
            <a:ext cx="8137277" cy="8651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ja-JP" dirty="0"/>
              <a:t>10 </a:t>
            </a:r>
            <a:r>
              <a:rPr lang="ja-JP" altLang="en-US" dirty="0"/>
              <a:t>マネージャによるカメラ管理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0923" y="1520424"/>
            <a:ext cx="835292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カメラの管理を行うクラス</a:t>
            </a:r>
            <a:r>
              <a:rPr lang="en-US" altLang="ja-JP" sz="2263" b="1" dirty="0"/>
              <a:t>]</a:t>
            </a: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20699" y="2021125"/>
            <a:ext cx="7953375" cy="11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カメラもバッチリプレイヤーについてくるようになったが、</a:t>
            </a:r>
            <a:br>
              <a:rPr lang="en-US" altLang="ja-JP" sz="2263" b="1" dirty="0"/>
            </a:br>
            <a:r>
              <a:rPr lang="ja-JP" altLang="en-US" sz="2263" b="1" dirty="0"/>
              <a:t>逆にそのせいでステージ全体を見渡したりする事が</a:t>
            </a:r>
            <a:br>
              <a:rPr lang="en-US" altLang="ja-JP" sz="2263" b="1" dirty="0"/>
            </a:br>
            <a:r>
              <a:rPr lang="ja-JP" altLang="en-US" sz="2263" b="1" dirty="0"/>
              <a:t>やりにくくなっている。</a:t>
            </a:r>
            <a:endParaRPr lang="en-US" altLang="ja-JP" sz="2263" b="1" dirty="0"/>
          </a:p>
        </p:txBody>
      </p:sp>
      <p:sp>
        <p:nvSpPr>
          <p:cNvPr id="11" name="角丸四角形吹き出し 10"/>
          <p:cNvSpPr/>
          <p:nvPr/>
        </p:nvSpPr>
        <p:spPr>
          <a:xfrm>
            <a:off x="5458369" y="3178923"/>
            <a:ext cx="3295251" cy="1152128"/>
          </a:xfrm>
          <a:prstGeom prst="wedgeRoundRectCallout">
            <a:avLst>
              <a:gd name="adj1" fmla="val -62766"/>
              <a:gd name="adj2" fmla="val 3355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私が</a:t>
            </a:r>
            <a:r>
              <a:rPr lang="en-US" altLang="ja-JP" sz="2000" b="1" dirty="0" err="1">
                <a:latin typeface="ＭＳ Ｐゴシック"/>
              </a:rPr>
              <a:t>MainCamera</a:t>
            </a:r>
            <a:r>
              <a:rPr lang="ja-JP" altLang="en-US" sz="2000" b="1" dirty="0">
                <a:latin typeface="ＭＳ Ｐゴシック"/>
              </a:rPr>
              <a:t>です。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ずっとあなたの後ろを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追いかけます。</a:t>
            </a:r>
          </a:p>
        </p:txBody>
      </p:sp>
      <p:sp>
        <p:nvSpPr>
          <p:cNvPr id="8" name="角丸四角形吹き出し 7"/>
          <p:cNvSpPr/>
          <p:nvPr/>
        </p:nvSpPr>
        <p:spPr>
          <a:xfrm>
            <a:off x="315739" y="4868820"/>
            <a:ext cx="3295251" cy="1152128"/>
          </a:xfrm>
          <a:prstGeom prst="wedgeRoundRectCallout">
            <a:avLst>
              <a:gd name="adj1" fmla="val 41736"/>
              <a:gd name="adj2" fmla="val -8634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バグが起きていますので、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フィールド全体を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見て欲しいのです。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23528" y="3605606"/>
            <a:ext cx="8208912" cy="30637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39552" y="230897"/>
            <a:ext cx="8252596" cy="1485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もう一つデバッグ用のカメラを作成すれば問題ないが、</a:t>
            </a:r>
            <a:br>
              <a:rPr lang="en-US" altLang="ja-JP" sz="2263" b="1" dirty="0"/>
            </a:br>
            <a:r>
              <a:rPr lang="ja-JP" altLang="en-US" sz="2263" b="1" dirty="0"/>
              <a:t>切り替えや管理などを</a:t>
            </a:r>
            <a:r>
              <a:rPr lang="en-US" altLang="ja-JP" sz="2263" b="1" dirty="0" err="1"/>
              <a:t>WinMain</a:t>
            </a:r>
            <a:r>
              <a:rPr lang="ja-JP" altLang="en-US" sz="2263" b="1" dirty="0"/>
              <a:t>関数で行うと、プログラムが</a:t>
            </a:r>
            <a:br>
              <a:rPr lang="en-US" altLang="ja-JP" sz="2263" b="1" dirty="0"/>
            </a:br>
            <a:r>
              <a:rPr lang="ja-JP" altLang="en-US" sz="2263" b="1" dirty="0"/>
              <a:t>煩雑になってしまうため、カメラの切り替えなどを行う</a:t>
            </a:r>
            <a:br>
              <a:rPr lang="en-US" altLang="ja-JP" sz="2263" b="1" dirty="0"/>
            </a:br>
            <a:r>
              <a:rPr lang="ja-JP" altLang="en-US" sz="2263" b="1" dirty="0"/>
              <a:t>マネージャクラスで行うようにする。</a:t>
            </a:r>
            <a:endParaRPr lang="en-US" altLang="ja-JP" sz="2263" b="1" dirty="0"/>
          </a:p>
        </p:txBody>
      </p:sp>
      <p:sp>
        <p:nvSpPr>
          <p:cNvPr id="10" name="角丸四角形吹き出し 9"/>
          <p:cNvSpPr/>
          <p:nvPr/>
        </p:nvSpPr>
        <p:spPr>
          <a:xfrm>
            <a:off x="323528" y="2277377"/>
            <a:ext cx="3391467" cy="1152128"/>
          </a:xfrm>
          <a:prstGeom prst="wedgeRoundRectCallout">
            <a:avLst>
              <a:gd name="adj1" fmla="val 67296"/>
              <a:gd name="adj2" fmla="val -3070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私が指示を出します。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今はプレイカメラが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仕事をしなさい。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004" y="1916832"/>
            <a:ext cx="1353691" cy="2131797"/>
          </a:xfrm>
          <a:prstGeom prst="rect">
            <a:avLst/>
          </a:prstGeom>
        </p:spPr>
      </p:pic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5004048" y="3211203"/>
            <a:ext cx="1656184" cy="78880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カメラ</a:t>
            </a:r>
            <a:br>
              <a:rPr lang="en-US" altLang="ja-JP" sz="2263" b="1" dirty="0"/>
            </a:br>
            <a:r>
              <a:rPr lang="ja-JP" altLang="en-US" sz="2263" b="1" dirty="0"/>
              <a:t>マネージャ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623034"/>
            <a:ext cx="1616968" cy="1616968"/>
          </a:xfrm>
          <a:prstGeom prst="rect">
            <a:avLst/>
          </a:prstGeom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2452659" y="6019717"/>
            <a:ext cx="1975325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MainCamera</a:t>
            </a:r>
            <a:endParaRPr lang="en-US" altLang="ja-JP" sz="2263" b="1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795" y="4618729"/>
            <a:ext cx="1358277" cy="1752615"/>
          </a:xfrm>
          <a:prstGeom prst="rect">
            <a:avLst/>
          </a:prstGeom>
        </p:spPr>
      </p:pic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6061933" y="6034891"/>
            <a:ext cx="221181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DebugCamera</a:t>
            </a:r>
            <a:endParaRPr lang="en-US" altLang="ja-JP" sz="2263" b="1" dirty="0"/>
          </a:p>
        </p:txBody>
      </p:sp>
      <p:sp>
        <p:nvSpPr>
          <p:cNvPr id="15" name="角丸四角形吹き出し 14"/>
          <p:cNvSpPr/>
          <p:nvPr/>
        </p:nvSpPr>
        <p:spPr>
          <a:xfrm>
            <a:off x="20833" y="5556093"/>
            <a:ext cx="1798305" cy="699083"/>
          </a:xfrm>
          <a:prstGeom prst="wedgeRoundRectCallout">
            <a:avLst>
              <a:gd name="adj1" fmla="val 67296"/>
              <a:gd name="adj2" fmla="val -30708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はい、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働きます。</a:t>
            </a:r>
          </a:p>
        </p:txBody>
      </p:sp>
      <p:sp>
        <p:nvSpPr>
          <p:cNvPr id="16" name="角丸四角形吹き出し 15"/>
          <p:cNvSpPr/>
          <p:nvPr/>
        </p:nvSpPr>
        <p:spPr>
          <a:xfrm>
            <a:off x="6741073" y="5159836"/>
            <a:ext cx="2225072" cy="699083"/>
          </a:xfrm>
          <a:prstGeom prst="wedgeRoundRectCallout">
            <a:avLst>
              <a:gd name="adj1" fmla="val -69020"/>
              <a:gd name="adj2" fmla="val -1122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指示があるまで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待ってます。</a:t>
            </a:r>
          </a:p>
        </p:txBody>
      </p:sp>
      <p:cxnSp>
        <p:nvCxnSpPr>
          <p:cNvPr id="18" name="直線コネクタ 17"/>
          <p:cNvCxnSpPr/>
          <p:nvPr/>
        </p:nvCxnSpPr>
        <p:spPr>
          <a:xfrm>
            <a:off x="4665849" y="4048225"/>
            <a:ext cx="0" cy="36143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9" name="直線コネクタ 18"/>
          <p:cNvCxnSpPr/>
          <p:nvPr/>
        </p:nvCxnSpPr>
        <p:spPr>
          <a:xfrm flipH="1">
            <a:off x="2452659" y="4402749"/>
            <a:ext cx="3609274" cy="6907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>
            <a:off x="2471709" y="4402749"/>
            <a:ext cx="0" cy="215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4" name="直線矢印コネクタ 23"/>
          <p:cNvCxnSpPr/>
          <p:nvPr/>
        </p:nvCxnSpPr>
        <p:spPr>
          <a:xfrm>
            <a:off x="6052408" y="4393224"/>
            <a:ext cx="0" cy="2159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071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A628E298-A0B0-4450-A4B3-7303BEF73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080" y="4990061"/>
            <a:ext cx="3645964" cy="15271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6C5DCE8-131C-48CA-A205-9FBF08254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2675" y="1260756"/>
            <a:ext cx="3071498" cy="23842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528819" y="332656"/>
            <a:ext cx="799288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カメラマネージャの作成</a:t>
            </a:r>
            <a:r>
              <a:rPr lang="en-US" altLang="ja-JP" sz="2263" b="1" dirty="0"/>
              <a:t>]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810994" y="734975"/>
            <a:ext cx="799288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①カメラ管理クラスのヘッダー、</a:t>
            </a:r>
            <a:r>
              <a:rPr lang="en-US" altLang="ja-JP" sz="2263" b="1" dirty="0" err="1"/>
              <a:t>cpp</a:t>
            </a:r>
            <a:r>
              <a:rPr lang="ja-JP" altLang="en-US" sz="2263" b="1" dirty="0"/>
              <a:t>を作成する。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2" name="角丸四角形吹き出し 11"/>
          <p:cNvSpPr/>
          <p:nvPr/>
        </p:nvSpPr>
        <p:spPr>
          <a:xfrm>
            <a:off x="971600" y="1494430"/>
            <a:ext cx="4248472" cy="1152128"/>
          </a:xfrm>
          <a:prstGeom prst="wedgeRoundRectCallout">
            <a:avLst>
              <a:gd name="adj1" fmla="val 68302"/>
              <a:gd name="adj2" fmla="val -1914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カメラを管理するので「</a:t>
            </a:r>
            <a:r>
              <a:rPr lang="en-US" altLang="ja-JP" sz="2000" b="1" dirty="0">
                <a:latin typeface="ＭＳ Ｐゴシック"/>
              </a:rPr>
              <a:t>Camera</a:t>
            </a:r>
            <a:r>
              <a:rPr lang="ja-JP" altLang="en-US" sz="2000" b="1" dirty="0">
                <a:latin typeface="ＭＳ Ｐゴシック"/>
              </a:rPr>
              <a:t>」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フォルダに登録。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実際の置き場も同じにしておこう！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971600" y="4312082"/>
            <a:ext cx="7992888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</a:t>
            </a:r>
            <a:r>
              <a:rPr lang="en-US" altLang="ja-JP" sz="2263" b="1" dirty="0" err="1"/>
              <a:t>CameraManager.h</a:t>
            </a:r>
            <a:r>
              <a:rPr lang="ja-JP" altLang="en-US" sz="2263" b="1" dirty="0"/>
              <a:t>でクラスを作成する。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0" name="角丸四角形吹き出し 9"/>
          <p:cNvSpPr/>
          <p:nvPr/>
        </p:nvSpPr>
        <p:spPr>
          <a:xfrm>
            <a:off x="5220072" y="5445323"/>
            <a:ext cx="3451797" cy="791989"/>
          </a:xfrm>
          <a:prstGeom prst="wedgeRoundRectCallout">
            <a:avLst>
              <a:gd name="adj1" fmla="val -65416"/>
              <a:gd name="adj2" fmla="val -3940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ja-JP" sz="2000" b="1" dirty="0" err="1">
                <a:latin typeface="ＭＳ Ｐゴシック"/>
              </a:rPr>
              <a:t>MainCamera</a:t>
            </a:r>
            <a:r>
              <a:rPr lang="ja-JP" altLang="en-US" sz="2000" b="1" dirty="0">
                <a:latin typeface="ＭＳ Ｐゴシック"/>
              </a:rPr>
              <a:t>を使うので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先にインクルードをしておく。</a:t>
            </a:r>
          </a:p>
        </p:txBody>
      </p:sp>
    </p:spTree>
    <p:extLst>
      <p:ext uri="{BB962C8B-B14F-4D97-AF65-F5344CB8AC3E}">
        <p14:creationId xmlns:p14="http://schemas.microsoft.com/office/powerpoint/2010/main" val="2202456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67544" y="164774"/>
            <a:ext cx="821964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③カメラのタイプを管理する列挙体を用意する。</a:t>
            </a:r>
            <a:br>
              <a:rPr lang="en-US" altLang="ja-JP" sz="2263" b="1" dirty="0"/>
            </a:br>
            <a:r>
              <a:rPr lang="ja-JP" altLang="en-US" sz="2263" b="1" dirty="0"/>
              <a:t>　 今回はクラス内部に記述してＯＫ。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755576" y="1033712"/>
            <a:ext cx="280831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CameraManager.h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B0FCBF7-36FF-4688-AD4F-35A64B27A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1554414"/>
            <a:ext cx="6336704" cy="27614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角丸四角形吹き出し 5">
            <a:extLst>
              <a:ext uri="{FF2B5EF4-FFF2-40B4-BE49-F238E27FC236}">
                <a16:creationId xmlns:a16="http://schemas.microsoft.com/office/drawing/2014/main" id="{54C356D5-6155-44E6-85B6-451601D844CF}"/>
              </a:ext>
            </a:extLst>
          </p:cNvPr>
          <p:cNvSpPr/>
          <p:nvPr/>
        </p:nvSpPr>
        <p:spPr>
          <a:xfrm>
            <a:off x="3530435" y="5015554"/>
            <a:ext cx="5483341" cy="1152128"/>
          </a:xfrm>
          <a:prstGeom prst="wedgeRoundRectCallout">
            <a:avLst>
              <a:gd name="adj1" fmla="val -61382"/>
              <a:gd name="adj2" fmla="val -29825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今回はメインカメラとデバッグカメラの</a:t>
            </a:r>
            <a:r>
              <a:rPr lang="en-US" altLang="ja-JP" sz="2000" b="1" dirty="0">
                <a:latin typeface="ＭＳ Ｐゴシック"/>
              </a:rPr>
              <a:t>2</a:t>
            </a:r>
            <a:r>
              <a:rPr lang="ja-JP" altLang="en-US" sz="2000" b="1" dirty="0">
                <a:latin typeface="ＭＳ Ｐゴシック"/>
              </a:rPr>
              <a:t>個ですが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さらに他のカメラが必要なら増やしましょう！</a:t>
            </a:r>
          </a:p>
        </p:txBody>
      </p:sp>
      <p:pic>
        <p:nvPicPr>
          <p:cNvPr id="1026" name="Picture 2" descr="猫の写真を撮る人のイラスト">
            <a:extLst>
              <a:ext uri="{FF2B5EF4-FFF2-40B4-BE49-F238E27FC236}">
                <a16:creationId xmlns:a16="http://schemas.microsoft.com/office/drawing/2014/main" id="{D5909990-0C66-4EF3-AB4F-1A5DADEFF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2" y="4683986"/>
            <a:ext cx="2597972" cy="1697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29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472BA32-7E5D-4EF6-B66B-F43E3833D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474" y="1844824"/>
            <a:ext cx="5921052" cy="36724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467544" y="164774"/>
            <a:ext cx="821964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④メンバ変数と、</a:t>
            </a:r>
            <a:r>
              <a:rPr lang="en-US" altLang="ja-JP" sz="2263" b="1" dirty="0" err="1"/>
              <a:t>MainCamera</a:t>
            </a:r>
            <a:r>
              <a:rPr lang="ja-JP" altLang="en-US" sz="2263" b="1" dirty="0"/>
              <a:t>クラスで使うメソッドと</a:t>
            </a:r>
            <a:br>
              <a:rPr lang="en-US" altLang="ja-JP" sz="2263" b="1" dirty="0"/>
            </a:br>
            <a:r>
              <a:rPr lang="ja-JP" altLang="en-US" sz="2263" b="1" dirty="0"/>
              <a:t>　 同じメソッドを用意する。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6" name="角丸四角形吹き出し 5"/>
          <p:cNvSpPr/>
          <p:nvPr/>
        </p:nvSpPr>
        <p:spPr>
          <a:xfrm>
            <a:off x="5220072" y="2780928"/>
            <a:ext cx="3827157" cy="1152128"/>
          </a:xfrm>
          <a:prstGeom prst="wedgeRoundRectCallout">
            <a:avLst>
              <a:gd name="adj1" fmla="val -68711"/>
              <a:gd name="adj2" fmla="val -5628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クラスの中のメンバ変数に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クラスを追加しても大丈夫！！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EC89C7AD-EB02-45C6-977A-4C78B77B0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260238"/>
            <a:ext cx="280831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CameraManager.h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971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>
            <a:extLst>
              <a:ext uri="{FF2B5EF4-FFF2-40B4-BE49-F238E27FC236}">
                <a16:creationId xmlns:a16="http://schemas.microsoft.com/office/drawing/2014/main" id="{90819BB3-BBD9-4CBF-88CC-18EEEA9513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260648"/>
            <a:ext cx="821964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⑤</a:t>
            </a:r>
            <a:r>
              <a:rPr lang="en-US" altLang="ja-JP" sz="2263" b="1" dirty="0" err="1"/>
              <a:t>cpp</a:t>
            </a:r>
            <a:r>
              <a:rPr lang="ja-JP" altLang="en-US" sz="2263" b="1" dirty="0"/>
              <a:t>の方にメソッドの中身を記述していく。</a:t>
            </a:r>
            <a:br>
              <a:rPr lang="en-US" altLang="ja-JP" sz="2263" b="1" dirty="0"/>
            </a:br>
            <a:r>
              <a:rPr lang="ja-JP" altLang="en-US" sz="2263" b="1" dirty="0"/>
              <a:t>　 基本的には</a:t>
            </a:r>
            <a:r>
              <a:rPr lang="en-US" altLang="ja-JP" sz="2263" b="1" dirty="0" err="1"/>
              <a:t>MainCamera</a:t>
            </a:r>
            <a:r>
              <a:rPr lang="ja-JP" altLang="en-US" sz="2263" b="1" dirty="0"/>
              <a:t>のメソッドを呼ぶだけ。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1B0E7A80-5177-4878-B5BB-70FCCD461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260238"/>
            <a:ext cx="3096344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CameraManager.cpp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E6E44C8-0984-4DB0-A87C-6163BC81E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0" y="1911592"/>
            <a:ext cx="3789297" cy="31015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A9093F3-D08D-4328-90A6-F714F465B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1137" y="1480192"/>
            <a:ext cx="4077281" cy="49411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角丸四角形吹き出し 6">
            <a:extLst>
              <a:ext uri="{FF2B5EF4-FFF2-40B4-BE49-F238E27FC236}">
                <a16:creationId xmlns:a16="http://schemas.microsoft.com/office/drawing/2014/main" id="{E06D05B6-9F21-4CC8-A2B9-91B6CB46D1D3}"/>
              </a:ext>
            </a:extLst>
          </p:cNvPr>
          <p:cNvSpPr/>
          <p:nvPr/>
        </p:nvSpPr>
        <p:spPr>
          <a:xfrm>
            <a:off x="1209167" y="5127090"/>
            <a:ext cx="3360200" cy="941344"/>
          </a:xfrm>
          <a:prstGeom prst="wedgeRoundRectCallout">
            <a:avLst>
              <a:gd name="adj1" fmla="val -56106"/>
              <a:gd name="adj2" fmla="val 34966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分かってきた。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デバッグカメラクラスを作って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切り替えるつもりだね！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3A07521E-F6C2-40B4-B493-66F1D95E15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0" y="5517232"/>
            <a:ext cx="1187663" cy="118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17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67544" y="164774"/>
            <a:ext cx="821964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⑥外部でカメラのタイプを変更・確認できるように、</a:t>
            </a:r>
            <a:br>
              <a:rPr lang="en-US" altLang="ja-JP" sz="2263" b="1" dirty="0"/>
            </a:br>
            <a:r>
              <a:rPr lang="ja-JP" altLang="en-US" sz="2263" b="1" dirty="0"/>
              <a:t>　 アクセサを用意する。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4221088"/>
            <a:ext cx="3433823" cy="2983611"/>
          </a:xfrm>
          <a:prstGeom prst="rect">
            <a:avLst/>
          </a:prstGeom>
        </p:spPr>
      </p:pic>
      <p:sp>
        <p:nvSpPr>
          <p:cNvPr id="10" name="角丸四角形吹き出し 9"/>
          <p:cNvSpPr/>
          <p:nvPr/>
        </p:nvSpPr>
        <p:spPr>
          <a:xfrm>
            <a:off x="461831" y="3356992"/>
            <a:ext cx="3368852" cy="1152128"/>
          </a:xfrm>
          <a:prstGeom prst="wedgeRoundRectCallout">
            <a:avLst>
              <a:gd name="adj1" fmla="val 38165"/>
              <a:gd name="adj2" fmla="val 80484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これで基本的な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カメラマネージャクラスは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完成だねー</a:t>
            </a:r>
          </a:p>
        </p:txBody>
      </p:sp>
      <p:sp>
        <p:nvSpPr>
          <p:cNvPr id="11" name="角丸四角形吹き出し 10"/>
          <p:cNvSpPr/>
          <p:nvPr/>
        </p:nvSpPr>
        <p:spPr>
          <a:xfrm>
            <a:off x="5587466" y="3373949"/>
            <a:ext cx="3368852" cy="1152128"/>
          </a:xfrm>
          <a:prstGeom prst="wedgeRoundRectCallout">
            <a:avLst>
              <a:gd name="adj1" fmla="val -31136"/>
              <a:gd name="adj2" fmla="val 83861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後はメイン関数の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 err="1">
                <a:latin typeface="ＭＳ Ｐゴシック"/>
              </a:rPr>
              <a:t>MainCamera</a:t>
            </a:r>
            <a:r>
              <a:rPr lang="ja-JP" altLang="en-US" sz="2000" b="1" dirty="0">
                <a:latin typeface="ＭＳ Ｐゴシック"/>
              </a:rPr>
              <a:t>と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差し替えていくだけだねー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F8C60781-DB36-4144-8CDA-FFBC1CE2C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39" y="1185865"/>
            <a:ext cx="2757541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 err="1"/>
              <a:t>CameraManager.h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F58A19DF-C355-4912-9BEC-569802C4CA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591" y="1788000"/>
            <a:ext cx="7898602" cy="11521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361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467544" y="396142"/>
            <a:ext cx="8219645" cy="788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⑦メイン関数のカメラ処理を、カメラマネージャに差し替える。</a:t>
            </a:r>
            <a:br>
              <a:rPr lang="en-US" altLang="ja-JP" sz="2263" b="1" dirty="0"/>
            </a:br>
            <a:r>
              <a:rPr lang="en-US" altLang="ja-JP" sz="2263" b="1" dirty="0"/>
              <a:t> </a:t>
            </a:r>
            <a:r>
              <a:rPr lang="ja-JP" altLang="en-US" sz="2263" b="1" dirty="0"/>
              <a:t>　今のところ、クラス名を変更するだけでうまくいくはず！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51E933BF-3083-4587-B4BD-63B497354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556792"/>
            <a:ext cx="1512168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Main.cpp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893FA47-6965-458D-9C5B-F04594094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2132856"/>
            <a:ext cx="4043527" cy="21602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0EBB8E5-ABF7-4A6B-9A9E-3EC27ED9C1EC}"/>
              </a:ext>
            </a:extLst>
          </p:cNvPr>
          <p:cNvCxnSpPr/>
          <p:nvPr/>
        </p:nvCxnSpPr>
        <p:spPr>
          <a:xfrm>
            <a:off x="1331640" y="2941878"/>
            <a:ext cx="208823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角丸四角形吹き出し 9">
            <a:extLst>
              <a:ext uri="{FF2B5EF4-FFF2-40B4-BE49-F238E27FC236}">
                <a16:creationId xmlns:a16="http://schemas.microsoft.com/office/drawing/2014/main" id="{D0528680-F455-48AE-8F60-CE6092F0D3DC}"/>
              </a:ext>
            </a:extLst>
          </p:cNvPr>
          <p:cNvSpPr/>
          <p:nvPr/>
        </p:nvSpPr>
        <p:spPr>
          <a:xfrm>
            <a:off x="2987824" y="4664940"/>
            <a:ext cx="5972219" cy="1796918"/>
          </a:xfrm>
          <a:prstGeom prst="wedgeRoundRectCallout">
            <a:avLst>
              <a:gd name="adj1" fmla="val -63604"/>
              <a:gd name="adj2" fmla="val 12620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型名を変更しただけで差し替え完了</a:t>
            </a:r>
            <a:r>
              <a:rPr lang="en-US" altLang="ja-JP" sz="2000" b="1" dirty="0">
                <a:latin typeface="ＭＳ Ｐゴシック"/>
              </a:rPr>
              <a:t>!?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でも、よく考えたら</a:t>
            </a:r>
            <a:r>
              <a:rPr lang="en-US" altLang="ja-JP" sz="2000" b="1" dirty="0" err="1">
                <a:latin typeface="ＭＳ Ｐゴシック"/>
              </a:rPr>
              <a:t>MainCamera</a:t>
            </a:r>
            <a:r>
              <a:rPr lang="ja-JP" altLang="en-US" sz="2000" b="1" dirty="0">
                <a:latin typeface="ＭＳ Ｐゴシック"/>
              </a:rPr>
              <a:t>の機能に合わせて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 err="1">
                <a:latin typeface="ＭＳ Ｐゴシック"/>
              </a:rPr>
              <a:t>CameraManager</a:t>
            </a:r>
            <a:r>
              <a:rPr lang="ja-JP" altLang="en-US" sz="2000" b="1" dirty="0">
                <a:latin typeface="ＭＳ Ｐゴシック"/>
              </a:rPr>
              <a:t>クラスを作ったから当然か。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デバッグカメラクラスを作るなら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追加で必要なメソッドとか出るかも？</a:t>
            </a:r>
          </a:p>
        </p:txBody>
      </p:sp>
      <p:pic>
        <p:nvPicPr>
          <p:cNvPr id="1026" name="Picture 2" descr="驚いているおばさんのイラスト">
            <a:extLst>
              <a:ext uri="{FF2B5EF4-FFF2-40B4-BE49-F238E27FC236}">
                <a16:creationId xmlns:a16="http://schemas.microsoft.com/office/drawing/2014/main" id="{C4A283C6-890B-4B92-8501-BDB2C4B09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57" y="4428589"/>
            <a:ext cx="2335235" cy="2300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713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409476" y="1557338"/>
            <a:ext cx="8640959" cy="4793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デバッグ用に使用する、以下の条件を満たすカメラ処理を作成し、</a:t>
            </a:r>
            <a:br>
              <a:rPr lang="en-US" altLang="ja-JP" sz="2263" b="1" dirty="0"/>
            </a:br>
            <a:r>
              <a:rPr lang="en-US" altLang="ja-JP" sz="2263" b="1" dirty="0" err="1"/>
              <a:t>CameraManager</a:t>
            </a:r>
            <a:r>
              <a:rPr lang="ja-JP" altLang="en-US" sz="2263" b="1" dirty="0"/>
              <a:t>クラスに追加しなさい。</a:t>
            </a:r>
            <a:endParaRPr lang="en-US" altLang="ja-JP" sz="2263" b="1" dirty="0"/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○「Ｃキー」を入力すると、デバッグカメラに変更される。</a:t>
            </a:r>
            <a:br>
              <a:rPr lang="en-US" altLang="ja-JP" sz="2263" b="1" dirty="0"/>
            </a:br>
            <a:r>
              <a:rPr lang="ja-JP" altLang="en-US" sz="2263" b="1" dirty="0"/>
              <a:t>○「Ｖキー」を入力すると、通常カメラに変更される。</a:t>
            </a:r>
            <a:br>
              <a:rPr lang="en-US" altLang="ja-JP" sz="2263" b="1" dirty="0"/>
            </a:br>
            <a:r>
              <a:rPr lang="ja-JP" altLang="en-US" sz="2263" b="1" dirty="0"/>
              <a:t>○デバッグカメラ変更時には、プレイカメラの位置から開始する。</a:t>
            </a:r>
            <a:br>
              <a:rPr lang="en-US" altLang="ja-JP" sz="2263" b="1" dirty="0"/>
            </a:br>
            <a:r>
              <a:rPr lang="ja-JP" altLang="en-US" sz="2263" b="1" dirty="0"/>
              <a:t>　 なお、今回は角度を使った</a:t>
            </a:r>
            <a:r>
              <a:rPr lang="en-US" altLang="ja-JP" sz="2263" b="1" dirty="0" err="1">
                <a:solidFill>
                  <a:srgbClr val="FF0000"/>
                </a:solidFill>
              </a:rPr>
              <a:t>SetCameraPositionAndAngle</a:t>
            </a:r>
            <a:r>
              <a:rPr lang="en-US" altLang="ja-JP" sz="2263" b="1" dirty="0">
                <a:solidFill>
                  <a:srgbClr val="FF0000"/>
                </a:solidFill>
              </a:rPr>
              <a:t>()</a:t>
            </a:r>
            <a:br>
              <a:rPr lang="en-US" altLang="ja-JP" sz="2263" b="1" dirty="0"/>
            </a:br>
            <a:r>
              <a:rPr lang="ja-JP" altLang="en-US" sz="2263" b="1" dirty="0"/>
              <a:t>　 のほうを使用することをお勧めする。</a:t>
            </a:r>
            <a:br>
              <a:rPr lang="en-US" altLang="ja-JP" sz="2263" b="1" dirty="0"/>
            </a:br>
            <a:r>
              <a:rPr lang="ja-JP" altLang="en-US" sz="2263" b="1" dirty="0"/>
              <a:t>○デバッグカメラモードの際は以下の三つを画面に表示する。</a:t>
            </a:r>
            <a:br>
              <a:rPr lang="en-US" altLang="ja-JP" sz="2263" b="1" dirty="0"/>
            </a:br>
            <a:r>
              <a:rPr lang="ja-JP" altLang="en-US" sz="2263" b="1" dirty="0"/>
              <a:t>　　・画面左上に文字で「デバッグカメラモード」と表示する。</a:t>
            </a:r>
            <a:br>
              <a:rPr lang="en-US" altLang="ja-JP" sz="2263" b="1" dirty="0"/>
            </a:br>
            <a:r>
              <a:rPr lang="ja-JP" altLang="en-US" sz="2263" b="1" dirty="0"/>
              <a:t>　　・その下に、「視点の座標」「角度</a:t>
            </a:r>
            <a:r>
              <a:rPr lang="en-US" altLang="ja-JP" sz="2263" b="1" dirty="0"/>
              <a:t>(</a:t>
            </a:r>
            <a:r>
              <a:rPr lang="en-US" altLang="ja-JP" sz="2263" b="1" dirty="0" err="1"/>
              <a:t>x,y,z</a:t>
            </a:r>
            <a:r>
              <a:rPr lang="en-US" altLang="ja-JP" sz="2263" b="1" dirty="0"/>
              <a:t>)</a:t>
            </a:r>
            <a:r>
              <a:rPr lang="ja-JP" altLang="en-US" sz="2263" b="1" dirty="0"/>
              <a:t>」を表示する。</a:t>
            </a:r>
            <a:br>
              <a:rPr lang="en-US" altLang="ja-JP" sz="2263" b="1" dirty="0"/>
            </a:br>
            <a:r>
              <a:rPr lang="ja-JP" altLang="en-US" sz="2263" b="1" dirty="0"/>
              <a:t>　　　なお、角度は人間に分かりやすいよう度数にする事。</a:t>
            </a:r>
            <a:br>
              <a:rPr lang="en-US" altLang="ja-JP" sz="2263" b="1" dirty="0"/>
            </a:br>
            <a:r>
              <a:rPr lang="ja-JP" altLang="en-US" sz="2263" b="1" dirty="0"/>
              <a:t>　　これらを表示するためにカメラマネージャクラスに</a:t>
            </a:r>
            <a:r>
              <a:rPr lang="en-US" altLang="ja-JP" sz="2263" b="1" dirty="0"/>
              <a:t>Draw</a:t>
            </a:r>
            <a:r>
              <a:rPr lang="ja-JP" altLang="en-US" sz="2263" b="1" dirty="0"/>
              <a:t>メソッドを</a:t>
            </a:r>
            <a:br>
              <a:rPr lang="en-US" altLang="ja-JP" sz="2263" b="1" dirty="0"/>
            </a:br>
            <a:r>
              <a:rPr lang="ja-JP" altLang="en-US" sz="2263" b="1" dirty="0"/>
              <a:t>　　追加するとよい。</a:t>
            </a:r>
            <a:endParaRPr lang="en-US" altLang="ja-JP" sz="2263" b="1" dirty="0"/>
          </a:p>
        </p:txBody>
      </p:sp>
    </p:spTree>
    <p:extLst>
      <p:ext uri="{BB962C8B-B14F-4D97-AF65-F5344CB8AC3E}">
        <p14:creationId xmlns:p14="http://schemas.microsoft.com/office/powerpoint/2010/main" val="540005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作ってみよう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b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</a:b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(</a:t>
            </a: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続き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)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409476" y="1557338"/>
            <a:ext cx="8640959" cy="4967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【</a:t>
            </a:r>
            <a:r>
              <a:rPr lang="ja-JP" altLang="en-US" sz="2263" b="1" dirty="0"/>
              <a:t>デバッグカメラ時のカメラ操作</a:t>
            </a:r>
            <a:r>
              <a:rPr lang="en-US" altLang="ja-JP" sz="2263" b="1" dirty="0"/>
              <a:t>】</a:t>
            </a:r>
            <a:br>
              <a:rPr lang="en-US" altLang="ja-JP" sz="2263" b="1" dirty="0"/>
            </a:br>
            <a:r>
              <a:rPr lang="ja-JP" altLang="en-US" sz="2263" b="1" dirty="0"/>
              <a:t>○</a:t>
            </a:r>
            <a:r>
              <a:rPr lang="en-US" altLang="ja-JP" sz="2263" b="1" dirty="0"/>
              <a:t>W</a:t>
            </a:r>
            <a:r>
              <a:rPr lang="ja-JP" altLang="en-US" sz="2263" b="1" dirty="0"/>
              <a:t>キー・・・カメラが向いている方向へ前進</a:t>
            </a:r>
            <a:br>
              <a:rPr lang="en-US" altLang="ja-JP" sz="2263" b="1" dirty="0"/>
            </a:br>
            <a:r>
              <a:rPr lang="ja-JP" altLang="en-US" sz="2263" b="1" dirty="0"/>
              <a:t>○</a:t>
            </a:r>
            <a:r>
              <a:rPr lang="en-US" altLang="ja-JP" sz="2263" b="1" dirty="0"/>
              <a:t>S</a:t>
            </a:r>
            <a:r>
              <a:rPr lang="ja-JP" altLang="en-US" sz="2263" b="1" dirty="0"/>
              <a:t>キー・・・カメラが向いている方向から後退</a:t>
            </a:r>
            <a:br>
              <a:rPr lang="en-US" altLang="ja-JP" sz="2263" b="1" dirty="0"/>
            </a:br>
            <a:r>
              <a:rPr lang="ja-JP" altLang="en-US" sz="2263" b="1" dirty="0"/>
              <a:t>○</a:t>
            </a:r>
            <a:r>
              <a:rPr lang="en-US" altLang="ja-JP" sz="2263" b="1" dirty="0"/>
              <a:t>A</a:t>
            </a:r>
            <a:r>
              <a:rPr lang="ja-JP" altLang="en-US" sz="2263" b="1" dirty="0"/>
              <a:t>キー・・・カメラが向いている方向から左方向へ移動</a:t>
            </a:r>
            <a:br>
              <a:rPr lang="en-US" altLang="ja-JP" sz="2263" b="1" dirty="0"/>
            </a:br>
            <a:r>
              <a:rPr lang="ja-JP" altLang="en-US" sz="2263" b="1" dirty="0"/>
              <a:t>○</a:t>
            </a:r>
            <a:r>
              <a:rPr lang="en-US" altLang="ja-JP" sz="2263" b="1" dirty="0"/>
              <a:t>D</a:t>
            </a:r>
            <a:r>
              <a:rPr lang="ja-JP" altLang="en-US" sz="2263" b="1" dirty="0"/>
              <a:t>キー・・・カメラが向いている方向から右方向へ移動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>
                <a:solidFill>
                  <a:srgbClr val="FF0000"/>
                </a:solidFill>
              </a:rPr>
              <a:t>※</a:t>
            </a:r>
            <a:r>
              <a:rPr lang="ja-JP" altLang="en-US" sz="2263" b="1" dirty="0">
                <a:solidFill>
                  <a:srgbClr val="FF0000"/>
                </a:solidFill>
              </a:rPr>
              <a:t>カメラが移動しても、視点と注視点の距離は変わらないようにする。</a:t>
            </a:r>
            <a:br>
              <a:rPr lang="en-US" altLang="ja-JP" sz="2263" b="1" dirty="0"/>
            </a:br>
            <a:br>
              <a:rPr lang="en-US" altLang="ja-JP" sz="2263" b="1" dirty="0"/>
            </a:br>
            <a:r>
              <a:rPr lang="ja-JP" altLang="en-US" sz="2263" b="1" dirty="0"/>
              <a:t>○上キー・・・カメラの注視点を上へ移動</a:t>
            </a:r>
            <a:br>
              <a:rPr lang="en-US" altLang="ja-JP" sz="2263" b="1" dirty="0"/>
            </a:br>
            <a:r>
              <a:rPr lang="ja-JP" altLang="en-US" sz="2263" b="1" dirty="0"/>
              <a:t>○下キー・・・カメラの注視点を下へ移動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>
                <a:solidFill>
                  <a:srgbClr val="FF0000"/>
                </a:solidFill>
              </a:rPr>
              <a:t>※</a:t>
            </a:r>
            <a:r>
              <a:rPr lang="ja-JP" altLang="en-US" sz="2263" b="1" dirty="0">
                <a:solidFill>
                  <a:srgbClr val="FF0000"/>
                </a:solidFill>
              </a:rPr>
              <a:t>回転角度は</a:t>
            </a:r>
            <a:r>
              <a:rPr lang="en-US" altLang="ja-JP" sz="2263" b="1" dirty="0">
                <a:solidFill>
                  <a:srgbClr val="FF0000"/>
                </a:solidFill>
              </a:rPr>
              <a:t>-90</a:t>
            </a:r>
            <a:r>
              <a:rPr lang="ja-JP" altLang="en-US" sz="2263" b="1" dirty="0">
                <a:solidFill>
                  <a:srgbClr val="FF0000"/>
                </a:solidFill>
              </a:rPr>
              <a:t>度から</a:t>
            </a:r>
            <a:r>
              <a:rPr lang="en-US" altLang="ja-JP" sz="2263" b="1" dirty="0">
                <a:solidFill>
                  <a:srgbClr val="FF0000"/>
                </a:solidFill>
              </a:rPr>
              <a:t>90</a:t>
            </a:r>
            <a:r>
              <a:rPr lang="ja-JP" altLang="en-US" sz="2263" b="1">
                <a:solidFill>
                  <a:srgbClr val="FF0000"/>
                </a:solidFill>
              </a:rPr>
              <a:t>度にする事。</a:t>
            </a:r>
            <a:br>
              <a:rPr lang="en-US" altLang="ja-JP" sz="2263" b="1" dirty="0">
                <a:solidFill>
                  <a:srgbClr val="FF0000"/>
                </a:solidFill>
              </a:rPr>
            </a:br>
            <a:br>
              <a:rPr lang="en-US" altLang="ja-JP" sz="2263" b="1" dirty="0"/>
            </a:br>
            <a:r>
              <a:rPr lang="ja-JP" altLang="en-US" sz="2263" b="1" dirty="0"/>
              <a:t>○左キー・・・カメラの注視点を左回転させる</a:t>
            </a:r>
            <a:br>
              <a:rPr lang="en-US" altLang="ja-JP" sz="2263" b="1" dirty="0"/>
            </a:br>
            <a:r>
              <a:rPr lang="ja-JP" altLang="en-US" sz="2263" b="1" dirty="0"/>
              <a:t>○右キー・・・カメラの注視点を右回転させる</a:t>
            </a:r>
            <a:br>
              <a:rPr lang="en-US" altLang="ja-JP" sz="2263" b="1" dirty="0"/>
            </a:br>
            <a:r>
              <a:rPr lang="ja-JP" altLang="en-US" sz="2263" b="1" dirty="0"/>
              <a:t>　</a:t>
            </a:r>
            <a:r>
              <a:rPr lang="en-US" altLang="ja-JP" sz="2263" b="1" dirty="0">
                <a:solidFill>
                  <a:srgbClr val="FF0000"/>
                </a:solidFill>
              </a:rPr>
              <a:t>※</a:t>
            </a:r>
            <a:r>
              <a:rPr lang="ja-JP" altLang="en-US" sz="2263" b="1" dirty="0">
                <a:solidFill>
                  <a:srgbClr val="FF0000"/>
                </a:solidFill>
              </a:rPr>
              <a:t>キーをずっと押しているとグルグルと回転するようにする。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69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ヒント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409476" y="1557338"/>
            <a:ext cx="8640959" cy="1659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①まずは</a:t>
            </a:r>
            <a:r>
              <a:rPr lang="en-US" altLang="ja-JP" sz="2263" b="1" dirty="0" err="1"/>
              <a:t>MainCamera</a:t>
            </a:r>
            <a:r>
              <a:rPr lang="ja-JP" altLang="en-US" sz="2263" b="1" dirty="0"/>
              <a:t>クラスをコピーして、カメラマネージャクラスに</a:t>
            </a:r>
            <a:br>
              <a:rPr lang="en-US" altLang="ja-JP" sz="2263" b="1" dirty="0"/>
            </a:br>
            <a:r>
              <a:rPr lang="ja-JP" altLang="en-US" sz="2263" b="1" dirty="0"/>
              <a:t>　 </a:t>
            </a:r>
            <a:r>
              <a:rPr lang="en-US" altLang="ja-JP" sz="2263" b="1" dirty="0" err="1"/>
              <a:t>DebugCamera</a:t>
            </a:r>
            <a:r>
              <a:rPr lang="ja-JP" altLang="en-US" sz="2263" b="1" dirty="0"/>
              <a:t>クラスを記述していこう。</a:t>
            </a:r>
            <a:br>
              <a:rPr lang="en-US" altLang="ja-JP" sz="2263" b="1" dirty="0"/>
            </a:br>
            <a:r>
              <a:rPr lang="ja-JP" altLang="en-US" sz="2263" b="1" dirty="0"/>
              <a:t>　 最初はメソッドも同じで</a:t>
            </a:r>
            <a:r>
              <a:rPr lang="en-US" altLang="ja-JP" sz="2263" b="1" dirty="0"/>
              <a:t>OK</a:t>
            </a:r>
            <a:r>
              <a:rPr lang="ja-JP" altLang="en-US" sz="2263" b="1" dirty="0" err="1"/>
              <a:t>。</a:t>
            </a:r>
            <a:endParaRPr lang="en-US" altLang="ja-JP" sz="2263" b="1" dirty="0"/>
          </a:p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②デバッグ情報を表示するために、</a:t>
            </a:r>
            <a:r>
              <a:rPr lang="en-US" altLang="ja-JP" sz="2263" b="1" dirty="0"/>
              <a:t>Draw</a:t>
            </a:r>
            <a:r>
              <a:rPr lang="ja-JP" altLang="en-US" sz="2263" b="1" dirty="0"/>
              <a:t>メソッドを追加しよう。</a:t>
            </a:r>
            <a:endParaRPr lang="en-US" altLang="ja-JP" sz="2263" b="1" dirty="0"/>
          </a:p>
        </p:txBody>
      </p:sp>
      <p:sp>
        <p:nvSpPr>
          <p:cNvPr id="4" name="角丸四角形吹き出し 3"/>
          <p:cNvSpPr/>
          <p:nvPr/>
        </p:nvSpPr>
        <p:spPr>
          <a:xfrm>
            <a:off x="3347864" y="4117514"/>
            <a:ext cx="4968552" cy="1687750"/>
          </a:xfrm>
          <a:prstGeom prst="wedgeRoundRectCallout">
            <a:avLst>
              <a:gd name="adj1" fmla="val -59073"/>
              <a:gd name="adj2" fmla="val 476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と、言う事はカメラマネージャクラスにも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Draw</a:t>
            </a:r>
            <a:r>
              <a:rPr lang="ja-JP" altLang="en-US" sz="2000" b="1" dirty="0">
                <a:latin typeface="ＭＳ Ｐゴシック"/>
              </a:rPr>
              <a:t>メソッドが必要か・・・。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>
                <a:latin typeface="ＭＳ Ｐゴシック"/>
              </a:rPr>
              <a:t>Step</a:t>
            </a:r>
            <a:r>
              <a:rPr lang="ja-JP" altLang="en-US" sz="2000" b="1" dirty="0">
                <a:latin typeface="ＭＳ Ｐゴシック"/>
              </a:rPr>
              <a:t>と同じように</a:t>
            </a:r>
            <a:r>
              <a:rPr lang="en-US" altLang="ja-JP" sz="2000" b="1" dirty="0">
                <a:latin typeface="ＭＳ Ｐゴシック"/>
              </a:rPr>
              <a:t>switch</a:t>
            </a:r>
            <a:r>
              <a:rPr lang="ja-JP" altLang="en-US" sz="2000" b="1" dirty="0">
                <a:latin typeface="ＭＳ Ｐゴシック"/>
              </a:rPr>
              <a:t>文を使うけど</a:t>
            </a:r>
            <a:br>
              <a:rPr lang="en-US" altLang="ja-JP" sz="2000" b="1" dirty="0">
                <a:latin typeface="ＭＳ Ｐゴシック"/>
              </a:rPr>
            </a:br>
            <a:r>
              <a:rPr lang="en-US" altLang="ja-JP" sz="2000" b="1" dirty="0" err="1">
                <a:latin typeface="ＭＳ Ｐゴシック"/>
              </a:rPr>
              <a:t>MainCamera</a:t>
            </a:r>
            <a:r>
              <a:rPr lang="ja-JP" altLang="en-US" sz="2000" b="1" dirty="0">
                <a:latin typeface="ＭＳ Ｐゴシック"/>
              </a:rPr>
              <a:t>の方は何もしないでいいかな。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3666041"/>
            <a:ext cx="1789382" cy="226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89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ヒント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409476" y="1557338"/>
            <a:ext cx="8640959" cy="42711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③この段階でカメラの切り替え処理を入れると作りやすい</a:t>
            </a:r>
            <a:r>
              <a:rPr lang="en-US" altLang="ja-JP" sz="2263" b="1" dirty="0"/>
              <a:t>(</a:t>
            </a:r>
            <a:r>
              <a:rPr lang="ja-JP" altLang="en-US" sz="2263" b="1" dirty="0"/>
              <a:t>はず</a:t>
            </a:r>
            <a:r>
              <a:rPr lang="en-US" altLang="ja-JP" sz="2263" b="1" dirty="0"/>
              <a:t>)</a:t>
            </a:r>
            <a:r>
              <a:rPr lang="ja-JP" altLang="en-US" sz="2263" b="1" dirty="0" err="1"/>
              <a:t>。</a:t>
            </a:r>
            <a:br>
              <a:rPr lang="en-US" altLang="ja-JP" sz="2263" b="1" dirty="0"/>
            </a:br>
            <a:r>
              <a:rPr lang="ja-JP" altLang="en-US" sz="2263" b="1" dirty="0"/>
              <a:t>　 また、</a:t>
            </a:r>
            <a:r>
              <a:rPr lang="en-US" altLang="ja-JP" sz="2263" b="1" dirty="0" err="1"/>
              <a:t>DebugCamera</a:t>
            </a:r>
            <a:r>
              <a:rPr lang="ja-JP" altLang="en-US" sz="2263" b="1" dirty="0"/>
              <a:t>の時は、全ての</a:t>
            </a:r>
            <a:r>
              <a:rPr lang="en-US" altLang="ja-JP" sz="2263" b="1" dirty="0"/>
              <a:t>Step()</a:t>
            </a:r>
            <a:r>
              <a:rPr lang="ja-JP" altLang="en-US" sz="2263" b="1" dirty="0"/>
              <a:t>処理を停止させると</a:t>
            </a:r>
            <a:br>
              <a:rPr lang="en-US" altLang="ja-JP" sz="2263" b="1" dirty="0"/>
            </a:br>
            <a:r>
              <a:rPr lang="ja-JP" altLang="en-US" sz="2263" b="1" dirty="0"/>
              <a:t>　 デバッグカメラが作成しやすくなる。</a:t>
            </a:r>
            <a:br>
              <a:rPr lang="en-US" altLang="ja-JP" sz="2263" b="1" dirty="0"/>
            </a:br>
            <a:br>
              <a:rPr lang="en-US" altLang="ja-JP" sz="2263" b="1" dirty="0"/>
            </a:br>
            <a:br>
              <a:rPr lang="en-US" altLang="ja-JP" sz="2263" b="1" dirty="0"/>
            </a:br>
            <a:br>
              <a:rPr lang="en-US" altLang="ja-JP" sz="2263" b="1" dirty="0"/>
            </a:br>
            <a:br>
              <a:rPr lang="en-US" altLang="ja-JP" sz="2263" b="1" dirty="0"/>
            </a:br>
            <a:br>
              <a:rPr lang="en-US" altLang="ja-JP" sz="2263" b="1" dirty="0"/>
            </a:br>
            <a:br>
              <a:rPr lang="en-US" altLang="ja-JP" sz="2263" b="1" dirty="0"/>
            </a:br>
            <a:br>
              <a:rPr lang="en-US" altLang="ja-JP" sz="2263" b="1" dirty="0"/>
            </a:br>
            <a:r>
              <a:rPr lang="ja-JP" altLang="en-US" sz="2263" b="1" dirty="0"/>
              <a:t>④カメラの移動処理で一番楽なのは注視点の上下移動。</a:t>
            </a:r>
            <a:br>
              <a:rPr lang="en-US" altLang="ja-JP" sz="2263" b="1" dirty="0"/>
            </a:br>
            <a:r>
              <a:rPr lang="ja-JP" altLang="en-US" sz="2263" b="1" dirty="0"/>
              <a:t>　 ここから始めていくとよい。</a:t>
            </a:r>
            <a:endParaRPr lang="en-US" altLang="ja-JP" sz="2263" b="1" dirty="0"/>
          </a:p>
        </p:txBody>
      </p:sp>
      <p:sp>
        <p:nvSpPr>
          <p:cNvPr id="4" name="角丸四角形吹き出し 3"/>
          <p:cNvSpPr/>
          <p:nvPr/>
        </p:nvSpPr>
        <p:spPr>
          <a:xfrm>
            <a:off x="3563888" y="3140968"/>
            <a:ext cx="4968552" cy="1400024"/>
          </a:xfrm>
          <a:prstGeom prst="wedgeRoundRectCallout">
            <a:avLst>
              <a:gd name="adj1" fmla="val -59073"/>
              <a:gd name="adj2" fmla="val 4769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latin typeface="ＭＳ Ｐゴシック"/>
              </a:rPr>
              <a:t>各種</a:t>
            </a:r>
            <a:r>
              <a:rPr lang="en-US" altLang="ja-JP" sz="2000" b="1" dirty="0">
                <a:latin typeface="ＭＳ Ｐゴシック"/>
              </a:rPr>
              <a:t>Step()</a:t>
            </a:r>
            <a:r>
              <a:rPr lang="ja-JP" altLang="en-US" sz="2000" b="1" dirty="0">
                <a:latin typeface="ＭＳ Ｐゴシック"/>
              </a:rPr>
              <a:t>は</a:t>
            </a:r>
            <a:r>
              <a:rPr lang="en-US" altLang="ja-JP" sz="2000" b="1" dirty="0">
                <a:latin typeface="ＭＳ Ｐゴシック"/>
              </a:rPr>
              <a:t>Main</a:t>
            </a:r>
            <a:r>
              <a:rPr lang="ja-JP" altLang="en-US" sz="2000" b="1" dirty="0">
                <a:latin typeface="ＭＳ Ｐゴシック"/>
              </a:rPr>
              <a:t>の方にあるわね。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カメラマネージャから、</a:t>
            </a: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今の状態が</a:t>
            </a:r>
            <a:br>
              <a:rPr lang="en-US" altLang="ja-JP" sz="2000" b="1" dirty="0">
                <a:solidFill>
                  <a:srgbClr val="FF0000"/>
                </a:solidFill>
                <a:latin typeface="ＭＳ Ｐゴシック"/>
              </a:rPr>
            </a:br>
            <a:r>
              <a:rPr lang="ja-JP" altLang="en-US" sz="2000" b="1" dirty="0">
                <a:solidFill>
                  <a:srgbClr val="FF0000"/>
                </a:solidFill>
                <a:latin typeface="ＭＳ Ｐゴシック"/>
              </a:rPr>
              <a:t>デバッグカメラかどうか</a:t>
            </a:r>
            <a:r>
              <a:rPr lang="ja-JP" altLang="en-US" sz="2000" b="1" dirty="0">
                <a:latin typeface="ＭＳ Ｐゴシック"/>
              </a:rPr>
              <a:t>を受け取らないと</a:t>
            </a:r>
            <a:br>
              <a:rPr lang="en-US" altLang="ja-JP" sz="2000" b="1" dirty="0">
                <a:latin typeface="ＭＳ Ｐゴシック"/>
              </a:rPr>
            </a:br>
            <a:r>
              <a:rPr lang="ja-JP" altLang="en-US" sz="2000" b="1" dirty="0">
                <a:latin typeface="ＭＳ Ｐゴシック"/>
              </a:rPr>
              <a:t>停止させられそうに無いわ。</a:t>
            </a: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708920"/>
            <a:ext cx="1561352" cy="1976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48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ヒント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73077" y="1772816"/>
            <a:ext cx="887092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ja-JP" altLang="en-US" sz="2000" b="1" dirty="0"/>
              <a:t>○プレイヤーが角度にあわせて前進・後退することができたのであれば</a:t>
            </a:r>
            <a:br>
              <a:rPr lang="en-US" altLang="ja-JP" sz="2000" b="1" dirty="0"/>
            </a:br>
            <a:r>
              <a:rPr lang="ja-JP" altLang="en-US" sz="2000" b="1" dirty="0"/>
              <a:t>　 カメラも同じ方法で前進・後退ができるはず！！</a:t>
            </a:r>
            <a:br>
              <a:rPr lang="en-US" altLang="ja-JP" sz="2000" b="1" dirty="0"/>
            </a:br>
            <a:r>
              <a:rPr lang="ja-JP" altLang="en-US" sz="2000" b="1" dirty="0"/>
              <a:t>　 カメラクラスに角度を持たせておき、切り替え時にプレイヤーの角度を渡すと楽。</a:t>
            </a:r>
            <a:endParaRPr lang="en-US" altLang="ja-JP" sz="2000" b="1" dirty="0"/>
          </a:p>
        </p:txBody>
      </p:sp>
      <p:cxnSp>
        <p:nvCxnSpPr>
          <p:cNvPr id="4" name="直線矢印コネクタ 3"/>
          <p:cNvCxnSpPr/>
          <p:nvPr/>
        </p:nvCxnSpPr>
        <p:spPr>
          <a:xfrm flipV="1">
            <a:off x="4631681" y="2932616"/>
            <a:ext cx="0" cy="363488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直線矢印コネクタ 4"/>
          <p:cNvCxnSpPr/>
          <p:nvPr/>
        </p:nvCxnSpPr>
        <p:spPr>
          <a:xfrm flipV="1">
            <a:off x="1959761" y="4694403"/>
            <a:ext cx="5572716" cy="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763055" y="2934411"/>
            <a:ext cx="653089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0000FF"/>
                </a:solidFill>
              </a:rPr>
              <a:t>Z</a:t>
            </a:r>
            <a:r>
              <a:rPr lang="ja-JP" altLang="en-US" sz="2263" b="1" dirty="0">
                <a:solidFill>
                  <a:srgbClr val="0000FF"/>
                </a:solidFill>
              </a:rPr>
              <a:t>軸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7" name="フローチャート: 結合子 6"/>
          <p:cNvSpPr/>
          <p:nvPr/>
        </p:nvSpPr>
        <p:spPr>
          <a:xfrm>
            <a:off x="3726220" y="3893394"/>
            <a:ext cx="1810922" cy="1564232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弧 7"/>
          <p:cNvSpPr/>
          <p:nvPr/>
        </p:nvSpPr>
        <p:spPr>
          <a:xfrm rot="10115428">
            <a:off x="3947291" y="4382849"/>
            <a:ext cx="1249417" cy="934008"/>
          </a:xfrm>
          <a:prstGeom prst="arc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ローチャート: 結合子 8"/>
          <p:cNvSpPr/>
          <p:nvPr/>
        </p:nvSpPr>
        <p:spPr>
          <a:xfrm>
            <a:off x="4004645" y="4642807"/>
            <a:ext cx="288032" cy="21464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結合子 9"/>
          <p:cNvSpPr/>
          <p:nvPr/>
        </p:nvSpPr>
        <p:spPr>
          <a:xfrm>
            <a:off x="4631681" y="4916075"/>
            <a:ext cx="288032" cy="21464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7730613" y="4803197"/>
            <a:ext cx="709868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FF0000"/>
                </a:solidFill>
              </a:rPr>
              <a:t>X</a:t>
            </a:r>
            <a:r>
              <a:rPr lang="ja-JP" altLang="en-US" sz="2263" b="1" dirty="0">
                <a:solidFill>
                  <a:srgbClr val="FF0000"/>
                </a:solidFill>
              </a:rPr>
              <a:t>軸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12" name="直角三角形 11"/>
          <p:cNvSpPr/>
          <p:nvPr/>
        </p:nvSpPr>
        <p:spPr>
          <a:xfrm rot="5400000" flipH="1" flipV="1">
            <a:off x="3589223" y="4864632"/>
            <a:ext cx="1179456" cy="905461"/>
          </a:xfrm>
          <a:prstGeom prst="rtTriangl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弧 12"/>
          <p:cNvSpPr/>
          <p:nvPr/>
        </p:nvSpPr>
        <p:spPr>
          <a:xfrm rot="10068526">
            <a:off x="4419602" y="4791153"/>
            <a:ext cx="381258" cy="331581"/>
          </a:xfrm>
          <a:prstGeom prst="arc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FF0000"/>
              </a:solidFill>
            </a:endParaRP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388163" y="4196387"/>
            <a:ext cx="100811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角度</a:t>
            </a:r>
            <a:r>
              <a:rPr lang="en-US" altLang="ja-JP" sz="2263" b="1" dirty="0">
                <a:solidFill>
                  <a:srgbClr val="FF0000"/>
                </a:solidFill>
              </a:rPr>
              <a:t>θ</a:t>
            </a:r>
          </a:p>
        </p:txBody>
      </p:sp>
      <p:pic>
        <p:nvPicPr>
          <p:cNvPr id="16" name="Picture 3" descr="C:\Users\admin\Desktop\Slide1_1004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9" y="4784830"/>
            <a:ext cx="2580277" cy="193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矢印コネクタ 16"/>
          <p:cNvCxnSpPr/>
          <p:nvPr/>
        </p:nvCxnSpPr>
        <p:spPr>
          <a:xfrm flipH="1">
            <a:off x="4731626" y="4727634"/>
            <a:ext cx="1" cy="162384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4913990" y="5544350"/>
            <a:ext cx="3690457" cy="7888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(0,0,-1)</a:t>
            </a:r>
            <a:r>
              <a:rPr lang="ja-JP" altLang="en-US" sz="2263" b="1" dirty="0"/>
              <a:t>の方向ベクトルを</a:t>
            </a:r>
            <a:br>
              <a:rPr lang="en-US" altLang="ja-JP" sz="2263" b="1" dirty="0"/>
            </a:br>
            <a:r>
              <a:rPr lang="ja-JP" altLang="en-US" sz="2263" b="1" dirty="0"/>
              <a:t>カメラ角度で回転して考える</a:t>
            </a:r>
            <a:endParaRPr lang="en-US" altLang="ja-JP" sz="2263" b="1" dirty="0"/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467544" y="3022249"/>
            <a:ext cx="269333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三角関数の考え方</a:t>
            </a:r>
            <a:r>
              <a:rPr lang="en-US" altLang="ja-JP" sz="2263" b="1" dirty="0"/>
              <a:t>]</a:t>
            </a:r>
          </a:p>
        </p:txBody>
      </p:sp>
      <p:sp>
        <p:nvSpPr>
          <p:cNvPr id="3" name="矢印: 下 2">
            <a:extLst>
              <a:ext uri="{FF2B5EF4-FFF2-40B4-BE49-F238E27FC236}">
                <a16:creationId xmlns:a16="http://schemas.microsoft.com/office/drawing/2014/main" id="{F75A0F8A-C49B-42AE-ADF0-F5163B9FA005}"/>
              </a:ext>
            </a:extLst>
          </p:cNvPr>
          <p:cNvSpPr/>
          <p:nvPr/>
        </p:nvSpPr>
        <p:spPr>
          <a:xfrm rot="2242560">
            <a:off x="3248077" y="5114785"/>
            <a:ext cx="439820" cy="14343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</a:rPr>
              <a:t>進みたい方向</a:t>
            </a:r>
          </a:p>
        </p:txBody>
      </p:sp>
    </p:spTree>
    <p:extLst>
      <p:ext uri="{BB962C8B-B14F-4D97-AF65-F5344CB8AC3E}">
        <p14:creationId xmlns:p14="http://schemas.microsoft.com/office/powerpoint/2010/main" val="118889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爆発 1 1"/>
          <p:cNvSpPr/>
          <p:nvPr/>
        </p:nvSpPr>
        <p:spPr>
          <a:xfrm>
            <a:off x="2771775" y="115888"/>
            <a:ext cx="3916363" cy="1441450"/>
          </a:xfrm>
          <a:prstGeom prst="irregularSeal1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ja-JP" altLang="en-US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ヒント</a:t>
            </a:r>
            <a:r>
              <a:rPr lang="en-US" altLang="ja-JP" sz="2000" b="1" dirty="0">
                <a:solidFill>
                  <a:srgbClr val="FF0000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!!</a:t>
            </a:r>
            <a:endParaRPr lang="ja-JP" altLang="en-US" sz="2000" b="1" dirty="0">
              <a:solidFill>
                <a:srgbClr val="FF0000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273077" y="1772816"/>
            <a:ext cx="8870923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左右移動あれば、以下のような考え方になるはず。</a:t>
            </a:r>
            <a:endParaRPr lang="en-US" altLang="ja-JP" sz="2263" b="1" dirty="0"/>
          </a:p>
        </p:txBody>
      </p:sp>
      <p:cxnSp>
        <p:nvCxnSpPr>
          <p:cNvPr id="4" name="直線矢印コネクタ 3"/>
          <p:cNvCxnSpPr/>
          <p:nvPr/>
        </p:nvCxnSpPr>
        <p:spPr>
          <a:xfrm flipV="1">
            <a:off x="4631681" y="2932616"/>
            <a:ext cx="0" cy="3634884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5" name="直線矢印コネクタ 4"/>
          <p:cNvCxnSpPr/>
          <p:nvPr/>
        </p:nvCxnSpPr>
        <p:spPr>
          <a:xfrm flipV="1">
            <a:off x="1959761" y="4694403"/>
            <a:ext cx="5572716" cy="9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763055" y="2934411"/>
            <a:ext cx="653089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0000FF"/>
                </a:solidFill>
              </a:rPr>
              <a:t>Z</a:t>
            </a:r>
            <a:r>
              <a:rPr lang="ja-JP" altLang="en-US" sz="2263" b="1" dirty="0">
                <a:solidFill>
                  <a:srgbClr val="0000FF"/>
                </a:solidFill>
              </a:rPr>
              <a:t>軸</a:t>
            </a:r>
            <a:endParaRPr lang="en-US" altLang="ja-JP" sz="2263" b="1" dirty="0">
              <a:solidFill>
                <a:srgbClr val="0000FF"/>
              </a:solidFill>
            </a:endParaRPr>
          </a:p>
        </p:txBody>
      </p:sp>
      <p:sp>
        <p:nvSpPr>
          <p:cNvPr id="7" name="フローチャート: 結合子 6"/>
          <p:cNvSpPr/>
          <p:nvPr/>
        </p:nvSpPr>
        <p:spPr>
          <a:xfrm>
            <a:off x="3726220" y="3893394"/>
            <a:ext cx="1810922" cy="1564232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弧 7"/>
          <p:cNvSpPr/>
          <p:nvPr/>
        </p:nvSpPr>
        <p:spPr>
          <a:xfrm rot="10800000">
            <a:off x="3859982" y="4359224"/>
            <a:ext cx="1249417" cy="934008"/>
          </a:xfrm>
          <a:prstGeom prst="arc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フローチャート: 結合子 8"/>
          <p:cNvSpPr/>
          <p:nvPr/>
        </p:nvSpPr>
        <p:spPr>
          <a:xfrm>
            <a:off x="4051550" y="4582550"/>
            <a:ext cx="288032" cy="21464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ローチャート: 結合子 9"/>
          <p:cNvSpPr/>
          <p:nvPr/>
        </p:nvSpPr>
        <p:spPr>
          <a:xfrm>
            <a:off x="4536577" y="4920843"/>
            <a:ext cx="288032" cy="214644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7730613" y="4803197"/>
            <a:ext cx="709868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ja-JP" sz="2263" b="1" dirty="0">
                <a:solidFill>
                  <a:srgbClr val="FF0000"/>
                </a:solidFill>
              </a:rPr>
              <a:t>X</a:t>
            </a:r>
            <a:r>
              <a:rPr lang="ja-JP" altLang="en-US" sz="2263" b="1" dirty="0">
                <a:solidFill>
                  <a:srgbClr val="FF0000"/>
                </a:solidFill>
              </a:rPr>
              <a:t>軸</a:t>
            </a:r>
            <a:endParaRPr lang="en-US" altLang="ja-JP" sz="2263" b="1" dirty="0">
              <a:solidFill>
                <a:srgbClr val="FF0000"/>
              </a:solidFill>
            </a:endParaRPr>
          </a:p>
        </p:txBody>
      </p:sp>
      <p:sp>
        <p:nvSpPr>
          <p:cNvPr id="12" name="直角三角形 11"/>
          <p:cNvSpPr/>
          <p:nvPr/>
        </p:nvSpPr>
        <p:spPr>
          <a:xfrm rot="10800000" flipH="1" flipV="1">
            <a:off x="3452031" y="3799450"/>
            <a:ext cx="1179456" cy="905461"/>
          </a:xfrm>
          <a:prstGeom prst="rtTriangl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4831572" y="4317401"/>
            <a:ext cx="1008112" cy="44057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>
                <a:solidFill>
                  <a:srgbClr val="FF0000"/>
                </a:solidFill>
              </a:rPr>
              <a:t>角度</a:t>
            </a:r>
            <a:r>
              <a:rPr lang="en-US" altLang="ja-JP" sz="2263" b="1" dirty="0">
                <a:solidFill>
                  <a:srgbClr val="FF0000"/>
                </a:solidFill>
              </a:rPr>
              <a:t>θ</a:t>
            </a:r>
          </a:p>
        </p:txBody>
      </p:sp>
      <p:pic>
        <p:nvPicPr>
          <p:cNvPr id="16" name="Picture 3" descr="C:\Users\admin\Desktop\Slide1_1004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556" y="2453475"/>
            <a:ext cx="2580277" cy="1935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矢印コネクタ 16"/>
          <p:cNvCxnSpPr>
            <a:cxnSpLocks/>
          </p:cNvCxnSpPr>
          <p:nvPr/>
        </p:nvCxnSpPr>
        <p:spPr>
          <a:xfrm>
            <a:off x="4631681" y="4704911"/>
            <a:ext cx="0" cy="1172361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8" name="Text Box 5"/>
          <p:cNvSpPr txBox="1">
            <a:spLocks noChangeArrowheads="1"/>
          </p:cNvSpPr>
          <p:nvPr/>
        </p:nvSpPr>
        <p:spPr bwMode="auto">
          <a:xfrm>
            <a:off x="689363" y="5185843"/>
            <a:ext cx="3330418" cy="7888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ja-JP" altLang="en-US" sz="2263" b="1" dirty="0"/>
              <a:t>カメラの角度</a:t>
            </a:r>
            <a:r>
              <a:rPr lang="en-US" altLang="ja-JP" sz="2263" b="1" dirty="0"/>
              <a:t>+-90</a:t>
            </a:r>
            <a:r>
              <a:rPr lang="ja-JP" altLang="en-US" sz="2263" b="1" dirty="0"/>
              <a:t>度で</a:t>
            </a:r>
            <a:br>
              <a:rPr lang="en-US" altLang="ja-JP" sz="2263" b="1" dirty="0"/>
            </a:br>
            <a:r>
              <a:rPr lang="ja-JP" altLang="en-US" sz="2263" b="1" dirty="0"/>
              <a:t>計算を行う</a:t>
            </a:r>
            <a:endParaRPr lang="en-US" altLang="ja-JP" sz="2263" b="1" dirty="0"/>
          </a:p>
        </p:txBody>
      </p:sp>
      <p:sp>
        <p:nvSpPr>
          <p:cNvPr id="21" name="Text Box 5"/>
          <p:cNvSpPr txBox="1">
            <a:spLocks noChangeArrowheads="1"/>
          </p:cNvSpPr>
          <p:nvPr/>
        </p:nvSpPr>
        <p:spPr bwMode="auto">
          <a:xfrm>
            <a:off x="273077" y="2470116"/>
            <a:ext cx="2693330" cy="4405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ja-JP" sz="2263" b="1" dirty="0"/>
              <a:t>[</a:t>
            </a:r>
            <a:r>
              <a:rPr lang="ja-JP" altLang="en-US" sz="2263" b="1" dirty="0"/>
              <a:t>三角関数の考え方</a:t>
            </a:r>
            <a:r>
              <a:rPr lang="en-US" altLang="ja-JP" sz="2263" b="1" dirty="0"/>
              <a:t>]</a:t>
            </a:r>
          </a:p>
        </p:txBody>
      </p:sp>
      <p:sp>
        <p:nvSpPr>
          <p:cNvPr id="22" name="矢印: 下 21">
            <a:extLst>
              <a:ext uri="{FF2B5EF4-FFF2-40B4-BE49-F238E27FC236}">
                <a16:creationId xmlns:a16="http://schemas.microsoft.com/office/drawing/2014/main" id="{F347DC5F-9304-411D-9444-A7BDAD8CCA71}"/>
              </a:ext>
            </a:extLst>
          </p:cNvPr>
          <p:cNvSpPr/>
          <p:nvPr/>
        </p:nvSpPr>
        <p:spPr>
          <a:xfrm rot="7562285">
            <a:off x="3821847" y="3147755"/>
            <a:ext cx="439820" cy="14343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b="1" dirty="0">
                <a:solidFill>
                  <a:srgbClr val="FF0000"/>
                </a:solidFill>
              </a:rPr>
              <a:t>進みたい方向</a:t>
            </a:r>
          </a:p>
        </p:txBody>
      </p:sp>
      <p:sp>
        <p:nvSpPr>
          <p:cNvPr id="48" name="フリーフォーム: 図形 47">
            <a:extLst>
              <a:ext uri="{FF2B5EF4-FFF2-40B4-BE49-F238E27FC236}">
                <a16:creationId xmlns:a16="http://schemas.microsoft.com/office/drawing/2014/main" id="{99557178-923D-4AD7-9B60-06F05550D86A}"/>
              </a:ext>
            </a:extLst>
          </p:cNvPr>
          <p:cNvSpPr/>
          <p:nvPr/>
        </p:nvSpPr>
        <p:spPr>
          <a:xfrm>
            <a:off x="4400550" y="4572000"/>
            <a:ext cx="219075" cy="404813"/>
          </a:xfrm>
          <a:custGeom>
            <a:avLst/>
            <a:gdLst>
              <a:gd name="connsiteX0" fmla="*/ 28575 w 219075"/>
              <a:gd name="connsiteY0" fmla="*/ 0 h 404813"/>
              <a:gd name="connsiteX1" fmla="*/ 14288 w 219075"/>
              <a:gd name="connsiteY1" fmla="*/ 71438 h 404813"/>
              <a:gd name="connsiteX2" fmla="*/ 4763 w 219075"/>
              <a:gd name="connsiteY2" fmla="*/ 100013 h 404813"/>
              <a:gd name="connsiteX3" fmla="*/ 0 w 219075"/>
              <a:gd name="connsiteY3" fmla="*/ 119063 h 404813"/>
              <a:gd name="connsiteX4" fmla="*/ 19050 w 219075"/>
              <a:gd name="connsiteY4" fmla="*/ 242888 h 404813"/>
              <a:gd name="connsiteX5" fmla="*/ 33338 w 219075"/>
              <a:gd name="connsiteY5" fmla="*/ 257175 h 404813"/>
              <a:gd name="connsiteX6" fmla="*/ 47625 w 219075"/>
              <a:gd name="connsiteY6" fmla="*/ 285750 h 404813"/>
              <a:gd name="connsiteX7" fmla="*/ 61913 w 219075"/>
              <a:gd name="connsiteY7" fmla="*/ 319088 h 404813"/>
              <a:gd name="connsiteX8" fmla="*/ 95250 w 219075"/>
              <a:gd name="connsiteY8" fmla="*/ 342900 h 404813"/>
              <a:gd name="connsiteX9" fmla="*/ 109538 w 219075"/>
              <a:gd name="connsiteY9" fmla="*/ 357188 h 404813"/>
              <a:gd name="connsiteX10" fmla="*/ 123825 w 219075"/>
              <a:gd name="connsiteY10" fmla="*/ 366713 h 404813"/>
              <a:gd name="connsiteX11" fmla="*/ 147638 w 219075"/>
              <a:gd name="connsiteY11" fmla="*/ 385763 h 404813"/>
              <a:gd name="connsiteX12" fmla="*/ 166688 w 219075"/>
              <a:gd name="connsiteY12" fmla="*/ 390525 h 404813"/>
              <a:gd name="connsiteX13" fmla="*/ 180975 w 219075"/>
              <a:gd name="connsiteY13" fmla="*/ 395288 h 404813"/>
              <a:gd name="connsiteX14" fmla="*/ 200025 w 219075"/>
              <a:gd name="connsiteY14" fmla="*/ 400050 h 404813"/>
              <a:gd name="connsiteX15" fmla="*/ 219075 w 219075"/>
              <a:gd name="connsiteY15" fmla="*/ 404813 h 40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19075" h="404813">
                <a:moveTo>
                  <a:pt x="28575" y="0"/>
                </a:moveTo>
                <a:cubicBezTo>
                  <a:pt x="8171" y="51012"/>
                  <a:pt x="29146" y="-7808"/>
                  <a:pt x="14288" y="71438"/>
                </a:cubicBezTo>
                <a:cubicBezTo>
                  <a:pt x="12438" y="81306"/>
                  <a:pt x="7198" y="90273"/>
                  <a:pt x="4763" y="100013"/>
                </a:cubicBezTo>
                <a:lnTo>
                  <a:pt x="0" y="119063"/>
                </a:lnTo>
                <a:cubicBezTo>
                  <a:pt x="2995" y="178947"/>
                  <a:pt x="-8683" y="201289"/>
                  <a:pt x="19050" y="242888"/>
                </a:cubicBezTo>
                <a:cubicBezTo>
                  <a:pt x="22786" y="248492"/>
                  <a:pt x="28575" y="252413"/>
                  <a:pt x="33338" y="257175"/>
                </a:cubicBezTo>
                <a:cubicBezTo>
                  <a:pt x="53394" y="317351"/>
                  <a:pt x="19942" y="221158"/>
                  <a:pt x="47625" y="285750"/>
                </a:cubicBezTo>
                <a:cubicBezTo>
                  <a:pt x="54508" y="301809"/>
                  <a:pt x="48118" y="306825"/>
                  <a:pt x="61913" y="319088"/>
                </a:cubicBezTo>
                <a:cubicBezTo>
                  <a:pt x="72120" y="328161"/>
                  <a:pt x="84586" y="334369"/>
                  <a:pt x="95250" y="342900"/>
                </a:cubicBezTo>
                <a:cubicBezTo>
                  <a:pt x="100509" y="347108"/>
                  <a:pt x="104364" y="352876"/>
                  <a:pt x="109538" y="357188"/>
                </a:cubicBezTo>
                <a:cubicBezTo>
                  <a:pt x="113935" y="360852"/>
                  <a:pt x="119246" y="363279"/>
                  <a:pt x="123825" y="366713"/>
                </a:cubicBezTo>
                <a:cubicBezTo>
                  <a:pt x="131957" y="372812"/>
                  <a:pt x="138752" y="380827"/>
                  <a:pt x="147638" y="385763"/>
                </a:cubicBezTo>
                <a:cubicBezTo>
                  <a:pt x="153360" y="388942"/>
                  <a:pt x="160394" y="388727"/>
                  <a:pt x="166688" y="390525"/>
                </a:cubicBezTo>
                <a:cubicBezTo>
                  <a:pt x="171515" y="391904"/>
                  <a:pt x="176148" y="393909"/>
                  <a:pt x="180975" y="395288"/>
                </a:cubicBezTo>
                <a:cubicBezTo>
                  <a:pt x="187269" y="397086"/>
                  <a:pt x="193675" y="398463"/>
                  <a:pt x="200025" y="400050"/>
                </a:cubicBezTo>
                <a:lnTo>
                  <a:pt x="219075" y="404813"/>
                </a:ln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893457"/>
      </p:ext>
    </p:extLst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19807</TotalTime>
  <Words>1199</Words>
  <Application>Microsoft Office PowerPoint</Application>
  <PresentationFormat>画面に合わせる (4:3)</PresentationFormat>
  <Paragraphs>70</Paragraphs>
  <Slides>15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HGS創英角ﾎﾟｯﾌﾟ体</vt:lpstr>
      <vt:lpstr>ＭＳ Ｐゴシック</vt:lpstr>
      <vt:lpstr>Arial</vt:lpstr>
      <vt:lpstr>Calibri</vt:lpstr>
      <vt:lpstr>標準デザイン</vt:lpstr>
      <vt:lpstr>この単元の目標</vt:lpstr>
      <vt:lpstr>10 マネージャによるカメラ管理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麻生塾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　初めてのプログラム</dc:title>
  <dc:creator>t_ymmt</dc:creator>
  <cp:lastModifiedBy>山本　隆行</cp:lastModifiedBy>
  <cp:revision>700</cp:revision>
  <dcterms:created xsi:type="dcterms:W3CDTF">2013-04-19T02:46:48Z</dcterms:created>
  <dcterms:modified xsi:type="dcterms:W3CDTF">2026-05-14T00:36:57Z</dcterms:modified>
</cp:coreProperties>
</file>