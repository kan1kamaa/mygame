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4" r:id="rId2"/>
    <p:sldId id="263" r:id="rId3"/>
    <p:sldId id="480" r:id="rId4"/>
    <p:sldId id="497" r:id="rId5"/>
    <p:sldId id="510" r:id="rId6"/>
    <p:sldId id="515" r:id="rId7"/>
    <p:sldId id="516" r:id="rId8"/>
    <p:sldId id="517" r:id="rId9"/>
    <p:sldId id="518" r:id="rId10"/>
    <p:sldId id="519" r:id="rId11"/>
    <p:sldId id="520" r:id="rId12"/>
    <p:sldId id="521" r:id="rId13"/>
    <p:sldId id="511" r:id="rId14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3" autoAdjust="0"/>
    <p:restoredTop sz="93432" autoAdjust="0"/>
  </p:normalViewPr>
  <p:slideViewPr>
    <p:cSldViewPr>
      <p:cViewPr varScale="1">
        <p:scale>
          <a:sx n="113" d="100"/>
          <a:sy n="113" d="100"/>
        </p:scale>
        <p:origin x="163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27E591F3-6C5C-4237-9A0F-19C627DFAD91}" type="datetimeFigureOut">
              <a:rPr lang="ja-JP" altLang="en-US"/>
              <a:pPr>
                <a:defRPr/>
              </a:pPr>
              <a:t>2026/1/30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E94BE2DB-0632-44C0-A305-06F0D4B9CEE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64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741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94326-21EF-45D6-9938-6B5BD0D058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49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B8C3-4F1B-4F8C-B78A-BA008A4288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403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0992A-329F-4748-B8BD-5ACE4AD4DE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447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F9311-072B-437B-8F4A-90FAC793E74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87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856A-195B-44FC-9E8C-2B8EFCAF2E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134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8990D-02EF-4AF9-8193-ADA8B1D08A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68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E9533-605F-4AB1-90F2-B443A41F5FF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775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F4E6F-8E4F-465C-BE46-3CA155F67AB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356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2F0E-8486-49C0-88FF-C5FCF562858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502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312D0-E269-4F66-A389-47D91A25CD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7464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5277F-FF33-41BB-B110-8F2E985F6F0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062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F2B73C9D-6D14-4BD8-824F-F008878771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分かりやすいプログラムを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意識して書く事ができる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dirty="0"/>
              <a:t>0 </a:t>
            </a:r>
            <a:r>
              <a:rPr lang="ja-JP" altLang="en-US" dirty="0"/>
              <a:t>ゲーム制作を始める前に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95313" y="1938411"/>
            <a:ext cx="7953375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2</a:t>
            </a:r>
            <a:r>
              <a:rPr lang="ja-JP" altLang="en-US" sz="2263" b="1" dirty="0"/>
              <a:t>年生のゲーム制作は</a:t>
            </a:r>
            <a:r>
              <a:rPr lang="en-US" altLang="ja-JP" sz="2263" b="1" dirty="0"/>
              <a:t>C++</a:t>
            </a:r>
            <a:r>
              <a:rPr lang="ja-JP" altLang="en-US" sz="2263" b="1" dirty="0"/>
              <a:t>・</a:t>
            </a:r>
            <a:r>
              <a:rPr lang="en-US" altLang="ja-JP" sz="2263" b="1" dirty="0"/>
              <a:t>C</a:t>
            </a:r>
            <a:r>
              <a:rPr lang="ja-JP" altLang="en-US" sz="2263" b="1" dirty="0"/>
              <a:t>言語を</a:t>
            </a:r>
            <a:br>
              <a:rPr lang="en-US" altLang="ja-JP" sz="2263" b="1" dirty="0"/>
            </a:br>
            <a:r>
              <a:rPr lang="ja-JP" altLang="en-US" sz="2263" b="1" dirty="0"/>
              <a:t>ある程度理解している事が前提となる。</a:t>
            </a:r>
            <a:br>
              <a:rPr lang="en-US" altLang="ja-JP" sz="2263" b="1" dirty="0"/>
            </a:br>
            <a:r>
              <a:rPr lang="ja-JP" altLang="en-US" sz="2263" b="1" dirty="0"/>
              <a:t>特に以下のものが重要となってくる。</a:t>
            </a:r>
            <a:endParaRPr lang="en-US" altLang="ja-JP" sz="2263" b="1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0923" y="1520424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思い出しておきたいこと</a:t>
            </a:r>
            <a:r>
              <a:rPr lang="en-US" altLang="ja-JP" sz="2263" b="1" dirty="0"/>
              <a:t>]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1691680" y="3699029"/>
            <a:ext cx="230462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3200" b="1" dirty="0">
                <a:solidFill>
                  <a:srgbClr val="0000FF"/>
                </a:solidFill>
              </a:rPr>
              <a:t>○関数</a:t>
            </a:r>
            <a:br>
              <a:rPr lang="en-US" altLang="ja-JP" sz="3200" b="1" dirty="0">
                <a:solidFill>
                  <a:srgbClr val="0000FF"/>
                </a:solidFill>
              </a:rPr>
            </a:br>
            <a:r>
              <a:rPr lang="ja-JP" altLang="en-US" sz="3200" b="1" dirty="0">
                <a:solidFill>
                  <a:srgbClr val="0000FF"/>
                </a:solidFill>
              </a:rPr>
              <a:t>○ポインタ</a:t>
            </a:r>
            <a:endParaRPr lang="en-US" altLang="ja-JP" sz="3200" b="1" dirty="0">
              <a:solidFill>
                <a:srgbClr val="0000FF"/>
              </a:solidFill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5014886"/>
            <a:ext cx="1474679" cy="1724771"/>
          </a:xfrm>
          <a:prstGeom prst="rect">
            <a:avLst/>
          </a:prstGeom>
        </p:spPr>
      </p:pic>
      <p:sp>
        <p:nvSpPr>
          <p:cNvPr id="7" name="角丸四角形吹き出し 6"/>
          <p:cNvSpPr/>
          <p:nvPr/>
        </p:nvSpPr>
        <p:spPr>
          <a:xfrm>
            <a:off x="2771800" y="5436038"/>
            <a:ext cx="5902051" cy="1161313"/>
          </a:xfrm>
          <a:prstGeom prst="wedgeRoundRectCallout">
            <a:avLst>
              <a:gd name="adj1" fmla="val -60323"/>
              <a:gd name="adj2" fmla="val 270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260" b="1" dirty="0"/>
              <a:t>ある程度使えるようになっておきたいです。</a:t>
            </a:r>
            <a:br>
              <a:rPr kumimoji="1" lang="en-US" altLang="ja-JP" sz="2260" b="1" dirty="0"/>
            </a:br>
            <a:r>
              <a:rPr kumimoji="1" lang="ja-JP" altLang="en-US" sz="2260" b="1" dirty="0"/>
              <a:t>ですが、覚える事は多いので、授業中に</a:t>
            </a:r>
            <a:br>
              <a:rPr kumimoji="1" lang="en-US" altLang="ja-JP" sz="2260" b="1" dirty="0"/>
            </a:br>
            <a:r>
              <a:rPr kumimoji="1" lang="ja-JP" altLang="en-US" sz="2260" b="1" dirty="0"/>
              <a:t>振り返りはありません。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E9B1407E-C4A7-46CD-AA75-833E0232F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3631" y="3127714"/>
            <a:ext cx="180280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400" b="1" dirty="0">
                <a:solidFill>
                  <a:srgbClr val="0000FF"/>
                </a:solidFill>
              </a:rPr>
              <a:t>C</a:t>
            </a:r>
            <a:r>
              <a:rPr lang="ja-JP" altLang="en-US" sz="2400" b="1" dirty="0">
                <a:solidFill>
                  <a:srgbClr val="0000FF"/>
                </a:solidFill>
              </a:rPr>
              <a:t>言語範囲</a:t>
            </a:r>
            <a:endParaRPr lang="en-US" altLang="ja-JP" sz="2400" b="1" dirty="0">
              <a:solidFill>
                <a:srgbClr val="0000FF"/>
              </a:solidFill>
            </a:endParaRP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86ACB25E-0F67-4F68-A64E-34177F108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5316" y="3678773"/>
            <a:ext cx="343337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3200" b="1" dirty="0">
                <a:solidFill>
                  <a:srgbClr val="FF0000"/>
                </a:solidFill>
              </a:rPr>
              <a:t>○クラス</a:t>
            </a:r>
            <a:br>
              <a:rPr lang="en-US" altLang="ja-JP" sz="3200" b="1" dirty="0">
                <a:solidFill>
                  <a:srgbClr val="FF0000"/>
                </a:solidFill>
              </a:rPr>
            </a:br>
            <a:r>
              <a:rPr lang="ja-JP" altLang="en-US" sz="3200" b="1" dirty="0">
                <a:solidFill>
                  <a:srgbClr val="FF0000"/>
                </a:solidFill>
              </a:rPr>
              <a:t>○オブジェクト指向</a:t>
            </a:r>
            <a:endParaRPr lang="en-US" altLang="ja-JP" sz="3200" b="1" dirty="0">
              <a:solidFill>
                <a:srgbClr val="FF0000"/>
              </a:solidFill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3CD2C5ED-224B-4D72-8CED-DEB9F1D41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1305" y="3127714"/>
            <a:ext cx="147089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400" b="1" dirty="0">
                <a:solidFill>
                  <a:srgbClr val="FF0000"/>
                </a:solidFill>
              </a:rPr>
              <a:t>C++</a:t>
            </a:r>
            <a:r>
              <a:rPr lang="ja-JP" altLang="en-US" sz="2400" b="1" dirty="0">
                <a:solidFill>
                  <a:srgbClr val="FF0000"/>
                </a:solidFill>
              </a:rPr>
              <a:t>範囲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89167" y="1471620"/>
            <a:ext cx="8223650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○変数名・関数名は</a:t>
            </a:r>
            <a:r>
              <a:rPr lang="ja-JP" altLang="en-US" sz="2263" b="1" dirty="0">
                <a:solidFill>
                  <a:srgbClr val="FF0000"/>
                </a:solidFill>
              </a:rPr>
              <a:t>英語で意味が分かるもの</a:t>
            </a:r>
            <a:r>
              <a:rPr lang="ja-JP" altLang="en-US" sz="2263" b="1" dirty="0"/>
              <a:t>にしておく。</a:t>
            </a:r>
            <a:br>
              <a:rPr lang="en-US" altLang="ja-JP" sz="2263" b="1" dirty="0"/>
            </a:br>
            <a:r>
              <a:rPr lang="ja-JP" altLang="en-US" sz="2263" b="1" dirty="0"/>
              <a:t>　 命名規則なども付けておく事。</a:t>
            </a:r>
            <a:br>
              <a:rPr lang="en-US" altLang="ja-JP" sz="2263" b="1" dirty="0"/>
            </a:br>
            <a:r>
              <a:rPr lang="ja-JP" altLang="en-US" sz="2263" b="1" dirty="0"/>
              <a:t>　　・関数名　＝　</a:t>
            </a:r>
            <a:r>
              <a:rPr lang="ja-JP" altLang="en-US" sz="2263" b="1" dirty="0">
                <a:solidFill>
                  <a:srgbClr val="0000FF"/>
                </a:solidFill>
              </a:rPr>
              <a:t>動詞</a:t>
            </a:r>
            <a:r>
              <a:rPr lang="ja-JP" altLang="en-US" sz="2263" b="1" dirty="0"/>
              <a:t>をつける</a:t>
            </a:r>
            <a:r>
              <a:rPr lang="en-US" altLang="ja-JP" sz="2263" b="1" dirty="0"/>
              <a:t>(</a:t>
            </a:r>
            <a:r>
              <a:rPr lang="ja-JP" altLang="en-US" sz="2263" b="1" dirty="0"/>
              <a:t>例：</a:t>
            </a:r>
            <a:r>
              <a:rPr lang="en-US" altLang="ja-JP" sz="2263" b="1" dirty="0" err="1"/>
              <a:t>MovePlayer</a:t>
            </a:r>
            <a:r>
              <a:rPr lang="en-US" altLang="ja-JP" sz="2263" b="1" dirty="0"/>
              <a:t>())</a:t>
            </a:r>
            <a:br>
              <a:rPr lang="en-US" altLang="ja-JP" sz="2263" b="1" dirty="0"/>
            </a:br>
            <a:r>
              <a:rPr lang="ja-JP" altLang="en-US" sz="2263" b="1" dirty="0"/>
              <a:t>　　・変数名　＝　</a:t>
            </a:r>
            <a:r>
              <a:rPr lang="ja-JP" altLang="en-US" sz="2263" b="1" dirty="0">
                <a:solidFill>
                  <a:srgbClr val="00B050"/>
                </a:solidFill>
              </a:rPr>
              <a:t>名詞</a:t>
            </a:r>
            <a:r>
              <a:rPr lang="ja-JP" altLang="en-US" sz="2263" b="1" dirty="0"/>
              <a:t>をつける</a:t>
            </a:r>
            <a:r>
              <a:rPr lang="en-US" altLang="ja-JP" sz="2263" b="1" dirty="0"/>
              <a:t>(</a:t>
            </a:r>
            <a:r>
              <a:rPr lang="ja-JP" altLang="en-US" sz="2263" b="1" dirty="0"/>
              <a:t>例：</a:t>
            </a:r>
            <a:r>
              <a:rPr lang="en-US" altLang="ja-JP" sz="2263" b="1" dirty="0" err="1"/>
              <a:t>playerHP</a:t>
            </a:r>
            <a:r>
              <a:rPr lang="en-US" altLang="ja-JP" sz="2263" b="1" dirty="0"/>
              <a:t>)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237347"/>
            <a:ext cx="8352928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また、今後はゲーム業界を目指すためにも</a:t>
            </a:r>
            <a:br>
              <a:rPr lang="en-US" altLang="ja-JP" sz="2263" b="1" dirty="0"/>
            </a:br>
            <a:r>
              <a:rPr lang="ja-JP" altLang="en-US" sz="2263" b="1" dirty="0"/>
              <a:t>以下の点には気をつけておきたい。</a:t>
            </a:r>
            <a:endParaRPr lang="en-US" altLang="ja-JP" sz="2263" b="1" dirty="0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489167" y="3216258"/>
            <a:ext cx="822365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○ゲームの素材名やフォルダ名にも日本語は使わない。</a:t>
            </a:r>
            <a:br>
              <a:rPr lang="en-US" altLang="ja-JP" sz="2263" b="1" dirty="0"/>
            </a:br>
            <a:r>
              <a:rPr lang="ja-JP" altLang="en-US" sz="2263" b="1" dirty="0"/>
              <a:t>　 全て半角の英数字にする。</a:t>
            </a:r>
            <a:endParaRPr lang="en-US" altLang="ja-JP" sz="2263" b="1" dirty="0"/>
          </a:p>
        </p:txBody>
      </p:sp>
      <p:sp>
        <p:nvSpPr>
          <p:cNvPr id="6" name="角丸四角形吹き出し 5"/>
          <p:cNvSpPr/>
          <p:nvPr/>
        </p:nvSpPr>
        <p:spPr>
          <a:xfrm>
            <a:off x="323528" y="4925867"/>
            <a:ext cx="5181971" cy="1440160"/>
          </a:xfrm>
          <a:prstGeom prst="wedgeRoundRectCallout">
            <a:avLst>
              <a:gd name="adj1" fmla="val 60540"/>
              <a:gd name="adj2" fmla="val -1913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260" b="1" dirty="0"/>
              <a:t>残念ながら日本語は</a:t>
            </a:r>
            <a:r>
              <a:rPr kumimoji="1" lang="ja-JP" altLang="en-US" sz="2260" b="1" dirty="0">
                <a:solidFill>
                  <a:srgbClr val="7030A0"/>
                </a:solidFill>
              </a:rPr>
              <a:t>マイナー言語</a:t>
            </a:r>
            <a:r>
              <a:rPr kumimoji="1" lang="ja-JP" altLang="en-US" sz="2260" b="1" dirty="0"/>
              <a:t>。</a:t>
            </a:r>
            <a:br>
              <a:rPr kumimoji="1" lang="en-US" altLang="ja-JP" sz="2260" b="1" dirty="0"/>
            </a:br>
            <a:r>
              <a:rPr kumimoji="1" lang="ja-JP" altLang="en-US" sz="2260" b="1" dirty="0"/>
              <a:t>ツールなどによっては未対応のため</a:t>
            </a:r>
            <a:br>
              <a:rPr kumimoji="1" lang="en-US" altLang="ja-JP" sz="2260" b="1" dirty="0"/>
            </a:br>
            <a:r>
              <a:rPr kumimoji="1" lang="ja-JP" altLang="en-US" sz="2260" b="1" dirty="0"/>
              <a:t>不具合が発生するかも・・・。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768" y="4694541"/>
            <a:ext cx="2520280" cy="190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150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95536" y="99383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分かりやすいコードを書く</a:t>
            </a:r>
            <a:r>
              <a:rPr lang="en-US" altLang="ja-JP" sz="2263" b="1" dirty="0"/>
              <a:t>]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24814" y="539953"/>
            <a:ext cx="8223650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ゲームプログラマもチームで制作する事がほとんど。</a:t>
            </a:r>
            <a:br>
              <a:rPr lang="en-US" altLang="ja-JP" sz="2263" b="1" dirty="0"/>
            </a:br>
            <a:r>
              <a:rPr lang="ja-JP" altLang="en-US" sz="2263" b="1" dirty="0"/>
              <a:t>そのため、</a:t>
            </a:r>
            <a:r>
              <a:rPr lang="ja-JP" altLang="en-US" sz="2263" b="1" dirty="0">
                <a:solidFill>
                  <a:srgbClr val="0000FF"/>
                </a:solidFill>
              </a:rPr>
              <a:t>コミュニケーションが取れないプログラムの天才</a:t>
            </a:r>
            <a:r>
              <a:rPr lang="ja-JP" altLang="en-US" sz="2263" b="1" dirty="0"/>
              <a:t>よりも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FF0000"/>
                </a:solidFill>
              </a:rPr>
              <a:t>コミュニケーションが取れる凡才</a:t>
            </a:r>
            <a:r>
              <a:rPr lang="ja-JP" altLang="en-US" sz="2263" b="1" dirty="0"/>
              <a:t>の方が合格しやすい。</a:t>
            </a:r>
            <a:endParaRPr lang="en-US" altLang="ja-JP" sz="2263" b="1" dirty="0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20485" y="1844824"/>
            <a:ext cx="7539947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※</a:t>
            </a:r>
            <a:r>
              <a:rPr lang="ja-JP" altLang="en-US" sz="2263" b="1" dirty="0"/>
              <a:t>プログラムの天才は普通じゃない！！</a:t>
            </a:r>
            <a:br>
              <a:rPr lang="en-US" altLang="ja-JP" sz="2263" b="1" dirty="0"/>
            </a:br>
            <a:r>
              <a:rPr lang="ja-JP" altLang="en-US" sz="2263" b="1" dirty="0"/>
              <a:t>　 プログラミングの休憩に別プログラムを作るような人たち！</a:t>
            </a:r>
            <a:br>
              <a:rPr lang="en-US" altLang="ja-JP" sz="2263" b="1" dirty="0"/>
            </a:br>
            <a:r>
              <a:rPr lang="ja-JP" altLang="en-US" sz="2263" b="1" dirty="0"/>
              <a:t>　 やってる事も、先生たちですら理解できない事が多い。</a:t>
            </a:r>
            <a:endParaRPr lang="en-US" altLang="ja-JP" sz="2263" b="1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920485" y="3092772"/>
            <a:ext cx="7539947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※</a:t>
            </a:r>
            <a:r>
              <a:rPr lang="ja-JP" altLang="en-US" sz="2263" b="1" dirty="0"/>
              <a:t>コミュニケーションは話ができることではない！</a:t>
            </a:r>
            <a:br>
              <a:rPr lang="en-US" altLang="ja-JP" sz="2263" b="1" dirty="0"/>
            </a:br>
            <a:r>
              <a:rPr lang="ja-JP" altLang="en-US" sz="2263" b="1" dirty="0"/>
              <a:t>　 会話のキャッチボールができること。</a:t>
            </a:r>
            <a:br>
              <a:rPr lang="en-US" altLang="ja-JP" sz="2263" b="1" dirty="0"/>
            </a:br>
            <a:r>
              <a:rPr lang="ja-JP" altLang="en-US" sz="2263" b="1" dirty="0"/>
              <a:t>　 チームメンバーの事を考えられる気の利いた人など。</a:t>
            </a:r>
            <a:endParaRPr lang="en-US" altLang="ja-JP" sz="2263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915119" y="4653136"/>
            <a:ext cx="5313762" cy="5232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800" b="1" dirty="0"/>
              <a:t>皆が分かりやすいコードを書くコツ</a:t>
            </a:r>
            <a:endParaRPr lang="en-US" altLang="ja-JP" sz="2800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802026" y="5316293"/>
            <a:ext cx="7539947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①複雑なコードの問題を小さく分割しながら、分かりやすい</a:t>
            </a:r>
            <a:br>
              <a:rPr lang="en-US" altLang="ja-JP" sz="2263" b="1" dirty="0"/>
            </a:br>
            <a:r>
              <a:rPr lang="ja-JP" altLang="en-US" sz="2263" b="1" dirty="0"/>
              <a:t>　 名前をつけて整理する。</a:t>
            </a:r>
            <a:br>
              <a:rPr lang="en-US" altLang="ja-JP" sz="2263" b="1" dirty="0"/>
            </a:br>
            <a:r>
              <a:rPr lang="ja-JP" altLang="en-US" sz="2263" b="1" dirty="0"/>
              <a:t>②簡単にできることから始める。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3685015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95536" y="99383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変数と定義</a:t>
            </a:r>
            <a:r>
              <a:rPr lang="en-US" altLang="ja-JP" sz="2263" b="1" dirty="0"/>
              <a:t>]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971600" y="1247220"/>
            <a:ext cx="1419267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float  t;</a:t>
            </a:r>
          </a:p>
        </p:txBody>
      </p:sp>
      <p:sp>
        <p:nvSpPr>
          <p:cNvPr id="11" name="角丸四角形吹き出し 10"/>
          <p:cNvSpPr/>
          <p:nvPr/>
        </p:nvSpPr>
        <p:spPr>
          <a:xfrm>
            <a:off x="2843808" y="1153686"/>
            <a:ext cx="3744416" cy="539244"/>
          </a:xfrm>
          <a:prstGeom prst="wedgeRoundRectCallout">
            <a:avLst>
              <a:gd name="adj1" fmla="val -68167"/>
              <a:gd name="adj2" fmla="val -401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260" b="1" dirty="0"/>
              <a:t>何これ？意味が分からない。</a:t>
            </a:r>
            <a:endParaRPr kumimoji="1" lang="ja-JP" altLang="en-US" sz="2260" b="1" dirty="0"/>
          </a:p>
        </p:txBody>
      </p:sp>
      <p:sp>
        <p:nvSpPr>
          <p:cNvPr id="2" name="下矢印 1"/>
          <p:cNvSpPr/>
          <p:nvPr/>
        </p:nvSpPr>
        <p:spPr>
          <a:xfrm>
            <a:off x="1259632" y="1786464"/>
            <a:ext cx="576064" cy="4055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971600" y="2232668"/>
            <a:ext cx="1656184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float  time;</a:t>
            </a:r>
          </a:p>
        </p:txBody>
      </p:sp>
      <p:sp>
        <p:nvSpPr>
          <p:cNvPr id="13" name="角丸四角形吹き出し 12"/>
          <p:cNvSpPr/>
          <p:nvPr/>
        </p:nvSpPr>
        <p:spPr>
          <a:xfrm>
            <a:off x="3347864" y="2133994"/>
            <a:ext cx="3744416" cy="539244"/>
          </a:xfrm>
          <a:prstGeom prst="wedgeRoundRectCallout">
            <a:avLst>
              <a:gd name="adj1" fmla="val -68167"/>
              <a:gd name="adj2" fmla="val -401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260" b="1" dirty="0"/>
              <a:t>あ、時間を保存するんだ。</a:t>
            </a:r>
            <a:endParaRPr kumimoji="1" lang="ja-JP" altLang="en-US" sz="2260" b="1" dirty="0"/>
          </a:p>
        </p:txBody>
      </p:sp>
      <p:sp>
        <p:nvSpPr>
          <p:cNvPr id="14" name="下矢印 13"/>
          <p:cNvSpPr/>
          <p:nvPr/>
        </p:nvSpPr>
        <p:spPr>
          <a:xfrm>
            <a:off x="1259632" y="2766772"/>
            <a:ext cx="576064" cy="4055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971600" y="3212976"/>
            <a:ext cx="2376264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float  </a:t>
            </a:r>
            <a:r>
              <a:rPr lang="en-US" altLang="ja-JP" sz="2263" b="1" dirty="0" err="1"/>
              <a:t>limitTime</a:t>
            </a:r>
            <a:r>
              <a:rPr lang="en-US" altLang="ja-JP" sz="2263" b="1" dirty="0"/>
              <a:t>;</a:t>
            </a:r>
          </a:p>
        </p:txBody>
      </p:sp>
      <p:sp>
        <p:nvSpPr>
          <p:cNvPr id="16" name="角丸四角形吹き出し 15"/>
          <p:cNvSpPr/>
          <p:nvPr/>
        </p:nvSpPr>
        <p:spPr>
          <a:xfrm>
            <a:off x="3995936" y="3224443"/>
            <a:ext cx="3744416" cy="539244"/>
          </a:xfrm>
          <a:prstGeom prst="wedgeRoundRectCallout">
            <a:avLst>
              <a:gd name="adj1" fmla="val -68167"/>
              <a:gd name="adj2" fmla="val -401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260" b="1" dirty="0"/>
              <a:t>制限時間用だ！</a:t>
            </a:r>
            <a:endParaRPr kumimoji="1" lang="ja-JP" altLang="en-US" sz="2260" b="1" dirty="0"/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598782" y="4193284"/>
            <a:ext cx="7946437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できる限り分かりやすい名前をつけていこう！！</a:t>
            </a:r>
            <a:endParaRPr lang="en-US" altLang="ja-JP" sz="2263" b="1" dirty="0"/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374493" y="5283450"/>
            <a:ext cx="8506882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※for</a:t>
            </a:r>
            <a:r>
              <a:rPr lang="ja-JP" altLang="en-US" sz="2263" b="1" dirty="0"/>
              <a:t>ループなどで使うカウント用の変数は「</a:t>
            </a:r>
            <a:r>
              <a:rPr lang="en-US" altLang="ja-JP" sz="2263" b="1" dirty="0" err="1"/>
              <a:t>i</a:t>
            </a:r>
            <a:r>
              <a:rPr lang="ja-JP" altLang="en-US" sz="2263" b="1" dirty="0"/>
              <a:t>」や「</a:t>
            </a:r>
            <a:r>
              <a:rPr lang="en-US" altLang="ja-JP" sz="2263" b="1" dirty="0"/>
              <a:t>j</a:t>
            </a:r>
            <a:r>
              <a:rPr lang="ja-JP" altLang="en-US" sz="2263" b="1" dirty="0"/>
              <a:t>」などでも問題ない。</a:t>
            </a:r>
            <a:br>
              <a:rPr lang="en-US" altLang="ja-JP" sz="2263" b="1" dirty="0"/>
            </a:br>
            <a:r>
              <a:rPr lang="ja-JP" altLang="en-US" sz="2263" b="1" dirty="0"/>
              <a:t>　 また、狭い範囲でしか使わない変数は簡単な名前でＯＫ。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249890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755576" y="260648"/>
            <a:ext cx="3096344" cy="2181751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if(state == 0){</a:t>
            </a:r>
            <a:br>
              <a:rPr lang="en-US" altLang="ja-JP" sz="2263" b="1" dirty="0"/>
            </a:br>
            <a:r>
              <a:rPr lang="en-US" altLang="ja-JP" sz="2263" b="1" dirty="0"/>
              <a:t>} </a:t>
            </a:r>
            <a:br>
              <a:rPr lang="en-US" altLang="ja-JP" sz="2263" b="1" dirty="0"/>
            </a:br>
            <a:r>
              <a:rPr lang="en-US" altLang="ja-JP" sz="2263" b="1" dirty="0"/>
              <a:t>if(state == 1){</a:t>
            </a:r>
            <a:br>
              <a:rPr lang="en-US" altLang="ja-JP" sz="2263" b="1" dirty="0"/>
            </a:br>
            <a:r>
              <a:rPr lang="en-US" altLang="ja-JP" sz="2263" b="1" dirty="0"/>
              <a:t>}</a:t>
            </a:r>
            <a:br>
              <a:rPr lang="en-US" altLang="ja-JP" sz="2263" b="1" dirty="0"/>
            </a:br>
            <a:r>
              <a:rPr lang="en-US" altLang="ja-JP" sz="2263" b="1" dirty="0"/>
              <a:t>if(state == 2){</a:t>
            </a:r>
            <a:br>
              <a:rPr lang="en-US" altLang="ja-JP" sz="2263" b="1" dirty="0"/>
            </a:br>
            <a:r>
              <a:rPr lang="en-US" altLang="ja-JP" sz="2263" b="1" dirty="0"/>
              <a:t>}</a:t>
            </a:r>
          </a:p>
        </p:txBody>
      </p:sp>
      <p:sp>
        <p:nvSpPr>
          <p:cNvPr id="11" name="角丸四角形吹き出し 10"/>
          <p:cNvSpPr/>
          <p:nvPr/>
        </p:nvSpPr>
        <p:spPr>
          <a:xfrm>
            <a:off x="3816130" y="620688"/>
            <a:ext cx="4788318" cy="864096"/>
          </a:xfrm>
          <a:prstGeom prst="wedgeRoundRectCallout">
            <a:avLst>
              <a:gd name="adj1" fmla="val -68167"/>
              <a:gd name="adj2" fmla="val -401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260" b="1" dirty="0"/>
              <a:t>state</a:t>
            </a:r>
            <a:r>
              <a:rPr lang="ja-JP" altLang="en-US" sz="2260" b="1" dirty="0"/>
              <a:t>なので、何かの状態に</a:t>
            </a:r>
            <a:br>
              <a:rPr lang="en-US" altLang="ja-JP" sz="2260" b="1" dirty="0"/>
            </a:br>
            <a:r>
              <a:rPr lang="ja-JP" altLang="en-US" sz="2260" b="1" dirty="0"/>
              <a:t>あわせて動くのかな？</a:t>
            </a:r>
            <a:endParaRPr kumimoji="1" lang="ja-JP" altLang="en-US" sz="2260" b="1" dirty="0"/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347621" y="3416439"/>
            <a:ext cx="3468510" cy="1833515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enum</a:t>
            </a:r>
            <a:r>
              <a:rPr lang="en-US" altLang="ja-JP" sz="2263" b="1" dirty="0"/>
              <a:t> </a:t>
            </a:r>
            <a:r>
              <a:rPr lang="en-US" altLang="ja-JP" sz="2263" b="1" dirty="0" err="1"/>
              <a:t>tagState</a:t>
            </a:r>
            <a:r>
              <a:rPr lang="en-US" altLang="ja-JP" sz="2263" b="1" dirty="0"/>
              <a:t>{</a:t>
            </a:r>
            <a:br>
              <a:rPr lang="en-US" altLang="ja-JP" sz="2263" b="1" dirty="0"/>
            </a:br>
            <a:r>
              <a:rPr lang="en-US" altLang="ja-JP" sz="2263" b="1" dirty="0"/>
              <a:t>	STATE_WALK,</a:t>
            </a:r>
            <a:br>
              <a:rPr lang="en-US" altLang="ja-JP" sz="2263" b="1" dirty="0"/>
            </a:br>
            <a:r>
              <a:rPr lang="en-US" altLang="ja-JP" sz="2263" b="1" dirty="0"/>
              <a:t>	STATE_JUMP,</a:t>
            </a:r>
            <a:br>
              <a:rPr lang="en-US" altLang="ja-JP" sz="2263" b="1" dirty="0"/>
            </a:br>
            <a:r>
              <a:rPr lang="en-US" altLang="ja-JP" sz="2263" b="1" dirty="0"/>
              <a:t>	STATE_ATTACK</a:t>
            </a:r>
            <a:br>
              <a:rPr lang="en-US" altLang="ja-JP" sz="2263" b="1" dirty="0"/>
            </a:br>
            <a:r>
              <a:rPr lang="en-US" altLang="ja-JP" sz="2263" b="1" dirty="0"/>
              <a:t>};</a:t>
            </a:r>
          </a:p>
        </p:txBody>
      </p:sp>
      <p:sp>
        <p:nvSpPr>
          <p:cNvPr id="19" name="下矢印 18"/>
          <p:cNvSpPr/>
          <p:nvPr/>
        </p:nvSpPr>
        <p:spPr>
          <a:xfrm>
            <a:off x="3347864" y="2636912"/>
            <a:ext cx="1872208" cy="5533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4662117" y="3455294"/>
            <a:ext cx="4481883" cy="2181751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if(state == STATE_WALK){</a:t>
            </a:r>
            <a:br>
              <a:rPr lang="en-US" altLang="ja-JP" sz="2263" b="1" dirty="0"/>
            </a:br>
            <a:r>
              <a:rPr lang="en-US" altLang="ja-JP" sz="2263" b="1" dirty="0"/>
              <a:t>} </a:t>
            </a:r>
            <a:br>
              <a:rPr lang="en-US" altLang="ja-JP" sz="2263" b="1" dirty="0"/>
            </a:br>
            <a:r>
              <a:rPr lang="en-US" altLang="ja-JP" sz="2263" b="1" dirty="0"/>
              <a:t>if(state == STATE_JUMP){</a:t>
            </a:r>
            <a:br>
              <a:rPr lang="en-US" altLang="ja-JP" sz="2263" b="1" dirty="0"/>
            </a:br>
            <a:r>
              <a:rPr lang="en-US" altLang="ja-JP" sz="2263" b="1" dirty="0"/>
              <a:t>}</a:t>
            </a:r>
            <a:br>
              <a:rPr lang="en-US" altLang="ja-JP" sz="2263" b="1" dirty="0"/>
            </a:br>
            <a:r>
              <a:rPr lang="en-US" altLang="ja-JP" sz="2263" b="1" dirty="0"/>
              <a:t>if(state == STATE_ATTACK){</a:t>
            </a:r>
            <a:br>
              <a:rPr lang="en-US" altLang="ja-JP" sz="2263" b="1" dirty="0"/>
            </a:br>
            <a:r>
              <a:rPr lang="en-US" altLang="ja-JP" sz="2263" b="1" dirty="0"/>
              <a:t>}</a:t>
            </a:r>
          </a:p>
        </p:txBody>
      </p:sp>
      <p:sp>
        <p:nvSpPr>
          <p:cNvPr id="21" name="角丸四角形吹き出し 20"/>
          <p:cNvSpPr/>
          <p:nvPr/>
        </p:nvSpPr>
        <p:spPr>
          <a:xfrm>
            <a:off x="3347864" y="6230733"/>
            <a:ext cx="4680520" cy="515470"/>
          </a:xfrm>
          <a:prstGeom prst="wedgeRoundRectCallout">
            <a:avLst>
              <a:gd name="adj1" fmla="val 23792"/>
              <a:gd name="adj2" fmla="val -16451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260" b="1" dirty="0"/>
              <a:t>何をやる処理か分かる！！</a:t>
            </a:r>
            <a:endParaRPr kumimoji="1" lang="ja-JP" altLang="en-US" sz="2260" b="1" dirty="0"/>
          </a:p>
        </p:txBody>
      </p:sp>
    </p:spTree>
    <p:extLst>
      <p:ext uri="{BB962C8B-B14F-4D97-AF65-F5344CB8AC3E}">
        <p14:creationId xmlns:p14="http://schemas.microsoft.com/office/powerpoint/2010/main" val="741772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95536" y="99383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計算式と条件式</a:t>
            </a:r>
            <a:r>
              <a:rPr lang="en-US" altLang="ja-JP" sz="2263" b="1" dirty="0"/>
              <a:t>]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598782" y="566412"/>
            <a:ext cx="7946437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計算式・条件式もちょっとしたミスでバグになりやすい。</a:t>
            </a:r>
            <a:br>
              <a:rPr lang="en-US" altLang="ja-JP" sz="2263" b="1" dirty="0"/>
            </a:br>
            <a:r>
              <a:rPr lang="ja-JP" altLang="en-US" sz="2263" b="1" dirty="0"/>
              <a:t>以下の二つに注意すれば、プログラムが見やすくなる。</a:t>
            </a:r>
            <a:endParaRPr lang="en-US" altLang="ja-JP" sz="2263" b="1" dirty="0"/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2195736" y="1409398"/>
            <a:ext cx="4227579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・</a:t>
            </a:r>
            <a:r>
              <a:rPr lang="ja-JP" altLang="en-US" sz="2263" b="1" dirty="0">
                <a:solidFill>
                  <a:srgbClr val="0000FF"/>
                </a:solidFill>
              </a:rPr>
              <a:t>説明用変数</a:t>
            </a:r>
            <a:r>
              <a:rPr lang="ja-JP" altLang="en-US" sz="2263" b="1" dirty="0"/>
              <a:t>を利用する</a:t>
            </a:r>
            <a:br>
              <a:rPr lang="en-US" altLang="ja-JP" sz="2263" b="1" dirty="0"/>
            </a:br>
            <a:r>
              <a:rPr lang="ja-JP" altLang="en-US" sz="2263" b="1" dirty="0"/>
              <a:t>・</a:t>
            </a:r>
            <a:r>
              <a:rPr lang="ja-JP" altLang="en-US" sz="2263" b="1" dirty="0">
                <a:solidFill>
                  <a:srgbClr val="00B050"/>
                </a:solidFill>
              </a:rPr>
              <a:t>計算式</a:t>
            </a:r>
            <a:r>
              <a:rPr lang="ja-JP" altLang="en-US" sz="2263" b="1" dirty="0"/>
              <a:t>や</a:t>
            </a:r>
            <a:r>
              <a:rPr lang="ja-JP" altLang="en-US" sz="2263" b="1" dirty="0">
                <a:solidFill>
                  <a:srgbClr val="00B050"/>
                </a:solidFill>
              </a:rPr>
              <a:t>条件式</a:t>
            </a:r>
            <a:r>
              <a:rPr lang="ja-JP" altLang="en-US" sz="2263" b="1" dirty="0"/>
              <a:t>を</a:t>
            </a:r>
            <a:r>
              <a:rPr lang="ja-JP" altLang="en-US" sz="2263" b="1" dirty="0">
                <a:solidFill>
                  <a:srgbClr val="0000FF"/>
                </a:solidFill>
              </a:rPr>
              <a:t>関数化</a:t>
            </a:r>
            <a:r>
              <a:rPr lang="ja-JP" altLang="en-US" sz="2263" b="1" dirty="0"/>
              <a:t>する</a:t>
            </a:r>
            <a:endParaRPr lang="en-US" altLang="ja-JP" sz="2263" b="1" dirty="0"/>
          </a:p>
        </p:txBody>
      </p:sp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179512" y="2628390"/>
            <a:ext cx="70982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＜例：キャラクターがダッシュしているかどうかを調べる＞</a:t>
            </a:r>
            <a:endParaRPr lang="en-US" altLang="ja-JP" sz="2263" b="1" dirty="0"/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383141" y="3072987"/>
            <a:ext cx="8539899" cy="7888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if(speed &gt;= 10.0f &amp;&amp; !(y &gt; 0.0f) &amp;&amp; state != STATE_DAMAGE){</a:t>
            </a:r>
            <a:br>
              <a:rPr lang="en-US" altLang="ja-JP" sz="2263" b="1" dirty="0"/>
            </a:br>
            <a:r>
              <a:rPr lang="en-US" altLang="ja-JP" sz="2263" b="1" dirty="0"/>
              <a:t>}</a:t>
            </a:r>
          </a:p>
        </p:txBody>
      </p:sp>
      <p:sp>
        <p:nvSpPr>
          <p:cNvPr id="21" name="下矢印 20"/>
          <p:cNvSpPr/>
          <p:nvPr/>
        </p:nvSpPr>
        <p:spPr>
          <a:xfrm>
            <a:off x="3275856" y="4149636"/>
            <a:ext cx="1872208" cy="5533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330987" y="5002986"/>
            <a:ext cx="8604448" cy="18335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const</a:t>
            </a:r>
            <a:r>
              <a:rPr lang="en-US" altLang="ja-JP" sz="2263" b="1" dirty="0"/>
              <a:t> bool </a:t>
            </a:r>
            <a:r>
              <a:rPr lang="en-US" altLang="ja-JP" sz="2263" b="1" dirty="0" err="1"/>
              <a:t>isJump</a:t>
            </a:r>
            <a:r>
              <a:rPr lang="en-US" altLang="ja-JP" sz="2263" b="1" dirty="0"/>
              <a:t> = y &gt; 0.0f;</a:t>
            </a:r>
            <a:br>
              <a:rPr lang="en-US" altLang="ja-JP" sz="2263" b="1" dirty="0"/>
            </a:br>
            <a:r>
              <a:rPr lang="en-US" altLang="ja-JP" sz="2263" b="1" dirty="0" err="1"/>
              <a:t>const</a:t>
            </a:r>
            <a:r>
              <a:rPr lang="en-US" altLang="ja-JP" sz="2263" b="1" dirty="0"/>
              <a:t> bool </a:t>
            </a:r>
            <a:r>
              <a:rPr lang="en-US" altLang="ja-JP" sz="2263" b="1" dirty="0" err="1"/>
              <a:t>isDamage</a:t>
            </a:r>
            <a:r>
              <a:rPr lang="en-US" altLang="ja-JP" sz="2263" b="1" dirty="0"/>
              <a:t> = state == STATE_DAMAGE;</a:t>
            </a:r>
            <a:br>
              <a:rPr lang="en-US" altLang="ja-JP" sz="2263" b="1" dirty="0"/>
            </a:br>
            <a:r>
              <a:rPr lang="en-US" altLang="ja-JP" sz="2263" b="1" dirty="0" err="1"/>
              <a:t>const</a:t>
            </a:r>
            <a:r>
              <a:rPr lang="en-US" altLang="ja-JP" sz="2263" b="1" dirty="0"/>
              <a:t> bool </a:t>
            </a:r>
            <a:r>
              <a:rPr lang="en-US" altLang="ja-JP" sz="2263" b="1" dirty="0" err="1"/>
              <a:t>isDash</a:t>
            </a:r>
            <a:r>
              <a:rPr lang="en-US" altLang="ja-JP" sz="2263" b="1" dirty="0"/>
              <a:t> = speed &gt;= 10 &amp;&amp; !</a:t>
            </a:r>
            <a:r>
              <a:rPr lang="en-US" altLang="ja-JP" sz="2263" b="1" dirty="0" err="1"/>
              <a:t>isJump</a:t>
            </a:r>
            <a:r>
              <a:rPr lang="en-US" altLang="ja-JP" sz="2263" b="1" dirty="0"/>
              <a:t> &amp;&amp; !</a:t>
            </a:r>
            <a:r>
              <a:rPr lang="en-US" altLang="ja-JP" sz="2263" b="1" dirty="0" err="1"/>
              <a:t>isDamage</a:t>
            </a:r>
            <a:r>
              <a:rPr lang="en-US" altLang="ja-JP" sz="2263" b="1" dirty="0"/>
              <a:t>;</a:t>
            </a:r>
            <a:br>
              <a:rPr lang="en-US" altLang="ja-JP" sz="2263" b="1" dirty="0"/>
            </a:br>
            <a:r>
              <a:rPr lang="en-US" altLang="ja-JP" sz="2263" b="1" dirty="0"/>
              <a:t>if(</a:t>
            </a:r>
            <a:r>
              <a:rPr lang="en-US" altLang="ja-JP" sz="2263" b="1" dirty="0" err="1"/>
              <a:t>isDash</a:t>
            </a:r>
            <a:r>
              <a:rPr lang="en-US" altLang="ja-JP" sz="2263" b="1" dirty="0"/>
              <a:t>){</a:t>
            </a:r>
            <a:br>
              <a:rPr lang="en-US" altLang="ja-JP" sz="2263" b="1" dirty="0"/>
            </a:br>
            <a:r>
              <a:rPr lang="en-US" altLang="ja-JP" sz="2263" b="1" dirty="0"/>
              <a:t>}</a:t>
            </a:r>
          </a:p>
        </p:txBody>
      </p:sp>
      <p:sp>
        <p:nvSpPr>
          <p:cNvPr id="23" name="角丸四角形吹き出し 22"/>
          <p:cNvSpPr/>
          <p:nvPr/>
        </p:nvSpPr>
        <p:spPr>
          <a:xfrm>
            <a:off x="5610672" y="4420934"/>
            <a:ext cx="3312368" cy="736463"/>
          </a:xfrm>
          <a:prstGeom prst="wedgeRoundRectCallout">
            <a:avLst>
              <a:gd name="adj1" fmla="val -64223"/>
              <a:gd name="adj2" fmla="val 5593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260" b="1" dirty="0"/>
              <a:t>細かく分解すれば</a:t>
            </a:r>
            <a:br>
              <a:rPr lang="en-US" altLang="ja-JP" sz="2260" b="1" dirty="0"/>
            </a:br>
            <a:r>
              <a:rPr lang="ja-JP" altLang="en-US" sz="2260" b="1" dirty="0"/>
              <a:t>わかりやすい！</a:t>
            </a:r>
            <a:endParaRPr kumimoji="1" lang="ja-JP" altLang="en-US" sz="2260" b="1" dirty="0"/>
          </a:p>
        </p:txBody>
      </p:sp>
    </p:spTree>
    <p:extLst>
      <p:ext uri="{BB962C8B-B14F-4D97-AF65-F5344CB8AC3E}">
        <p14:creationId xmlns:p14="http://schemas.microsoft.com/office/powerpoint/2010/main" val="4092233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1177911" y="3535408"/>
            <a:ext cx="424847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356501" y="702929"/>
            <a:ext cx="8604448" cy="4619406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bool </a:t>
            </a:r>
            <a:r>
              <a:rPr lang="en-US" altLang="ja-JP" sz="2263" b="1" dirty="0" err="1"/>
              <a:t>IsJump</a:t>
            </a:r>
            <a:r>
              <a:rPr lang="en-US" altLang="ja-JP" sz="2263" b="1" dirty="0"/>
              <a:t>(){</a:t>
            </a:r>
            <a:br>
              <a:rPr lang="en-US" altLang="ja-JP" sz="2263" b="1" dirty="0"/>
            </a:br>
            <a:r>
              <a:rPr lang="en-US" altLang="ja-JP" sz="2263" b="1" dirty="0"/>
              <a:t>	return y &gt; 0.0f;</a:t>
            </a:r>
            <a:br>
              <a:rPr lang="en-US" altLang="ja-JP" sz="2263" b="1" dirty="0"/>
            </a:br>
            <a:r>
              <a:rPr lang="en-US" altLang="ja-JP" sz="2263" b="1" dirty="0"/>
              <a:t>}</a:t>
            </a:r>
            <a:br>
              <a:rPr lang="en-US" altLang="ja-JP" sz="2263" b="1" dirty="0"/>
            </a:br>
            <a:r>
              <a:rPr lang="en-US" altLang="ja-JP" sz="2263" b="1" dirty="0"/>
              <a:t>bool </a:t>
            </a:r>
            <a:r>
              <a:rPr lang="en-US" altLang="ja-JP" sz="2263" b="1" dirty="0" err="1"/>
              <a:t>IsDamage</a:t>
            </a:r>
            <a:r>
              <a:rPr lang="en-US" altLang="ja-JP" sz="2263" b="1" dirty="0"/>
              <a:t>(){</a:t>
            </a:r>
            <a:br>
              <a:rPr lang="en-US" altLang="ja-JP" sz="2263" b="1" dirty="0"/>
            </a:br>
            <a:r>
              <a:rPr lang="en-US" altLang="ja-JP" sz="2263" b="1" dirty="0"/>
              <a:t>	return state == STATE_DAMAGE;</a:t>
            </a:r>
            <a:br>
              <a:rPr lang="en-US" altLang="ja-JP" sz="2263" b="1" dirty="0"/>
            </a:br>
            <a:r>
              <a:rPr lang="en-US" altLang="ja-JP" sz="2263" b="1" dirty="0"/>
              <a:t>}</a:t>
            </a:r>
            <a:br>
              <a:rPr lang="en-US" altLang="ja-JP" sz="2263" b="1" dirty="0"/>
            </a:br>
            <a:br>
              <a:rPr lang="en-US" altLang="ja-JP" sz="2263" b="1" dirty="0"/>
            </a:br>
            <a:r>
              <a:rPr lang="en-US" altLang="ja-JP" sz="2263" b="1" dirty="0"/>
              <a:t>bool </a:t>
            </a:r>
            <a:r>
              <a:rPr lang="en-US" altLang="ja-JP" sz="2263" b="1" dirty="0" err="1"/>
              <a:t>IsDash</a:t>
            </a:r>
            <a:r>
              <a:rPr lang="en-US" altLang="ja-JP" sz="2263" b="1" dirty="0"/>
              <a:t>(){</a:t>
            </a:r>
            <a:br>
              <a:rPr lang="en-US" altLang="ja-JP" sz="2263" b="1" dirty="0"/>
            </a:br>
            <a:r>
              <a:rPr lang="en-US" altLang="ja-JP" sz="2263" b="1" dirty="0"/>
              <a:t>	if(</a:t>
            </a:r>
            <a:r>
              <a:rPr lang="en-US" altLang="ja-JP" sz="2263" b="1" dirty="0" err="1"/>
              <a:t>IsJump</a:t>
            </a:r>
            <a:r>
              <a:rPr lang="en-US" altLang="ja-JP" sz="2263" b="1" dirty="0"/>
              <a:t>()) return false;</a:t>
            </a:r>
            <a:br>
              <a:rPr lang="en-US" altLang="ja-JP" sz="2263" b="1" dirty="0"/>
            </a:br>
            <a:r>
              <a:rPr lang="en-US" altLang="ja-JP" sz="2263" b="1" dirty="0"/>
              <a:t>	if(</a:t>
            </a:r>
            <a:r>
              <a:rPr lang="en-US" altLang="ja-JP" sz="2263" b="1" dirty="0" err="1"/>
              <a:t>IsDamage</a:t>
            </a:r>
            <a:r>
              <a:rPr lang="en-US" altLang="ja-JP" sz="2263" b="1" dirty="0"/>
              <a:t>()) return false;</a:t>
            </a:r>
            <a:br>
              <a:rPr lang="en-US" altLang="ja-JP" sz="2263" b="1" dirty="0"/>
            </a:br>
            <a:r>
              <a:rPr lang="en-US" altLang="ja-JP" sz="2263" b="1" dirty="0"/>
              <a:t>	if(speed &lt; 10.0f) return false;</a:t>
            </a:r>
            <a:br>
              <a:rPr lang="en-US" altLang="ja-JP" sz="2263" b="1" dirty="0"/>
            </a:br>
            <a:r>
              <a:rPr lang="en-US" altLang="ja-JP" sz="2263" b="1" dirty="0"/>
              <a:t>	return true;</a:t>
            </a:r>
            <a:br>
              <a:rPr lang="en-US" altLang="ja-JP" sz="2263" b="1" dirty="0"/>
            </a:br>
            <a:r>
              <a:rPr lang="en-US" altLang="ja-JP" sz="2263" b="1" dirty="0"/>
              <a:t>}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395536" y="253794"/>
            <a:ext cx="7946437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さらに関数化を行うと・・・</a:t>
            </a:r>
            <a:endParaRPr lang="en-US" altLang="ja-JP" sz="2263" b="1" dirty="0"/>
          </a:p>
        </p:txBody>
      </p:sp>
      <p:sp>
        <p:nvSpPr>
          <p:cNvPr id="11" name="角丸四角形吹き出し 10"/>
          <p:cNvSpPr/>
          <p:nvPr/>
        </p:nvSpPr>
        <p:spPr>
          <a:xfrm>
            <a:off x="5675784" y="3319384"/>
            <a:ext cx="3312368" cy="1080120"/>
          </a:xfrm>
          <a:prstGeom prst="wedgeRoundRectCallout">
            <a:avLst>
              <a:gd name="adj1" fmla="val -66852"/>
              <a:gd name="adj2" fmla="val 2368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260" b="1" dirty="0"/>
              <a:t>関数の特性を利用して</a:t>
            </a:r>
            <a:br>
              <a:rPr lang="en-US" altLang="ja-JP" sz="2260" b="1" dirty="0"/>
            </a:br>
            <a:r>
              <a:rPr lang="ja-JP" altLang="en-US" sz="2260" b="1" dirty="0"/>
              <a:t>さらに理解しやすい</a:t>
            </a:r>
            <a:br>
              <a:rPr lang="en-US" altLang="ja-JP" sz="2260" b="1" dirty="0"/>
            </a:br>
            <a:r>
              <a:rPr lang="ja-JP" altLang="en-US" sz="2260" b="1" dirty="0"/>
              <a:t>コードに！！</a:t>
            </a:r>
            <a:endParaRPr kumimoji="1" lang="ja-JP" altLang="en-US" sz="2260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6214" y="5517232"/>
            <a:ext cx="8604448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関数化はプログラムを見やすくするだけでなく、</a:t>
            </a:r>
            <a:br>
              <a:rPr lang="en-US" altLang="ja-JP" sz="2263" b="1" dirty="0"/>
            </a:br>
            <a:r>
              <a:rPr lang="ja-JP" altLang="en-US" sz="2263" b="1" dirty="0"/>
              <a:t>修正が必要な際には、</a:t>
            </a:r>
            <a:r>
              <a:rPr lang="ja-JP" altLang="en-US" sz="2263" b="1" dirty="0">
                <a:solidFill>
                  <a:srgbClr val="FF0000"/>
                </a:solidFill>
              </a:rPr>
              <a:t>関数内を変更するだけ</a:t>
            </a:r>
            <a:r>
              <a:rPr lang="ja-JP" altLang="en-US" sz="2263" b="1" dirty="0"/>
              <a:t>で全ての箇所が</a:t>
            </a:r>
            <a:br>
              <a:rPr lang="en-US" altLang="ja-JP" sz="2263" b="1" dirty="0"/>
            </a:br>
            <a:r>
              <a:rPr lang="ja-JP" altLang="en-US" sz="2263" b="1" dirty="0"/>
              <a:t>修正されるというメリットもある。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673828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395536" y="253794"/>
            <a:ext cx="7946437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計算式でも応用が可能。</a:t>
            </a:r>
            <a:endParaRPr lang="en-US" altLang="ja-JP" sz="2263" b="1" dirty="0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782260" y="1128908"/>
            <a:ext cx="7560840" cy="427116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void Update(float </a:t>
            </a:r>
            <a:r>
              <a:rPr lang="en-US" altLang="ja-JP" sz="2263" b="1" dirty="0" err="1"/>
              <a:t>deltaTime</a:t>
            </a:r>
            <a:r>
              <a:rPr lang="en-US" altLang="ja-JP" sz="2263" b="1" dirty="0"/>
              <a:t>)</a:t>
            </a:r>
            <a:br>
              <a:rPr lang="en-US" altLang="ja-JP" sz="2263" b="1" dirty="0"/>
            </a:br>
            <a:r>
              <a:rPr lang="en-US" altLang="ja-JP" sz="2263" b="1" dirty="0"/>
              <a:t>{</a:t>
            </a:r>
            <a:br>
              <a:rPr lang="en-US" altLang="ja-JP" sz="2263" b="1" dirty="0"/>
            </a:br>
            <a:r>
              <a:rPr lang="en-US" altLang="ja-JP" sz="2263" b="1" dirty="0"/>
              <a:t>	</a:t>
            </a:r>
            <a:r>
              <a:rPr lang="en-US" altLang="ja-JP" sz="2263" b="1" dirty="0" err="1"/>
              <a:t>position.x</a:t>
            </a:r>
            <a:r>
              <a:rPr lang="en-US" altLang="ja-JP" sz="2263" b="1" dirty="0"/>
              <a:t> += </a:t>
            </a:r>
            <a:r>
              <a:rPr lang="en-US" altLang="ja-JP" sz="2263" b="1" dirty="0" err="1"/>
              <a:t>speed.x</a:t>
            </a:r>
            <a:r>
              <a:rPr lang="en-US" altLang="ja-JP" sz="2263" b="1" dirty="0"/>
              <a:t> * </a:t>
            </a:r>
            <a:r>
              <a:rPr lang="en-US" altLang="ja-JP" sz="2263" b="1" dirty="0" err="1"/>
              <a:t>deltaTime</a:t>
            </a:r>
            <a:r>
              <a:rPr lang="en-US" altLang="ja-JP" sz="2263" b="1" dirty="0"/>
              <a:t>;</a:t>
            </a:r>
            <a:br>
              <a:rPr lang="en-US" altLang="ja-JP" sz="2263" b="1" dirty="0"/>
            </a:br>
            <a:r>
              <a:rPr lang="en-US" altLang="ja-JP" sz="2263" b="1" dirty="0"/>
              <a:t>	if(</a:t>
            </a:r>
            <a:r>
              <a:rPr lang="en-US" altLang="ja-JP" sz="2263" b="1" dirty="0" err="1"/>
              <a:t>position.x</a:t>
            </a:r>
            <a:r>
              <a:rPr lang="en-US" altLang="ja-JP" sz="2263" b="1" dirty="0"/>
              <a:t> &gt; WINDOW_W - SIZE_X / 2.0f){</a:t>
            </a:r>
            <a:br>
              <a:rPr lang="en-US" altLang="ja-JP" sz="2263" b="1" dirty="0"/>
            </a:br>
            <a:r>
              <a:rPr lang="en-US" altLang="ja-JP" sz="2263" b="1" dirty="0"/>
              <a:t>		</a:t>
            </a:r>
            <a:r>
              <a:rPr lang="en-US" altLang="ja-JP" sz="2263" b="1" dirty="0" err="1"/>
              <a:t>position.x</a:t>
            </a:r>
            <a:r>
              <a:rPr lang="en-US" altLang="ja-JP" sz="2263" b="1" dirty="0"/>
              <a:t> = WINDOW_W - SIZE_X / 2.0f;</a:t>
            </a:r>
            <a:br>
              <a:rPr lang="en-US" altLang="ja-JP" sz="2263" b="1" dirty="0"/>
            </a:br>
            <a:r>
              <a:rPr lang="en-US" altLang="ja-JP" sz="2263" b="1" dirty="0"/>
              <a:t>		</a:t>
            </a:r>
            <a:r>
              <a:rPr lang="en-US" altLang="ja-JP" sz="2263" b="1" dirty="0" err="1"/>
              <a:t>speed.x</a:t>
            </a:r>
            <a:r>
              <a:rPr lang="en-US" altLang="ja-JP" sz="2263" b="1" dirty="0"/>
              <a:t> = -ACTER_SPEED;</a:t>
            </a:r>
            <a:br>
              <a:rPr lang="en-US" altLang="ja-JP" sz="2263" b="1" dirty="0"/>
            </a:br>
            <a:r>
              <a:rPr lang="en-US" altLang="ja-JP" sz="2263" b="1" dirty="0"/>
              <a:t>	}</a:t>
            </a:r>
            <a:br>
              <a:rPr lang="en-US" altLang="ja-JP" sz="2263" b="1" dirty="0"/>
            </a:br>
            <a:r>
              <a:rPr lang="en-US" altLang="ja-JP" sz="2263" b="1" dirty="0"/>
              <a:t>	if(</a:t>
            </a:r>
            <a:r>
              <a:rPr lang="en-US" altLang="ja-JP" sz="2263" b="1" dirty="0" err="1"/>
              <a:t>position.x</a:t>
            </a:r>
            <a:r>
              <a:rPr lang="en-US" altLang="ja-JP" sz="2263" b="1" dirty="0"/>
              <a:t> &lt; SIZE_X / 2.0f){</a:t>
            </a:r>
            <a:br>
              <a:rPr lang="en-US" altLang="ja-JP" sz="2263" b="1" dirty="0"/>
            </a:br>
            <a:r>
              <a:rPr lang="en-US" altLang="ja-JP" sz="2263" b="1" dirty="0"/>
              <a:t>		</a:t>
            </a:r>
            <a:r>
              <a:rPr lang="en-US" altLang="ja-JP" sz="2263" b="1" dirty="0" err="1"/>
              <a:t>position.x</a:t>
            </a:r>
            <a:r>
              <a:rPr lang="en-US" altLang="ja-JP" sz="2263" b="1" dirty="0"/>
              <a:t> = SIZE_X / 2.0f;</a:t>
            </a:r>
            <a:br>
              <a:rPr lang="en-US" altLang="ja-JP" sz="2263" b="1" dirty="0"/>
            </a:br>
            <a:r>
              <a:rPr lang="en-US" altLang="ja-JP" sz="2263" b="1" dirty="0"/>
              <a:t>		</a:t>
            </a:r>
            <a:r>
              <a:rPr lang="en-US" altLang="ja-JP" sz="2263" b="1" dirty="0" err="1"/>
              <a:t>speed.x</a:t>
            </a:r>
            <a:r>
              <a:rPr lang="en-US" altLang="ja-JP" sz="2263" b="1" dirty="0"/>
              <a:t> = ACTER_SPEED;</a:t>
            </a:r>
            <a:br>
              <a:rPr lang="en-US" altLang="ja-JP" sz="2263" b="1" dirty="0"/>
            </a:br>
            <a:r>
              <a:rPr lang="en-US" altLang="ja-JP" sz="2263" b="1" dirty="0"/>
              <a:t>	}</a:t>
            </a:r>
            <a:br>
              <a:rPr lang="en-US" altLang="ja-JP" sz="2263" b="1" dirty="0"/>
            </a:br>
            <a:r>
              <a:rPr lang="en-US" altLang="ja-JP" sz="2263" b="1" dirty="0"/>
              <a:t>}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95536" y="688338"/>
            <a:ext cx="860444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＜初期プログラム＞</a:t>
            </a:r>
            <a:endParaRPr lang="en-US" altLang="ja-JP" sz="2263" b="1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5342136"/>
            <a:ext cx="1512168" cy="1512168"/>
          </a:xfrm>
          <a:prstGeom prst="rect">
            <a:avLst/>
          </a:prstGeom>
        </p:spPr>
      </p:pic>
      <p:sp>
        <p:nvSpPr>
          <p:cNvPr id="8" name="角丸四角形吹き出し 7"/>
          <p:cNvSpPr/>
          <p:nvPr/>
        </p:nvSpPr>
        <p:spPr>
          <a:xfrm>
            <a:off x="4211960" y="5587130"/>
            <a:ext cx="3312368" cy="1080120"/>
          </a:xfrm>
          <a:prstGeom prst="wedgeRoundRectCallout">
            <a:avLst>
              <a:gd name="adj1" fmla="val -68605"/>
              <a:gd name="adj2" fmla="val 1024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260" b="1" dirty="0"/>
              <a:t>コメントも無いので</a:t>
            </a:r>
            <a:br>
              <a:rPr lang="en-US" altLang="ja-JP" sz="2260" b="1" dirty="0"/>
            </a:br>
            <a:r>
              <a:rPr lang="ja-JP" altLang="en-US" sz="2260" b="1" dirty="0"/>
              <a:t>読みにくいプログラムだ</a:t>
            </a:r>
            <a:endParaRPr kumimoji="1" lang="ja-JP" altLang="en-US" sz="2260" b="1" dirty="0"/>
          </a:p>
        </p:txBody>
      </p:sp>
    </p:spTree>
    <p:extLst>
      <p:ext uri="{BB962C8B-B14F-4D97-AF65-F5344CB8AC3E}">
        <p14:creationId xmlns:p14="http://schemas.microsoft.com/office/powerpoint/2010/main" val="1340466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395536" y="253794"/>
            <a:ext cx="7946437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重複した計算式をまずは変数化する。</a:t>
            </a:r>
            <a:endParaRPr lang="en-US" altLang="ja-JP" sz="2263" b="1" dirty="0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395536" y="836712"/>
            <a:ext cx="8496944" cy="496764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void Update(float </a:t>
            </a:r>
            <a:r>
              <a:rPr lang="en-US" altLang="ja-JP" sz="2263" b="1" dirty="0" err="1"/>
              <a:t>deltaTime</a:t>
            </a:r>
            <a:r>
              <a:rPr lang="en-US" altLang="ja-JP" sz="2263" b="1" dirty="0"/>
              <a:t>)</a:t>
            </a:r>
            <a:br>
              <a:rPr lang="en-US" altLang="ja-JP" sz="2263" b="1" dirty="0"/>
            </a:br>
            <a:r>
              <a:rPr lang="en-US" altLang="ja-JP" sz="2263" b="1" dirty="0"/>
              <a:t>{</a:t>
            </a:r>
            <a:br>
              <a:rPr lang="en-US" altLang="ja-JP" sz="2263" b="1" dirty="0"/>
            </a:br>
            <a:r>
              <a:rPr lang="en-US" altLang="ja-JP" sz="2263" b="1" dirty="0"/>
              <a:t>	</a:t>
            </a:r>
            <a:r>
              <a:rPr lang="en-US" altLang="ja-JP" sz="2263" b="1" dirty="0" err="1">
                <a:solidFill>
                  <a:srgbClr val="0000FF"/>
                </a:solidFill>
              </a:rPr>
              <a:t>const</a:t>
            </a:r>
            <a:r>
              <a:rPr lang="en-US" altLang="ja-JP" sz="2263" b="1" dirty="0">
                <a:solidFill>
                  <a:srgbClr val="0000FF"/>
                </a:solidFill>
              </a:rPr>
              <a:t> float </a:t>
            </a:r>
            <a:r>
              <a:rPr lang="en-US" altLang="ja-JP" sz="2263" b="1" dirty="0" err="1">
                <a:solidFill>
                  <a:srgbClr val="0000FF"/>
                </a:solidFill>
              </a:rPr>
              <a:t>leftBorder</a:t>
            </a:r>
            <a:r>
              <a:rPr lang="en-US" altLang="ja-JP" sz="2263" b="1" dirty="0">
                <a:solidFill>
                  <a:srgbClr val="0000FF"/>
                </a:solidFill>
              </a:rPr>
              <a:t> = SIZE_X / 2.0f</a:t>
            </a:r>
            <a:r>
              <a:rPr lang="en-US" altLang="ja-JP" sz="2263" b="1" dirty="0"/>
              <a:t>;</a:t>
            </a:r>
            <a:br>
              <a:rPr lang="en-US" altLang="ja-JP" sz="2263" b="1" dirty="0"/>
            </a:br>
            <a:r>
              <a:rPr lang="en-US" altLang="ja-JP" sz="2263" b="1" dirty="0"/>
              <a:t>	</a:t>
            </a:r>
            <a:r>
              <a:rPr lang="en-US" altLang="ja-JP" sz="2263" b="1" dirty="0" err="1">
                <a:solidFill>
                  <a:srgbClr val="FF0000"/>
                </a:solidFill>
              </a:rPr>
              <a:t>const</a:t>
            </a:r>
            <a:r>
              <a:rPr lang="en-US" altLang="ja-JP" sz="2263" b="1" dirty="0">
                <a:solidFill>
                  <a:srgbClr val="FF0000"/>
                </a:solidFill>
              </a:rPr>
              <a:t> float </a:t>
            </a:r>
            <a:r>
              <a:rPr lang="en-US" altLang="ja-JP" sz="2263" b="1" dirty="0" err="1">
                <a:solidFill>
                  <a:srgbClr val="FF0000"/>
                </a:solidFill>
              </a:rPr>
              <a:t>rightBorder</a:t>
            </a:r>
            <a:r>
              <a:rPr lang="en-US" altLang="ja-JP" sz="2263" b="1" dirty="0">
                <a:solidFill>
                  <a:srgbClr val="FF0000"/>
                </a:solidFill>
              </a:rPr>
              <a:t> = WINDOW_W - SIZE_X / 2.0f;</a:t>
            </a:r>
            <a:br>
              <a:rPr lang="en-US" altLang="ja-JP" sz="2263" b="1" dirty="0">
                <a:solidFill>
                  <a:srgbClr val="FF0000"/>
                </a:solidFill>
              </a:rPr>
            </a:br>
            <a:r>
              <a:rPr lang="en-US" altLang="ja-JP" sz="2263" b="1" dirty="0"/>
              <a:t>	</a:t>
            </a:r>
            <a:r>
              <a:rPr lang="en-US" altLang="ja-JP" sz="2263" b="1" dirty="0" err="1"/>
              <a:t>position.x</a:t>
            </a:r>
            <a:r>
              <a:rPr lang="en-US" altLang="ja-JP" sz="2263" b="1" dirty="0"/>
              <a:t> += </a:t>
            </a:r>
            <a:r>
              <a:rPr lang="en-US" altLang="ja-JP" sz="2263" b="1" dirty="0" err="1"/>
              <a:t>speed.x</a:t>
            </a:r>
            <a:r>
              <a:rPr lang="en-US" altLang="ja-JP" sz="2263" b="1" dirty="0"/>
              <a:t> * </a:t>
            </a:r>
            <a:r>
              <a:rPr lang="en-US" altLang="ja-JP" sz="2263" b="1" dirty="0" err="1"/>
              <a:t>deltaTime</a:t>
            </a:r>
            <a:r>
              <a:rPr lang="en-US" altLang="ja-JP" sz="2263" b="1" dirty="0"/>
              <a:t>;</a:t>
            </a:r>
            <a:br>
              <a:rPr lang="en-US" altLang="ja-JP" sz="2263" b="1" dirty="0"/>
            </a:br>
            <a:r>
              <a:rPr lang="en-US" altLang="ja-JP" sz="2263" b="1" dirty="0"/>
              <a:t>	if(</a:t>
            </a:r>
            <a:r>
              <a:rPr lang="en-US" altLang="ja-JP" sz="2263" b="1" dirty="0" err="1"/>
              <a:t>position.x</a:t>
            </a:r>
            <a:r>
              <a:rPr lang="en-US" altLang="ja-JP" sz="2263" b="1" dirty="0"/>
              <a:t> &gt; </a:t>
            </a:r>
            <a:r>
              <a:rPr lang="en-US" altLang="ja-JP" sz="2263" b="1" dirty="0" err="1">
                <a:solidFill>
                  <a:srgbClr val="FF0000"/>
                </a:solidFill>
              </a:rPr>
              <a:t>rightBorder</a:t>
            </a:r>
            <a:r>
              <a:rPr lang="en-US" altLang="ja-JP" sz="2263" b="1" dirty="0"/>
              <a:t>){</a:t>
            </a:r>
            <a:br>
              <a:rPr lang="en-US" altLang="ja-JP" sz="2263" b="1" dirty="0"/>
            </a:br>
            <a:r>
              <a:rPr lang="en-US" altLang="ja-JP" sz="2263" b="1" dirty="0"/>
              <a:t>		</a:t>
            </a:r>
            <a:r>
              <a:rPr lang="en-US" altLang="ja-JP" sz="2263" b="1" dirty="0" err="1"/>
              <a:t>position.x</a:t>
            </a:r>
            <a:r>
              <a:rPr lang="en-US" altLang="ja-JP" sz="2263" b="1" dirty="0"/>
              <a:t> = </a:t>
            </a:r>
            <a:r>
              <a:rPr lang="en-US" altLang="ja-JP" sz="2263" b="1" dirty="0" err="1">
                <a:solidFill>
                  <a:srgbClr val="FF0000"/>
                </a:solidFill>
              </a:rPr>
              <a:t>rightBorder</a:t>
            </a:r>
            <a:r>
              <a:rPr lang="en-US" altLang="ja-JP" sz="2263" b="1" dirty="0"/>
              <a:t>;</a:t>
            </a:r>
            <a:br>
              <a:rPr lang="en-US" altLang="ja-JP" sz="2263" b="1" dirty="0"/>
            </a:br>
            <a:r>
              <a:rPr lang="en-US" altLang="ja-JP" sz="2263" b="1" dirty="0"/>
              <a:t>		</a:t>
            </a:r>
            <a:r>
              <a:rPr lang="en-US" altLang="ja-JP" sz="2263" b="1" dirty="0" err="1"/>
              <a:t>speed.x</a:t>
            </a:r>
            <a:r>
              <a:rPr lang="en-US" altLang="ja-JP" sz="2263" b="1" dirty="0"/>
              <a:t> = -ACTER_SPEED;</a:t>
            </a:r>
            <a:br>
              <a:rPr lang="en-US" altLang="ja-JP" sz="2263" b="1" dirty="0"/>
            </a:br>
            <a:r>
              <a:rPr lang="en-US" altLang="ja-JP" sz="2263" b="1" dirty="0"/>
              <a:t>	}</a:t>
            </a:r>
            <a:br>
              <a:rPr lang="en-US" altLang="ja-JP" sz="2263" b="1" dirty="0"/>
            </a:br>
            <a:r>
              <a:rPr lang="en-US" altLang="ja-JP" sz="2263" b="1" dirty="0"/>
              <a:t>	if(</a:t>
            </a:r>
            <a:r>
              <a:rPr lang="en-US" altLang="ja-JP" sz="2263" b="1" dirty="0" err="1"/>
              <a:t>position.x</a:t>
            </a:r>
            <a:r>
              <a:rPr lang="en-US" altLang="ja-JP" sz="2263" b="1" dirty="0"/>
              <a:t> &lt; </a:t>
            </a:r>
            <a:r>
              <a:rPr lang="en-US" altLang="ja-JP" sz="2263" b="1" dirty="0" err="1">
                <a:solidFill>
                  <a:srgbClr val="0000FF"/>
                </a:solidFill>
              </a:rPr>
              <a:t>leftBorder</a:t>
            </a:r>
            <a:r>
              <a:rPr lang="en-US" altLang="ja-JP" sz="2263" b="1" dirty="0"/>
              <a:t>){</a:t>
            </a:r>
            <a:br>
              <a:rPr lang="en-US" altLang="ja-JP" sz="2263" b="1" dirty="0"/>
            </a:br>
            <a:r>
              <a:rPr lang="en-US" altLang="ja-JP" sz="2263" b="1" dirty="0"/>
              <a:t>		</a:t>
            </a:r>
            <a:r>
              <a:rPr lang="en-US" altLang="ja-JP" sz="2263" b="1" dirty="0" err="1"/>
              <a:t>position.x</a:t>
            </a:r>
            <a:r>
              <a:rPr lang="en-US" altLang="ja-JP" sz="2263" b="1" dirty="0"/>
              <a:t> = </a:t>
            </a:r>
            <a:r>
              <a:rPr lang="en-US" altLang="ja-JP" sz="2263" b="1" dirty="0" err="1">
                <a:solidFill>
                  <a:srgbClr val="0000FF"/>
                </a:solidFill>
              </a:rPr>
              <a:t>leftBorder</a:t>
            </a:r>
            <a:r>
              <a:rPr lang="en-US" altLang="ja-JP" sz="2263" b="1" dirty="0"/>
              <a:t>;</a:t>
            </a:r>
            <a:br>
              <a:rPr lang="en-US" altLang="ja-JP" sz="2263" b="1" dirty="0"/>
            </a:br>
            <a:r>
              <a:rPr lang="en-US" altLang="ja-JP" sz="2263" b="1" dirty="0"/>
              <a:t>		</a:t>
            </a:r>
            <a:r>
              <a:rPr lang="en-US" altLang="ja-JP" sz="2263" b="1" dirty="0" err="1"/>
              <a:t>speed.x</a:t>
            </a:r>
            <a:r>
              <a:rPr lang="en-US" altLang="ja-JP" sz="2263" b="1" dirty="0"/>
              <a:t> = ACTER_SPEED;</a:t>
            </a:r>
            <a:br>
              <a:rPr lang="en-US" altLang="ja-JP" sz="2263" b="1" dirty="0"/>
            </a:br>
            <a:r>
              <a:rPr lang="en-US" altLang="ja-JP" sz="2263" b="1" dirty="0"/>
              <a:t>	}</a:t>
            </a:r>
            <a:br>
              <a:rPr lang="en-US" altLang="ja-JP" sz="2263" b="1" dirty="0"/>
            </a:br>
            <a:r>
              <a:rPr lang="en-US" altLang="ja-JP" sz="2263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28343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395536" y="116632"/>
            <a:ext cx="7946437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さらに、各処理を関数化していくと・・・</a:t>
            </a:r>
            <a:endParaRPr lang="en-US" altLang="ja-JP" sz="2263" b="1" dirty="0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395536" y="548680"/>
            <a:ext cx="8496944" cy="62478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000" b="1" dirty="0">
                <a:solidFill>
                  <a:srgbClr val="00B050"/>
                </a:solidFill>
              </a:rPr>
              <a:t>//  </a:t>
            </a:r>
            <a:r>
              <a:rPr lang="ja-JP" altLang="en-US" sz="2000" b="1" dirty="0">
                <a:solidFill>
                  <a:srgbClr val="00B050"/>
                </a:solidFill>
              </a:rPr>
              <a:t>移動処理</a:t>
            </a:r>
            <a:br>
              <a:rPr lang="en-US" altLang="ja-JP" sz="2000" b="1" dirty="0">
                <a:solidFill>
                  <a:srgbClr val="00B050"/>
                </a:solidFill>
              </a:rPr>
            </a:br>
            <a:r>
              <a:rPr lang="en-US" altLang="ja-JP" sz="2000" b="1" dirty="0"/>
              <a:t>void Move(</a:t>
            </a:r>
            <a:r>
              <a:rPr lang="en-US" altLang="ja-JP" sz="2000" b="1" dirty="0" err="1"/>
              <a:t>flaot</a:t>
            </a:r>
            <a:r>
              <a:rPr lang="en-US" altLang="ja-JP" sz="2000" b="1" dirty="0"/>
              <a:t> </a:t>
            </a:r>
            <a:r>
              <a:rPr lang="en-US" altLang="ja-JP" sz="2000" b="1" dirty="0" err="1"/>
              <a:t>deltaTime</a:t>
            </a:r>
            <a:r>
              <a:rPr lang="en-US" altLang="ja-JP" sz="2000" b="1" dirty="0"/>
              <a:t>){</a:t>
            </a:r>
            <a:br>
              <a:rPr lang="en-US" altLang="ja-JP" sz="2000" b="1" dirty="0"/>
            </a:br>
            <a:r>
              <a:rPr lang="en-US" altLang="ja-JP" sz="2000" b="1" dirty="0"/>
              <a:t>	</a:t>
            </a:r>
            <a:r>
              <a:rPr lang="en-US" altLang="ja-JP" sz="2000" b="1" dirty="0" err="1"/>
              <a:t>position.x</a:t>
            </a:r>
            <a:r>
              <a:rPr lang="en-US" altLang="ja-JP" sz="2000" b="1" dirty="0"/>
              <a:t> += </a:t>
            </a:r>
            <a:r>
              <a:rPr lang="en-US" altLang="ja-JP" sz="2000" b="1" dirty="0" err="1"/>
              <a:t>speed.x</a:t>
            </a:r>
            <a:r>
              <a:rPr lang="en-US" altLang="ja-JP" sz="2000" b="1" dirty="0"/>
              <a:t> * </a:t>
            </a:r>
            <a:r>
              <a:rPr lang="en-US" altLang="ja-JP" sz="2000" b="1" dirty="0" err="1"/>
              <a:t>deltaTime</a:t>
            </a:r>
            <a:r>
              <a:rPr lang="en-US" altLang="ja-JP" sz="2000" b="1" dirty="0"/>
              <a:t>;</a:t>
            </a:r>
            <a:br>
              <a:rPr lang="en-US" altLang="ja-JP" sz="2000" b="1" dirty="0"/>
            </a:br>
            <a:r>
              <a:rPr lang="en-US" altLang="ja-JP" sz="2000" b="1" dirty="0"/>
              <a:t>}</a:t>
            </a:r>
            <a:br>
              <a:rPr lang="en-US" altLang="ja-JP" sz="2000" b="1" dirty="0"/>
            </a:br>
            <a:r>
              <a:rPr lang="en-US" altLang="ja-JP" sz="2000" b="1" dirty="0">
                <a:solidFill>
                  <a:srgbClr val="00B050"/>
                </a:solidFill>
              </a:rPr>
              <a:t>//  </a:t>
            </a:r>
            <a:r>
              <a:rPr lang="ja-JP" altLang="en-US" sz="2000" b="1" dirty="0">
                <a:solidFill>
                  <a:srgbClr val="00B050"/>
                </a:solidFill>
              </a:rPr>
              <a:t>右端チェック</a:t>
            </a:r>
            <a:br>
              <a:rPr lang="en-US" altLang="ja-JP" sz="2000" b="1" dirty="0">
                <a:solidFill>
                  <a:srgbClr val="00B050"/>
                </a:solidFill>
              </a:rPr>
            </a:br>
            <a:r>
              <a:rPr lang="en-US" altLang="ja-JP" sz="2000" b="1" dirty="0"/>
              <a:t>float </a:t>
            </a:r>
            <a:r>
              <a:rPr lang="en-US" altLang="ja-JP" sz="2000" b="1" dirty="0" err="1"/>
              <a:t>RightBorder</a:t>
            </a:r>
            <a:r>
              <a:rPr lang="en-US" altLang="ja-JP" sz="2000" b="1" dirty="0"/>
              <a:t>(){</a:t>
            </a:r>
            <a:br>
              <a:rPr lang="en-US" altLang="ja-JP" sz="2000" b="1" dirty="0"/>
            </a:br>
            <a:r>
              <a:rPr lang="en-US" altLang="ja-JP" sz="2000" b="1" dirty="0"/>
              <a:t>	return WINDOW_W - SIZE_X / 2.0f;</a:t>
            </a:r>
            <a:br>
              <a:rPr lang="en-US" altLang="ja-JP" sz="2000" b="1" dirty="0"/>
            </a:br>
            <a:r>
              <a:rPr lang="en-US" altLang="ja-JP" sz="2000" b="1" dirty="0"/>
              <a:t>} </a:t>
            </a:r>
            <a:br>
              <a:rPr lang="en-US" altLang="ja-JP" sz="2000" b="1" dirty="0"/>
            </a:br>
            <a:r>
              <a:rPr lang="en-US" altLang="ja-JP" sz="2000" b="1" dirty="0">
                <a:solidFill>
                  <a:srgbClr val="00B050"/>
                </a:solidFill>
              </a:rPr>
              <a:t>//  </a:t>
            </a:r>
            <a:r>
              <a:rPr lang="ja-JP" altLang="en-US" sz="2000" b="1" dirty="0">
                <a:solidFill>
                  <a:srgbClr val="00B050"/>
                </a:solidFill>
              </a:rPr>
              <a:t>左端チェック</a:t>
            </a:r>
            <a:br>
              <a:rPr lang="en-US" altLang="ja-JP" sz="2000" b="1" dirty="0"/>
            </a:br>
            <a:r>
              <a:rPr lang="en-US" altLang="ja-JP" sz="2000" b="1" dirty="0"/>
              <a:t>float </a:t>
            </a:r>
            <a:r>
              <a:rPr lang="en-US" altLang="ja-JP" sz="2000" b="1" dirty="0" err="1"/>
              <a:t>LeftBorder</a:t>
            </a:r>
            <a:r>
              <a:rPr lang="en-US" altLang="ja-JP" sz="2000" b="1" dirty="0"/>
              <a:t>(){</a:t>
            </a:r>
            <a:br>
              <a:rPr lang="en-US" altLang="ja-JP" sz="2000" b="1" dirty="0"/>
            </a:br>
            <a:r>
              <a:rPr lang="en-US" altLang="ja-JP" sz="2000" b="1" dirty="0"/>
              <a:t>	return SIZE_X / 2.0f;</a:t>
            </a:r>
            <a:br>
              <a:rPr lang="en-US" altLang="ja-JP" sz="2000" b="1" dirty="0"/>
            </a:br>
            <a:r>
              <a:rPr lang="en-US" altLang="ja-JP" sz="2000" b="1" dirty="0"/>
              <a:t>}</a:t>
            </a:r>
            <a:br>
              <a:rPr lang="en-US" altLang="ja-JP" sz="2000" b="1" dirty="0"/>
            </a:br>
            <a:r>
              <a:rPr lang="en-US" altLang="ja-JP" sz="2000" b="1" dirty="0">
                <a:solidFill>
                  <a:srgbClr val="00B050"/>
                </a:solidFill>
              </a:rPr>
              <a:t>//  </a:t>
            </a:r>
            <a:r>
              <a:rPr lang="ja-JP" altLang="en-US" sz="2000" b="1" dirty="0">
                <a:solidFill>
                  <a:srgbClr val="00B050"/>
                </a:solidFill>
              </a:rPr>
              <a:t>左へ折り返すべきか</a:t>
            </a:r>
            <a:br>
              <a:rPr lang="en-US" altLang="ja-JP" sz="2000" b="1" dirty="0">
                <a:solidFill>
                  <a:srgbClr val="00B050"/>
                </a:solidFill>
              </a:rPr>
            </a:br>
            <a:r>
              <a:rPr lang="en-US" altLang="ja-JP" sz="2000" b="1" dirty="0"/>
              <a:t>bool </a:t>
            </a:r>
            <a:r>
              <a:rPr lang="en-US" altLang="ja-JP" sz="2000" b="1" dirty="0" err="1"/>
              <a:t>IsTurnLeft</a:t>
            </a:r>
            <a:r>
              <a:rPr lang="en-US" altLang="ja-JP" sz="2000" b="1" dirty="0"/>
              <a:t>(){</a:t>
            </a:r>
            <a:br>
              <a:rPr lang="en-US" altLang="ja-JP" sz="2000" b="1" dirty="0"/>
            </a:br>
            <a:r>
              <a:rPr lang="en-US" altLang="ja-JP" sz="2000" b="1" dirty="0"/>
              <a:t>	return </a:t>
            </a:r>
            <a:r>
              <a:rPr lang="en-US" altLang="ja-JP" sz="2000" b="1" dirty="0" err="1"/>
              <a:t>position.x</a:t>
            </a:r>
            <a:r>
              <a:rPr lang="en-US" altLang="ja-JP" sz="2000" b="1" dirty="0"/>
              <a:t> &gt; </a:t>
            </a:r>
            <a:r>
              <a:rPr lang="en-US" altLang="ja-JP" sz="2000" b="1" dirty="0" err="1"/>
              <a:t>RightBorder</a:t>
            </a:r>
            <a:r>
              <a:rPr lang="en-US" altLang="ja-JP" sz="2000" b="1" dirty="0"/>
              <a:t>();</a:t>
            </a:r>
            <a:br>
              <a:rPr lang="en-US" altLang="ja-JP" sz="2000" b="1" dirty="0"/>
            </a:br>
            <a:r>
              <a:rPr lang="en-US" altLang="ja-JP" sz="2000" b="1" dirty="0"/>
              <a:t>} </a:t>
            </a:r>
            <a:br>
              <a:rPr lang="en-US" altLang="ja-JP" sz="2000" b="1" dirty="0"/>
            </a:br>
            <a:r>
              <a:rPr lang="en-US" altLang="ja-JP" sz="2000" b="1" dirty="0">
                <a:solidFill>
                  <a:srgbClr val="00B050"/>
                </a:solidFill>
              </a:rPr>
              <a:t>//  </a:t>
            </a:r>
            <a:r>
              <a:rPr lang="ja-JP" altLang="en-US" sz="2000" b="1" dirty="0">
                <a:solidFill>
                  <a:srgbClr val="00B050"/>
                </a:solidFill>
              </a:rPr>
              <a:t>右へ折り返すべきか</a:t>
            </a:r>
            <a:br>
              <a:rPr lang="en-US" altLang="ja-JP" sz="2000" b="1" dirty="0">
                <a:solidFill>
                  <a:srgbClr val="00B050"/>
                </a:solidFill>
              </a:rPr>
            </a:br>
            <a:r>
              <a:rPr lang="en-US" altLang="ja-JP" sz="2000" b="1" dirty="0"/>
              <a:t>bool </a:t>
            </a:r>
            <a:r>
              <a:rPr lang="en-US" altLang="ja-JP" sz="2000" b="1" dirty="0" err="1"/>
              <a:t>IsTurnRight</a:t>
            </a:r>
            <a:r>
              <a:rPr lang="en-US" altLang="ja-JP" sz="2000" b="1" dirty="0"/>
              <a:t>(){</a:t>
            </a:r>
            <a:br>
              <a:rPr lang="en-US" altLang="ja-JP" sz="2000" b="1" dirty="0"/>
            </a:br>
            <a:r>
              <a:rPr lang="en-US" altLang="ja-JP" sz="2000" b="1" dirty="0"/>
              <a:t>	return </a:t>
            </a:r>
            <a:r>
              <a:rPr lang="en-US" altLang="ja-JP" sz="2000" b="1" dirty="0" err="1"/>
              <a:t>position.x</a:t>
            </a:r>
            <a:r>
              <a:rPr lang="en-US" altLang="ja-JP" sz="2000" b="1" dirty="0"/>
              <a:t> &lt; </a:t>
            </a:r>
            <a:r>
              <a:rPr lang="en-US" altLang="ja-JP" sz="2000" b="1" dirty="0" err="1"/>
              <a:t>LeftBorder</a:t>
            </a:r>
            <a:r>
              <a:rPr lang="en-US" altLang="ja-JP" sz="2000" b="1" dirty="0"/>
              <a:t>();</a:t>
            </a:r>
            <a:br>
              <a:rPr lang="en-US" altLang="ja-JP" sz="2000" b="1" dirty="0"/>
            </a:br>
            <a:r>
              <a:rPr lang="en-US" altLang="ja-JP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6546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395536" y="332656"/>
            <a:ext cx="8496944" cy="31700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000" b="1" dirty="0">
                <a:solidFill>
                  <a:srgbClr val="00B050"/>
                </a:solidFill>
              </a:rPr>
              <a:t>//  </a:t>
            </a:r>
            <a:r>
              <a:rPr lang="ja-JP" altLang="en-US" sz="2000" b="1" dirty="0">
                <a:solidFill>
                  <a:srgbClr val="00B050"/>
                </a:solidFill>
              </a:rPr>
              <a:t>左折り返し</a:t>
            </a:r>
            <a:br>
              <a:rPr lang="en-US" altLang="ja-JP" sz="2000" b="1" dirty="0">
                <a:solidFill>
                  <a:srgbClr val="00B050"/>
                </a:solidFill>
              </a:rPr>
            </a:br>
            <a:r>
              <a:rPr lang="en-US" altLang="ja-JP" sz="2000" b="1" dirty="0"/>
              <a:t>void </a:t>
            </a:r>
            <a:r>
              <a:rPr lang="en-US" altLang="ja-JP" sz="2000" b="1" dirty="0" err="1"/>
              <a:t>TurnLeft</a:t>
            </a:r>
            <a:r>
              <a:rPr lang="en-US" altLang="ja-JP" sz="2000" b="1" dirty="0"/>
              <a:t>(){</a:t>
            </a:r>
            <a:br>
              <a:rPr lang="en-US" altLang="ja-JP" sz="2000" b="1" dirty="0"/>
            </a:br>
            <a:r>
              <a:rPr lang="en-US" altLang="ja-JP" sz="2000" b="1" dirty="0"/>
              <a:t>	</a:t>
            </a:r>
            <a:r>
              <a:rPr lang="en-US" altLang="ja-JP" sz="2000" b="1" dirty="0" err="1"/>
              <a:t>position.x</a:t>
            </a:r>
            <a:r>
              <a:rPr lang="en-US" altLang="ja-JP" sz="2000" b="1" dirty="0"/>
              <a:t> = </a:t>
            </a:r>
            <a:r>
              <a:rPr lang="en-US" altLang="ja-JP" sz="2000" b="1" dirty="0" err="1"/>
              <a:t>RightBorder</a:t>
            </a:r>
            <a:r>
              <a:rPr lang="en-US" altLang="ja-JP" sz="2000" b="1" dirty="0"/>
              <a:t>();</a:t>
            </a:r>
            <a:br>
              <a:rPr lang="en-US" altLang="ja-JP" sz="2000" b="1" dirty="0"/>
            </a:br>
            <a:r>
              <a:rPr lang="en-US" altLang="ja-JP" sz="2000" b="1" dirty="0"/>
              <a:t>	</a:t>
            </a:r>
            <a:r>
              <a:rPr lang="en-US" altLang="ja-JP" sz="2000" b="1" dirty="0" err="1"/>
              <a:t>speed.x</a:t>
            </a:r>
            <a:r>
              <a:rPr lang="en-US" altLang="ja-JP" sz="2000" b="1" dirty="0"/>
              <a:t> = -ACTER_SPEED;</a:t>
            </a:r>
            <a:br>
              <a:rPr lang="en-US" altLang="ja-JP" sz="2000" b="1" dirty="0"/>
            </a:br>
            <a:r>
              <a:rPr lang="en-US" altLang="ja-JP" sz="2000" b="1" dirty="0"/>
              <a:t>}</a:t>
            </a:r>
            <a:br>
              <a:rPr lang="en-US" altLang="ja-JP" sz="2000" b="1" dirty="0"/>
            </a:br>
            <a:r>
              <a:rPr lang="en-US" altLang="ja-JP" sz="2000" b="1" dirty="0">
                <a:solidFill>
                  <a:srgbClr val="00B050"/>
                </a:solidFill>
              </a:rPr>
              <a:t>//  </a:t>
            </a:r>
            <a:r>
              <a:rPr lang="ja-JP" altLang="en-US" sz="2000" b="1" dirty="0">
                <a:solidFill>
                  <a:srgbClr val="00B050"/>
                </a:solidFill>
              </a:rPr>
              <a:t>右折り返し</a:t>
            </a:r>
            <a:br>
              <a:rPr lang="en-US" altLang="ja-JP" sz="2000" b="1" dirty="0">
                <a:solidFill>
                  <a:srgbClr val="00B050"/>
                </a:solidFill>
              </a:rPr>
            </a:br>
            <a:r>
              <a:rPr lang="en-US" altLang="ja-JP" sz="2000" b="1" dirty="0"/>
              <a:t>void </a:t>
            </a:r>
            <a:r>
              <a:rPr lang="en-US" altLang="ja-JP" sz="2000" b="1" dirty="0" err="1"/>
              <a:t>TurnRight</a:t>
            </a:r>
            <a:r>
              <a:rPr lang="en-US" altLang="ja-JP" sz="2000" b="1" dirty="0"/>
              <a:t>(){</a:t>
            </a:r>
            <a:br>
              <a:rPr lang="en-US" altLang="ja-JP" sz="2000" b="1" dirty="0"/>
            </a:br>
            <a:r>
              <a:rPr lang="en-US" altLang="ja-JP" sz="2000" b="1" dirty="0"/>
              <a:t>	</a:t>
            </a:r>
            <a:r>
              <a:rPr lang="en-US" altLang="ja-JP" sz="2000" b="1" dirty="0" err="1"/>
              <a:t>position.x</a:t>
            </a:r>
            <a:r>
              <a:rPr lang="en-US" altLang="ja-JP" sz="2000" b="1" dirty="0"/>
              <a:t> = </a:t>
            </a:r>
            <a:r>
              <a:rPr lang="en-US" altLang="ja-JP" sz="2000" b="1" dirty="0" err="1"/>
              <a:t>LeftBorder</a:t>
            </a:r>
            <a:r>
              <a:rPr lang="en-US" altLang="ja-JP" sz="2000" b="1" dirty="0"/>
              <a:t>();</a:t>
            </a:r>
            <a:br>
              <a:rPr lang="en-US" altLang="ja-JP" sz="2000" b="1" dirty="0"/>
            </a:br>
            <a:r>
              <a:rPr lang="en-US" altLang="ja-JP" sz="2000" b="1" dirty="0"/>
              <a:t>	</a:t>
            </a:r>
            <a:r>
              <a:rPr lang="en-US" altLang="ja-JP" sz="2000" b="1" dirty="0" err="1"/>
              <a:t>speed.x</a:t>
            </a:r>
            <a:r>
              <a:rPr lang="en-US" altLang="ja-JP" sz="2000" b="1" dirty="0"/>
              <a:t> = ACTER_SPEED;</a:t>
            </a:r>
            <a:br>
              <a:rPr lang="en-US" altLang="ja-JP" sz="2000" b="1" dirty="0"/>
            </a:br>
            <a:r>
              <a:rPr lang="en-US" altLang="ja-JP" sz="2000" b="1" dirty="0"/>
              <a:t>} 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72007" y="3861048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ここまで細かく分ければ、メインとなる関数は以下のように出来る。</a:t>
            </a:r>
            <a:endParaRPr lang="en-US" altLang="ja-JP" sz="2263" b="1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39552" y="4437112"/>
            <a:ext cx="5328592" cy="163121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000" b="1" dirty="0"/>
              <a:t>void Update(float </a:t>
            </a:r>
            <a:r>
              <a:rPr lang="en-US" altLang="ja-JP" sz="2000" b="1" dirty="0" err="1"/>
              <a:t>deltaTime</a:t>
            </a:r>
            <a:r>
              <a:rPr lang="en-US" altLang="ja-JP" sz="2000" b="1" dirty="0"/>
              <a:t>){</a:t>
            </a:r>
            <a:br>
              <a:rPr lang="en-US" altLang="ja-JP" sz="2000" b="1" dirty="0"/>
            </a:br>
            <a:r>
              <a:rPr lang="en-US" altLang="ja-JP" sz="2000" b="1" dirty="0"/>
              <a:t>	move(</a:t>
            </a:r>
            <a:r>
              <a:rPr lang="en-US" altLang="ja-JP" sz="2000" b="1" dirty="0" err="1"/>
              <a:t>deltaTime</a:t>
            </a:r>
            <a:r>
              <a:rPr lang="en-US" altLang="ja-JP" sz="2000" b="1" dirty="0"/>
              <a:t>);</a:t>
            </a:r>
            <a:br>
              <a:rPr lang="en-US" altLang="ja-JP" sz="2000" b="1" dirty="0"/>
            </a:br>
            <a:r>
              <a:rPr lang="en-US" altLang="ja-JP" sz="2000" b="1" dirty="0"/>
              <a:t>	if(</a:t>
            </a:r>
            <a:r>
              <a:rPr lang="en-US" altLang="ja-JP" sz="2000" b="1" dirty="0" err="1"/>
              <a:t>IsTurnLeft</a:t>
            </a:r>
            <a:r>
              <a:rPr lang="en-US" altLang="ja-JP" sz="2000" b="1" dirty="0"/>
              <a:t>()) </a:t>
            </a:r>
            <a:r>
              <a:rPr lang="en-US" altLang="ja-JP" sz="2000" b="1" dirty="0" err="1"/>
              <a:t>TurnLeft</a:t>
            </a:r>
            <a:r>
              <a:rPr lang="en-US" altLang="ja-JP" sz="2000" b="1" dirty="0"/>
              <a:t>();</a:t>
            </a:r>
            <a:br>
              <a:rPr lang="en-US" altLang="ja-JP" sz="2000" b="1" dirty="0"/>
            </a:br>
            <a:r>
              <a:rPr lang="en-US" altLang="ja-JP" sz="2000" b="1" dirty="0"/>
              <a:t>	else if(</a:t>
            </a:r>
            <a:r>
              <a:rPr lang="en-US" altLang="ja-JP" sz="2000" b="1" dirty="0" err="1"/>
              <a:t>IsTurnRight</a:t>
            </a:r>
            <a:r>
              <a:rPr lang="en-US" altLang="ja-JP" sz="2000" b="1" dirty="0"/>
              <a:t>()) </a:t>
            </a:r>
            <a:r>
              <a:rPr lang="en-US" altLang="ja-JP" sz="2000" b="1" dirty="0" err="1"/>
              <a:t>TurnRight</a:t>
            </a:r>
            <a:r>
              <a:rPr lang="en-US" altLang="ja-JP" sz="2000" b="1" dirty="0"/>
              <a:t>();</a:t>
            </a:r>
            <a:br>
              <a:rPr lang="en-US" altLang="ja-JP" sz="2000" b="1" dirty="0"/>
            </a:br>
            <a:r>
              <a:rPr lang="en-US" altLang="ja-JP" sz="2000" b="1" dirty="0"/>
              <a:t>}</a:t>
            </a:r>
          </a:p>
        </p:txBody>
      </p:sp>
      <p:sp>
        <p:nvSpPr>
          <p:cNvPr id="6" name="角丸四角形吹き出し 10"/>
          <p:cNvSpPr/>
          <p:nvPr/>
        </p:nvSpPr>
        <p:spPr>
          <a:xfrm>
            <a:off x="5220072" y="5793235"/>
            <a:ext cx="3816424" cy="1022820"/>
          </a:xfrm>
          <a:prstGeom prst="wedgeRoundRectCallout">
            <a:avLst>
              <a:gd name="adj1" fmla="val -61723"/>
              <a:gd name="adj2" fmla="val -3753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今回の例はやりすぎだけど、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関数化したほうが理解しやすく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修正も楽になるよね！</a:t>
            </a:r>
          </a:p>
        </p:txBody>
      </p:sp>
    </p:spTree>
    <p:extLst>
      <p:ext uri="{BB962C8B-B14F-4D97-AF65-F5344CB8AC3E}">
        <p14:creationId xmlns:p14="http://schemas.microsoft.com/office/powerpoint/2010/main" val="173209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角丸四角形吹き出し 10"/>
          <p:cNvSpPr/>
          <p:nvPr/>
        </p:nvSpPr>
        <p:spPr>
          <a:xfrm>
            <a:off x="107504" y="188640"/>
            <a:ext cx="5472608" cy="747822"/>
          </a:xfrm>
          <a:prstGeom prst="wedgeRoundRectCallout">
            <a:avLst>
              <a:gd name="adj1" fmla="val 46221"/>
              <a:gd name="adj2" fmla="val 105653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今回やってきたプログラミングのテクニックは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どこで学べばいいの？</a:t>
            </a: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124744"/>
            <a:ext cx="3810000" cy="3562350"/>
          </a:xfrm>
          <a:prstGeom prst="rect">
            <a:avLst/>
          </a:prstGeom>
        </p:spPr>
      </p:pic>
      <p:sp>
        <p:nvSpPr>
          <p:cNvPr id="13" name="角丸四角形吹き出し 10"/>
          <p:cNvSpPr/>
          <p:nvPr/>
        </p:nvSpPr>
        <p:spPr>
          <a:xfrm>
            <a:off x="5940152" y="4149080"/>
            <a:ext cx="1950053" cy="462391"/>
          </a:xfrm>
          <a:prstGeom prst="wedgeRoundRectCallout">
            <a:avLst>
              <a:gd name="adj1" fmla="val -67616"/>
              <a:gd name="adj2" fmla="val -116854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分かりません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95536" y="5013176"/>
            <a:ext cx="8496944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プログラムは、自分で失敗して</a:t>
            </a:r>
            <a:br>
              <a:rPr lang="en-US" altLang="ja-JP" sz="2263" b="1" dirty="0"/>
            </a:br>
            <a:r>
              <a:rPr lang="ja-JP" altLang="en-US" sz="2263" b="1" dirty="0"/>
              <a:t>「</a:t>
            </a:r>
            <a:r>
              <a:rPr lang="ja-JP" altLang="en-US" sz="2263" b="1" dirty="0">
                <a:solidFill>
                  <a:srgbClr val="FF0000"/>
                </a:solidFill>
              </a:rPr>
              <a:t>次は失敗しないようにこうしよう！</a:t>
            </a:r>
            <a:r>
              <a:rPr lang="ja-JP" altLang="en-US" sz="2263" b="1" dirty="0"/>
              <a:t>」</a:t>
            </a:r>
            <a:br>
              <a:rPr lang="en-US" altLang="ja-JP" sz="2263" b="1" dirty="0"/>
            </a:br>
            <a:r>
              <a:rPr lang="ja-JP" altLang="en-US" sz="2263" b="1" dirty="0"/>
              <a:t>と考えてこそ良くなっていく。</a:t>
            </a:r>
            <a:br>
              <a:rPr lang="en-US" altLang="ja-JP" sz="2263" b="1" dirty="0"/>
            </a:br>
            <a:r>
              <a:rPr lang="ja-JP" altLang="en-US" sz="2263" b="1" dirty="0"/>
              <a:t>プログラムをやる人とやらない人は、どんどん差が大きくなっていく！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3888433927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15798</TotalTime>
  <Words>1392</Words>
  <Application>Microsoft Office PowerPoint</Application>
  <PresentationFormat>画面に合わせる (4:3)</PresentationFormat>
  <Paragraphs>61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ＭＳ Ｐゴシック</vt:lpstr>
      <vt:lpstr>Arial</vt:lpstr>
      <vt:lpstr>Calibri</vt:lpstr>
      <vt:lpstr>標準デザイン</vt:lpstr>
      <vt:lpstr>この単元の目標</vt:lpstr>
      <vt:lpstr>0 ゲーム制作を始める前に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591</cp:revision>
  <dcterms:created xsi:type="dcterms:W3CDTF">2013-04-19T02:46:48Z</dcterms:created>
  <dcterms:modified xsi:type="dcterms:W3CDTF">2026-01-30T00:55:08Z</dcterms:modified>
</cp:coreProperties>
</file>