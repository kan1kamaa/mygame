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4" r:id="rId2"/>
    <p:sldId id="263" r:id="rId3"/>
    <p:sldId id="515" r:id="rId4"/>
    <p:sldId id="516" r:id="rId5"/>
    <p:sldId id="480" r:id="rId6"/>
    <p:sldId id="497" r:id="rId7"/>
    <p:sldId id="517" r:id="rId8"/>
    <p:sldId id="518" r:id="rId9"/>
    <p:sldId id="519" r:id="rId10"/>
    <p:sldId id="505" r:id="rId11"/>
    <p:sldId id="511" r:id="rId12"/>
    <p:sldId id="512" r:id="rId13"/>
  </p:sldIdLst>
  <p:sldSz cx="9144000" cy="6858000" type="screen4x3"/>
  <p:notesSz cx="6858000" cy="9144000"/>
  <p:defaultTextStyle>
    <a:defPPr>
      <a:defRPr lang="ja-JP"/>
    </a:defPPr>
    <a:lvl1pPr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FF00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66" autoAdjust="0"/>
    <p:restoredTop sz="93432" autoAdjust="0"/>
  </p:normalViewPr>
  <p:slideViewPr>
    <p:cSldViewPr>
      <p:cViewPr varScale="1">
        <p:scale>
          <a:sx n="113" d="100"/>
          <a:sy n="113" d="100"/>
        </p:scale>
        <p:origin x="1794"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ea typeface="ＭＳ Ｐゴシック" panose="020B0600070205080204" pitchFamily="50" charset="-128"/>
              </a:defRPr>
            </a:lvl1pPr>
          </a:lstStyle>
          <a:p>
            <a:pPr>
              <a:defRPr/>
            </a:pPr>
            <a:endParaRPr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ＭＳ Ｐゴシック" panose="020B0600070205080204" pitchFamily="50" charset="-128"/>
              </a:defRPr>
            </a:lvl1pPr>
          </a:lstStyle>
          <a:p>
            <a:pPr>
              <a:defRPr/>
            </a:pPr>
            <a:fld id="{27E591F3-6C5C-4237-9A0F-19C627DFAD91}" type="datetimeFigureOut">
              <a:rPr lang="ja-JP" altLang="en-US"/>
              <a:pPr>
                <a:defRPr/>
              </a:pPr>
              <a:t>2026/4/1</a:t>
            </a:fld>
            <a:endParaRPr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ja-JP" altLang="en-US" noProof="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ea typeface="ＭＳ Ｐゴシック" panose="020B0600070205080204" pitchFamily="50" charset="-128"/>
              </a:defRPr>
            </a:lvl1pPr>
          </a:lstStyle>
          <a:p>
            <a:pPr>
              <a:defRPr/>
            </a:pPr>
            <a:endParaRPr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ea typeface="ＭＳ Ｐゴシック" panose="020B0600070205080204" pitchFamily="50" charset="-128"/>
              </a:defRPr>
            </a:lvl1pPr>
          </a:lstStyle>
          <a:p>
            <a:pPr>
              <a:defRPr/>
            </a:pPr>
            <a:fld id="{E94BE2DB-0632-44C0-A305-06F0D4B9CEE2}" type="slidenum">
              <a:rPr lang="ja-JP" altLang="en-US"/>
              <a:pPr>
                <a:defRPr/>
              </a:pPr>
              <a:t>‹#›</a:t>
            </a:fld>
            <a:endParaRPr lang="ja-JP" altLang="en-US"/>
          </a:p>
        </p:txBody>
      </p:sp>
    </p:spTree>
    <p:extLst>
      <p:ext uri="{BB962C8B-B14F-4D97-AF65-F5344CB8AC3E}">
        <p14:creationId xmlns:p14="http://schemas.microsoft.com/office/powerpoint/2010/main" val="8764599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9736DED6-970D-448F-85CD-4C9A77D3E903}" type="slidenum">
              <a:rPr lang="ja-JP" altLang="en-US" smtClean="0"/>
              <a:pPr/>
              <a:t>2</a:t>
            </a:fld>
            <a:endParaRPr lang="ja-JP" altLang="en-US"/>
          </a:p>
        </p:txBody>
      </p:sp>
    </p:spTree>
    <p:extLst>
      <p:ext uri="{BB962C8B-B14F-4D97-AF65-F5344CB8AC3E}">
        <p14:creationId xmlns:p14="http://schemas.microsoft.com/office/powerpoint/2010/main" val="659741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6AE94326-21EF-45D6-9938-6B5BD0D058E7}" type="slidenum">
              <a:rPr lang="en-US" altLang="ja-JP"/>
              <a:pPr>
                <a:defRPr/>
              </a:pPr>
              <a:t>‹#›</a:t>
            </a:fld>
            <a:endParaRPr lang="en-US" altLang="ja-JP"/>
          </a:p>
        </p:txBody>
      </p:sp>
    </p:spTree>
    <p:extLst>
      <p:ext uri="{BB962C8B-B14F-4D97-AF65-F5344CB8AC3E}">
        <p14:creationId xmlns:p14="http://schemas.microsoft.com/office/powerpoint/2010/main" val="1234905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7101B8C3-4F1B-4F8C-B78A-BA008A42883E}" type="slidenum">
              <a:rPr lang="en-US" altLang="ja-JP"/>
              <a:pPr>
                <a:defRPr/>
              </a:pPr>
              <a:t>‹#›</a:t>
            </a:fld>
            <a:endParaRPr lang="en-US" altLang="ja-JP"/>
          </a:p>
        </p:txBody>
      </p:sp>
    </p:spTree>
    <p:extLst>
      <p:ext uri="{BB962C8B-B14F-4D97-AF65-F5344CB8AC3E}">
        <p14:creationId xmlns:p14="http://schemas.microsoft.com/office/powerpoint/2010/main" val="1874039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5C00992A-329F-4748-B8BD-5ACE4AD4DE4D}" type="slidenum">
              <a:rPr lang="en-US" altLang="ja-JP"/>
              <a:pPr>
                <a:defRPr/>
              </a:pPr>
              <a:t>‹#›</a:t>
            </a:fld>
            <a:endParaRPr lang="en-US" altLang="ja-JP"/>
          </a:p>
        </p:txBody>
      </p:sp>
    </p:spTree>
    <p:extLst>
      <p:ext uri="{BB962C8B-B14F-4D97-AF65-F5344CB8AC3E}">
        <p14:creationId xmlns:p14="http://schemas.microsoft.com/office/powerpoint/2010/main" val="4094470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0A9F9311-072B-437B-8F4A-90FAC793E747}" type="slidenum">
              <a:rPr lang="en-US" altLang="ja-JP"/>
              <a:pPr>
                <a:defRPr/>
              </a:pPr>
              <a:t>‹#›</a:t>
            </a:fld>
            <a:endParaRPr lang="en-US" altLang="ja-JP"/>
          </a:p>
        </p:txBody>
      </p:sp>
    </p:spTree>
    <p:extLst>
      <p:ext uri="{BB962C8B-B14F-4D97-AF65-F5344CB8AC3E}">
        <p14:creationId xmlns:p14="http://schemas.microsoft.com/office/powerpoint/2010/main" val="3386870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p:cNvSpPr>
            <a:spLocks noGrp="1" noChangeArrowheads="1"/>
          </p:cNvSpPr>
          <p:nvPr>
            <p:ph type="sldNum" sz="quarter" idx="12"/>
          </p:nvPr>
        </p:nvSpPr>
        <p:spPr>
          <a:ln/>
        </p:spPr>
        <p:txBody>
          <a:bodyPr/>
          <a:lstStyle>
            <a:lvl1pPr>
              <a:defRPr/>
            </a:lvl1pPr>
          </a:lstStyle>
          <a:p>
            <a:pPr>
              <a:defRPr/>
            </a:pPr>
            <a:fld id="{2662856A-195B-44FC-9E8C-2B8EFCAF2E3E}" type="slidenum">
              <a:rPr lang="en-US" altLang="ja-JP"/>
              <a:pPr>
                <a:defRPr/>
              </a:pPr>
              <a:t>‹#›</a:t>
            </a:fld>
            <a:endParaRPr lang="en-US" altLang="ja-JP"/>
          </a:p>
        </p:txBody>
      </p:sp>
    </p:spTree>
    <p:extLst>
      <p:ext uri="{BB962C8B-B14F-4D97-AF65-F5344CB8AC3E}">
        <p14:creationId xmlns:p14="http://schemas.microsoft.com/office/powerpoint/2010/main" val="1391349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p:cNvSpPr>
            <a:spLocks noGrp="1" noChangeArrowheads="1"/>
          </p:cNvSpPr>
          <p:nvPr>
            <p:ph type="sldNum" sz="quarter" idx="12"/>
          </p:nvPr>
        </p:nvSpPr>
        <p:spPr>
          <a:ln/>
        </p:spPr>
        <p:txBody>
          <a:bodyPr/>
          <a:lstStyle>
            <a:lvl1pPr>
              <a:defRPr/>
            </a:lvl1pPr>
          </a:lstStyle>
          <a:p>
            <a:pPr>
              <a:defRPr/>
            </a:pPr>
            <a:fld id="{47C8990D-02EF-4AF9-8193-ADA8B1D08AA2}" type="slidenum">
              <a:rPr lang="en-US" altLang="ja-JP"/>
              <a:pPr>
                <a:defRPr/>
              </a:pPr>
              <a:t>‹#›</a:t>
            </a:fld>
            <a:endParaRPr lang="en-US" altLang="ja-JP"/>
          </a:p>
        </p:txBody>
      </p:sp>
    </p:spTree>
    <p:extLst>
      <p:ext uri="{BB962C8B-B14F-4D97-AF65-F5344CB8AC3E}">
        <p14:creationId xmlns:p14="http://schemas.microsoft.com/office/powerpoint/2010/main" val="235682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p:cNvSpPr>
            <a:spLocks noGrp="1" noChangeArrowheads="1"/>
          </p:cNvSpPr>
          <p:nvPr>
            <p:ph type="sldNum" sz="quarter" idx="12"/>
          </p:nvPr>
        </p:nvSpPr>
        <p:spPr>
          <a:ln/>
        </p:spPr>
        <p:txBody>
          <a:bodyPr/>
          <a:lstStyle>
            <a:lvl1pPr>
              <a:defRPr/>
            </a:lvl1pPr>
          </a:lstStyle>
          <a:p>
            <a:pPr>
              <a:defRPr/>
            </a:pPr>
            <a:fld id="{18EE9533-605F-4AB1-90F2-B443A41F5FFA}" type="slidenum">
              <a:rPr lang="en-US" altLang="ja-JP"/>
              <a:pPr>
                <a:defRPr/>
              </a:pPr>
              <a:t>‹#›</a:t>
            </a:fld>
            <a:endParaRPr lang="en-US" altLang="ja-JP"/>
          </a:p>
        </p:txBody>
      </p:sp>
    </p:spTree>
    <p:extLst>
      <p:ext uri="{BB962C8B-B14F-4D97-AF65-F5344CB8AC3E}">
        <p14:creationId xmlns:p14="http://schemas.microsoft.com/office/powerpoint/2010/main" val="2747756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05BF4E6F-8E4F-465C-BE46-3CA155F67AB0}" type="slidenum">
              <a:rPr lang="en-US" altLang="ja-JP"/>
              <a:pPr>
                <a:defRPr/>
              </a:pPr>
              <a:t>‹#›</a:t>
            </a:fld>
            <a:endParaRPr lang="en-US" altLang="ja-JP"/>
          </a:p>
        </p:txBody>
      </p:sp>
    </p:spTree>
    <p:extLst>
      <p:ext uri="{BB962C8B-B14F-4D97-AF65-F5344CB8AC3E}">
        <p14:creationId xmlns:p14="http://schemas.microsoft.com/office/powerpoint/2010/main" val="1853562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99BA2F0E-8486-49C0-88FF-C5FCF562858F}" type="slidenum">
              <a:rPr lang="en-US" altLang="ja-JP"/>
              <a:pPr>
                <a:defRPr/>
              </a:pPr>
              <a:t>‹#›</a:t>
            </a:fld>
            <a:endParaRPr lang="en-US" altLang="ja-JP"/>
          </a:p>
        </p:txBody>
      </p:sp>
    </p:spTree>
    <p:extLst>
      <p:ext uri="{BB962C8B-B14F-4D97-AF65-F5344CB8AC3E}">
        <p14:creationId xmlns:p14="http://schemas.microsoft.com/office/powerpoint/2010/main" val="3125023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C90312D0-E269-4F66-A389-47D91A25CDD6}" type="slidenum">
              <a:rPr lang="en-US" altLang="ja-JP"/>
              <a:pPr>
                <a:defRPr/>
              </a:pPr>
              <a:t>‹#›</a:t>
            </a:fld>
            <a:endParaRPr lang="en-US" altLang="ja-JP"/>
          </a:p>
        </p:txBody>
      </p:sp>
    </p:spTree>
    <p:extLst>
      <p:ext uri="{BB962C8B-B14F-4D97-AF65-F5344CB8AC3E}">
        <p14:creationId xmlns:p14="http://schemas.microsoft.com/office/powerpoint/2010/main" val="3574646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0CD5277F-FF33-41BB-B110-8F2E985F6F0B}" type="slidenum">
              <a:rPr lang="en-US" altLang="ja-JP"/>
              <a:pPr>
                <a:defRPr/>
              </a:pPr>
              <a:t>‹#›</a:t>
            </a:fld>
            <a:endParaRPr lang="en-US" altLang="ja-JP"/>
          </a:p>
        </p:txBody>
      </p:sp>
    </p:spTree>
    <p:extLst>
      <p:ext uri="{BB962C8B-B14F-4D97-AF65-F5344CB8AC3E}">
        <p14:creationId xmlns:p14="http://schemas.microsoft.com/office/powerpoint/2010/main" val="1620623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128"/>
              </a:defRPr>
            </a:lvl1pPr>
          </a:lstStyle>
          <a:p>
            <a:pPr>
              <a:defRPr/>
            </a:pPr>
            <a:endParaRPr lang="en-US" altLang="ja-JP"/>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128"/>
              </a:defRPr>
            </a:lvl1pPr>
          </a:lstStyle>
          <a:p>
            <a:pPr>
              <a:defRPr/>
            </a:pPr>
            <a:endParaRPr lang="en-US" altLang="ja-JP"/>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ea typeface="ＭＳ Ｐゴシック" panose="020B0600070205080204" pitchFamily="50" charset="-128"/>
              </a:defRPr>
            </a:lvl1pPr>
          </a:lstStyle>
          <a:p>
            <a:pPr>
              <a:defRPr/>
            </a:pPr>
            <a:fld id="{F2B73C9D-6D14-4BD8-824F-F00887877170}"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charset="-128"/>
        </a:defRPr>
      </a:lvl2pPr>
      <a:lvl3pPr algn="ctr" rtl="0" eaLnBrk="0" fontAlgn="base" hangingPunct="0">
        <a:spcBef>
          <a:spcPct val="0"/>
        </a:spcBef>
        <a:spcAft>
          <a:spcPct val="0"/>
        </a:spcAft>
        <a:defRPr kumimoji="1" sz="4400">
          <a:solidFill>
            <a:schemeClr val="tx2"/>
          </a:solidFill>
          <a:latin typeface="Arial" charset="0"/>
          <a:ea typeface="ＭＳ Ｐゴシック" charset="-128"/>
        </a:defRPr>
      </a:lvl3pPr>
      <a:lvl4pPr algn="ctr" rtl="0" eaLnBrk="0" fontAlgn="base" hangingPunct="0">
        <a:spcBef>
          <a:spcPct val="0"/>
        </a:spcBef>
        <a:spcAft>
          <a:spcPct val="0"/>
        </a:spcAft>
        <a:defRPr kumimoji="1" sz="4400">
          <a:solidFill>
            <a:schemeClr val="tx2"/>
          </a:solidFill>
          <a:latin typeface="Arial" charset="0"/>
          <a:ea typeface="ＭＳ Ｐゴシック" charset="-128"/>
        </a:defRPr>
      </a:lvl4pPr>
      <a:lvl5pPr algn="ctr" rtl="0" eaLnBrk="0" fontAlgn="base" hangingPunct="0">
        <a:spcBef>
          <a:spcPct val="0"/>
        </a:spcBef>
        <a:spcAft>
          <a:spcPct val="0"/>
        </a:spcAft>
        <a:defRPr kumimoji="1" sz="4400">
          <a:solidFill>
            <a:schemeClr val="tx2"/>
          </a:solidFill>
          <a:latin typeface="Arial" charset="0"/>
          <a:ea typeface="ＭＳ Ｐゴシック" charset="-128"/>
        </a:defRPr>
      </a:lvl5pPr>
      <a:lvl6pPr marL="457200" algn="ctr" rtl="0" fontAlgn="base">
        <a:spcBef>
          <a:spcPct val="0"/>
        </a:spcBef>
        <a:spcAft>
          <a:spcPct val="0"/>
        </a:spcAft>
        <a:defRPr kumimoji="1" sz="4400">
          <a:solidFill>
            <a:schemeClr val="tx2"/>
          </a:solidFill>
          <a:latin typeface="Arial" charset="0"/>
          <a:ea typeface="ＭＳ Ｐゴシック" charset="-128"/>
        </a:defRPr>
      </a:lvl6pPr>
      <a:lvl7pPr marL="914400" algn="ctr" rtl="0" fontAlgn="base">
        <a:spcBef>
          <a:spcPct val="0"/>
        </a:spcBef>
        <a:spcAft>
          <a:spcPct val="0"/>
        </a:spcAft>
        <a:defRPr kumimoji="1" sz="4400">
          <a:solidFill>
            <a:schemeClr val="tx2"/>
          </a:solidFill>
          <a:latin typeface="Arial" charset="0"/>
          <a:ea typeface="ＭＳ Ｐゴシック" charset="-128"/>
        </a:defRPr>
      </a:lvl7pPr>
      <a:lvl8pPr marL="1371600" algn="ctr" rtl="0" fontAlgn="base">
        <a:spcBef>
          <a:spcPct val="0"/>
        </a:spcBef>
        <a:spcAft>
          <a:spcPct val="0"/>
        </a:spcAft>
        <a:defRPr kumimoji="1" sz="4400">
          <a:solidFill>
            <a:schemeClr val="tx2"/>
          </a:solidFill>
          <a:latin typeface="Arial" charset="0"/>
          <a:ea typeface="ＭＳ Ｐゴシック" charset="-128"/>
        </a:defRPr>
      </a:lvl8pPr>
      <a:lvl9pPr marL="1828800" algn="ctr" rtl="0" fontAlgn="base">
        <a:spcBef>
          <a:spcPct val="0"/>
        </a:spcBef>
        <a:spcAft>
          <a:spcPct val="0"/>
        </a:spcAft>
        <a:defRPr kumimoji="1" sz="4400">
          <a:solidFill>
            <a:schemeClr val="tx2"/>
          </a:solidFill>
          <a:latin typeface="Arial" charset="0"/>
          <a:ea typeface="ＭＳ Ｐゴシック"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11188" y="468313"/>
            <a:ext cx="7772400" cy="865187"/>
          </a:xfrm>
        </p:spPr>
        <p:txBody>
          <a:bodyPr/>
          <a:lstStyle/>
          <a:p>
            <a:pPr eaLnBrk="1" hangingPunct="1"/>
            <a:r>
              <a:rPr lang="ja-JP" altLang="en-US" sz="6000" b="1">
                <a:solidFill>
                  <a:srgbClr val="FF0000"/>
                </a:solidFill>
              </a:rPr>
              <a:t>この単元の目標</a:t>
            </a:r>
          </a:p>
        </p:txBody>
      </p:sp>
      <p:pic>
        <p:nvPicPr>
          <p:cNvPr id="3075" name="図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388" y="4437063"/>
            <a:ext cx="3209925" cy="227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図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35663" y="4437063"/>
            <a:ext cx="3208337" cy="227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txBox="1">
            <a:spLocks noChangeArrowheads="1"/>
          </p:cNvSpPr>
          <p:nvPr/>
        </p:nvSpPr>
        <p:spPr bwMode="auto">
          <a:xfrm>
            <a:off x="775556" y="1484784"/>
            <a:ext cx="7772400" cy="2952328"/>
          </a:xfrm>
          <a:prstGeom prst="rect">
            <a:avLst/>
          </a:prstGeom>
          <a:ln/>
        </p:spPr>
        <p:style>
          <a:lnRef idx="2">
            <a:schemeClr val="accent6"/>
          </a:lnRef>
          <a:fillRef idx="1">
            <a:schemeClr val="lt1"/>
          </a:fillRef>
          <a:effectRef idx="0">
            <a:schemeClr val="accent6"/>
          </a:effectRef>
          <a:fontRef idx="minor">
            <a:schemeClr val="dk1"/>
          </a:fontRef>
        </p:style>
        <p:txBody>
          <a:bodyPr anchor="ct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charset="-128"/>
              </a:defRPr>
            </a:lvl2pPr>
            <a:lvl3pPr algn="ctr" rtl="0" eaLnBrk="0" fontAlgn="base" hangingPunct="0">
              <a:spcBef>
                <a:spcPct val="0"/>
              </a:spcBef>
              <a:spcAft>
                <a:spcPct val="0"/>
              </a:spcAft>
              <a:defRPr kumimoji="1" sz="4400">
                <a:solidFill>
                  <a:schemeClr val="tx2"/>
                </a:solidFill>
                <a:latin typeface="Arial" charset="0"/>
                <a:ea typeface="ＭＳ Ｐゴシック" charset="-128"/>
              </a:defRPr>
            </a:lvl3pPr>
            <a:lvl4pPr algn="ctr" rtl="0" eaLnBrk="0" fontAlgn="base" hangingPunct="0">
              <a:spcBef>
                <a:spcPct val="0"/>
              </a:spcBef>
              <a:spcAft>
                <a:spcPct val="0"/>
              </a:spcAft>
              <a:defRPr kumimoji="1" sz="4400">
                <a:solidFill>
                  <a:schemeClr val="tx2"/>
                </a:solidFill>
                <a:latin typeface="Arial" charset="0"/>
                <a:ea typeface="ＭＳ Ｐゴシック" charset="-128"/>
              </a:defRPr>
            </a:lvl4pPr>
            <a:lvl5pPr algn="ctr" rtl="0" eaLnBrk="0" fontAlgn="base" hangingPunct="0">
              <a:spcBef>
                <a:spcPct val="0"/>
              </a:spcBef>
              <a:spcAft>
                <a:spcPct val="0"/>
              </a:spcAft>
              <a:defRPr kumimoji="1" sz="4400">
                <a:solidFill>
                  <a:schemeClr val="tx2"/>
                </a:solidFill>
                <a:latin typeface="Arial" charset="0"/>
                <a:ea typeface="ＭＳ Ｐゴシック" charset="-128"/>
              </a:defRPr>
            </a:lvl5pPr>
            <a:lvl6pPr marL="457200" algn="ctr" rtl="0" fontAlgn="base">
              <a:spcBef>
                <a:spcPct val="0"/>
              </a:spcBef>
              <a:spcAft>
                <a:spcPct val="0"/>
              </a:spcAft>
              <a:defRPr kumimoji="1" sz="4400">
                <a:solidFill>
                  <a:schemeClr val="tx2"/>
                </a:solidFill>
                <a:latin typeface="Arial" charset="0"/>
                <a:ea typeface="ＭＳ Ｐゴシック" charset="-128"/>
              </a:defRPr>
            </a:lvl6pPr>
            <a:lvl7pPr marL="914400" algn="ctr" rtl="0" fontAlgn="base">
              <a:spcBef>
                <a:spcPct val="0"/>
              </a:spcBef>
              <a:spcAft>
                <a:spcPct val="0"/>
              </a:spcAft>
              <a:defRPr kumimoji="1" sz="4400">
                <a:solidFill>
                  <a:schemeClr val="tx2"/>
                </a:solidFill>
                <a:latin typeface="Arial" charset="0"/>
                <a:ea typeface="ＭＳ Ｐゴシック" charset="-128"/>
              </a:defRPr>
            </a:lvl7pPr>
            <a:lvl8pPr marL="1371600" algn="ctr" rtl="0" fontAlgn="base">
              <a:spcBef>
                <a:spcPct val="0"/>
              </a:spcBef>
              <a:spcAft>
                <a:spcPct val="0"/>
              </a:spcAft>
              <a:defRPr kumimoji="1" sz="4400">
                <a:solidFill>
                  <a:schemeClr val="tx2"/>
                </a:solidFill>
                <a:latin typeface="Arial" charset="0"/>
                <a:ea typeface="ＭＳ Ｐゴシック" charset="-128"/>
              </a:defRPr>
            </a:lvl8pPr>
            <a:lvl9pPr marL="1828800" algn="ctr" rtl="0" fontAlgn="base">
              <a:spcBef>
                <a:spcPct val="0"/>
              </a:spcBef>
              <a:spcAft>
                <a:spcPct val="0"/>
              </a:spcAft>
              <a:defRPr kumimoji="1" sz="4400">
                <a:solidFill>
                  <a:schemeClr val="tx2"/>
                </a:solidFill>
                <a:latin typeface="Arial" charset="0"/>
                <a:ea typeface="ＭＳ Ｐゴシック" charset="-128"/>
              </a:defRPr>
            </a:lvl9pPr>
          </a:lstStyle>
          <a:p>
            <a:pPr eaLnBrk="1" hangingPunct="1">
              <a:defRPr/>
            </a:pPr>
            <a:r>
              <a:rPr lang="ja-JP" altLang="en-US" sz="4800" b="1" kern="0" dirty="0">
                <a:ln w="22225">
                  <a:solidFill>
                    <a:schemeClr val="accent2"/>
                  </a:solidFill>
                  <a:prstDash val="solid"/>
                </a:ln>
                <a:solidFill>
                  <a:schemeClr val="accent2">
                    <a:lumMod val="40000"/>
                    <a:lumOff val="60000"/>
                  </a:schemeClr>
                </a:solidFill>
              </a:rPr>
              <a:t>カメラを操作して</a:t>
            </a:r>
            <a:br>
              <a:rPr lang="en-US" altLang="ja-JP" sz="4800" b="1" kern="0" dirty="0">
                <a:ln w="22225">
                  <a:solidFill>
                    <a:schemeClr val="accent2"/>
                  </a:solidFill>
                  <a:prstDash val="solid"/>
                </a:ln>
                <a:solidFill>
                  <a:schemeClr val="accent2">
                    <a:lumMod val="40000"/>
                    <a:lumOff val="60000"/>
                  </a:schemeClr>
                </a:solidFill>
              </a:rPr>
            </a:br>
            <a:r>
              <a:rPr lang="ja-JP" altLang="en-US" sz="4800" b="1" kern="0" dirty="0">
                <a:ln w="22225">
                  <a:solidFill>
                    <a:schemeClr val="accent2"/>
                  </a:solidFill>
                  <a:prstDash val="solid"/>
                </a:ln>
                <a:solidFill>
                  <a:schemeClr val="accent2">
                    <a:lumMod val="40000"/>
                    <a:lumOff val="60000"/>
                  </a:schemeClr>
                </a:solidFill>
              </a:rPr>
              <a:t>様々な方向からモデルを</a:t>
            </a:r>
            <a:br>
              <a:rPr lang="en-US" altLang="ja-JP" sz="4800" b="1" kern="0" dirty="0">
                <a:ln w="22225">
                  <a:solidFill>
                    <a:schemeClr val="accent2"/>
                  </a:solidFill>
                  <a:prstDash val="solid"/>
                </a:ln>
                <a:solidFill>
                  <a:schemeClr val="accent2">
                    <a:lumMod val="40000"/>
                    <a:lumOff val="60000"/>
                  </a:schemeClr>
                </a:solidFill>
              </a:rPr>
            </a:br>
            <a:r>
              <a:rPr lang="ja-JP" altLang="en-US" sz="4800" b="1" kern="0" dirty="0">
                <a:ln w="22225">
                  <a:solidFill>
                    <a:schemeClr val="accent2"/>
                  </a:solidFill>
                  <a:prstDash val="solid"/>
                </a:ln>
                <a:solidFill>
                  <a:schemeClr val="accent2">
                    <a:lumMod val="40000"/>
                    <a:lumOff val="60000"/>
                  </a:schemeClr>
                </a:solidFill>
              </a:rPr>
              <a:t>映す事ができる</a:t>
            </a:r>
            <a:endParaRPr lang="en-US" altLang="ja-JP" sz="4800" b="1" kern="0" dirty="0">
              <a:ln w="22225">
                <a:solidFill>
                  <a:schemeClr val="accent2"/>
                </a:solidFill>
                <a:prstDash val="solid"/>
              </a:ln>
              <a:solidFill>
                <a:schemeClr val="accent2">
                  <a:lumMod val="40000"/>
                  <a:lumOff val="6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E929C33-2D47-42B2-BFF4-EAEB38F407FA}"/>
              </a:ext>
            </a:extLst>
          </p:cNvPr>
          <p:cNvPicPr>
            <a:picLocks noChangeAspect="1"/>
          </p:cNvPicPr>
          <p:nvPr/>
        </p:nvPicPr>
        <p:blipFill>
          <a:blip r:embed="rId3"/>
          <a:stretch>
            <a:fillRect/>
          </a:stretch>
        </p:blipFill>
        <p:spPr>
          <a:xfrm>
            <a:off x="179512" y="2452874"/>
            <a:ext cx="5857647" cy="3435999"/>
          </a:xfrm>
          <a:prstGeom prst="rect">
            <a:avLst/>
          </a:prstGeom>
        </p:spPr>
      </p:pic>
      <p:sp>
        <p:nvSpPr>
          <p:cNvPr id="4100" name="Rectangle 2"/>
          <p:cNvSpPr>
            <a:spLocks noGrp="1" noChangeArrowheads="1"/>
          </p:cNvSpPr>
          <p:nvPr>
            <p:ph type="ctrTitle"/>
          </p:nvPr>
        </p:nvSpPr>
        <p:spPr>
          <a:xfrm>
            <a:off x="611188" y="468313"/>
            <a:ext cx="7772400" cy="865187"/>
          </a:xfrm>
        </p:spPr>
        <p:txBody>
          <a:bodyPr>
            <a:normAutofit/>
          </a:bodyPr>
          <a:lstStyle/>
          <a:p>
            <a:pPr eaLnBrk="1" hangingPunct="1"/>
            <a:r>
              <a:rPr lang="en-US" altLang="ja-JP" dirty="0"/>
              <a:t>2 </a:t>
            </a:r>
            <a:r>
              <a:rPr lang="ja-JP" altLang="en-US"/>
              <a:t>カメラ操作の基礎</a:t>
            </a:r>
            <a:endParaRPr lang="ja-JP" altLang="en-US" dirty="0"/>
          </a:p>
        </p:txBody>
      </p:sp>
      <p:sp>
        <p:nvSpPr>
          <p:cNvPr id="5" name="Text Box 5"/>
          <p:cNvSpPr txBox="1">
            <a:spLocks noChangeArrowheads="1"/>
          </p:cNvSpPr>
          <p:nvPr/>
        </p:nvSpPr>
        <p:spPr bwMode="auto">
          <a:xfrm>
            <a:off x="595313" y="1938411"/>
            <a:ext cx="7953375"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前回のプログラムを実際に動作させてみると・・・</a:t>
            </a:r>
            <a:endParaRPr lang="en-US" altLang="ja-JP" sz="2263" b="1" dirty="0"/>
          </a:p>
        </p:txBody>
      </p:sp>
      <p:sp>
        <p:nvSpPr>
          <p:cNvPr id="9" name="Text Box 5"/>
          <p:cNvSpPr txBox="1">
            <a:spLocks noChangeArrowheads="1"/>
          </p:cNvSpPr>
          <p:nvPr/>
        </p:nvSpPr>
        <p:spPr bwMode="auto">
          <a:xfrm>
            <a:off x="320923" y="1520424"/>
            <a:ext cx="8352928"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a:t>[</a:t>
            </a:r>
            <a:r>
              <a:rPr lang="ja-JP" altLang="en-US" sz="2263" b="1" dirty="0"/>
              <a:t>カメラの基本</a:t>
            </a:r>
            <a:r>
              <a:rPr lang="en-US" altLang="ja-JP" sz="2263" b="1" dirty="0"/>
              <a:t>]</a:t>
            </a:r>
          </a:p>
        </p:txBody>
      </p:sp>
      <p:sp>
        <p:nvSpPr>
          <p:cNvPr id="15" name="角丸四角形吹き出し 10"/>
          <p:cNvSpPr/>
          <p:nvPr/>
        </p:nvSpPr>
        <p:spPr>
          <a:xfrm>
            <a:off x="4701830" y="3003302"/>
            <a:ext cx="4190649" cy="1022820"/>
          </a:xfrm>
          <a:prstGeom prst="wedgeRoundRectCallout">
            <a:avLst>
              <a:gd name="adj1" fmla="val -135035"/>
              <a:gd name="adj2" fmla="val -62365"/>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a:latin typeface="ＭＳ Ｐゴシック"/>
              </a:rPr>
              <a:t>座標が全体的に大きな数字に</a:t>
            </a:r>
            <a:br>
              <a:rPr lang="en-US" altLang="ja-JP" sz="2000" b="1" dirty="0">
                <a:latin typeface="ＭＳ Ｐゴシック"/>
              </a:rPr>
            </a:br>
            <a:r>
              <a:rPr lang="ja-JP" altLang="en-US" sz="2000" b="1" dirty="0">
                <a:latin typeface="ＭＳ Ｐゴシック"/>
              </a:rPr>
              <a:t>なっていないと</a:t>
            </a:r>
            <a:br>
              <a:rPr lang="en-US" altLang="ja-JP" sz="2000" b="1" dirty="0">
                <a:latin typeface="ＭＳ Ｐゴシック"/>
              </a:rPr>
            </a:br>
            <a:r>
              <a:rPr lang="ja-JP" altLang="en-US" sz="2000" b="1" dirty="0">
                <a:latin typeface="ＭＳ Ｐゴシック"/>
              </a:rPr>
              <a:t>画面の中心にモデルが出ない！</a:t>
            </a:r>
          </a:p>
        </p:txBody>
      </p:sp>
      <p:sp>
        <p:nvSpPr>
          <p:cNvPr id="18" name="角丸四角形吹き出し 10"/>
          <p:cNvSpPr/>
          <p:nvPr/>
        </p:nvSpPr>
        <p:spPr>
          <a:xfrm>
            <a:off x="4701830" y="4509120"/>
            <a:ext cx="4190649" cy="1022820"/>
          </a:xfrm>
          <a:prstGeom prst="wedgeRoundRectCallout">
            <a:avLst>
              <a:gd name="adj1" fmla="val -83457"/>
              <a:gd name="adj2" fmla="val -73955"/>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a:latin typeface="ＭＳ Ｐゴシック"/>
              </a:rPr>
              <a:t>一定より手前側に来ると</a:t>
            </a:r>
            <a:br>
              <a:rPr lang="en-US" altLang="ja-JP" sz="2000" b="1" dirty="0">
                <a:latin typeface="ＭＳ Ｐゴシック"/>
              </a:rPr>
            </a:br>
            <a:r>
              <a:rPr lang="ja-JP" altLang="en-US" sz="2000" b="1" dirty="0">
                <a:latin typeface="ＭＳ Ｐゴシック"/>
              </a:rPr>
              <a:t>モデルが一部消えたりする！！</a:t>
            </a:r>
          </a:p>
        </p:txBody>
      </p:sp>
      <p:sp>
        <p:nvSpPr>
          <p:cNvPr id="19" name="Text Box 5"/>
          <p:cNvSpPr txBox="1">
            <a:spLocks noChangeArrowheads="1"/>
          </p:cNvSpPr>
          <p:nvPr/>
        </p:nvSpPr>
        <p:spPr bwMode="auto">
          <a:xfrm>
            <a:off x="520700" y="6245806"/>
            <a:ext cx="80208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これは</a:t>
            </a:r>
            <a:r>
              <a:rPr lang="en-US" altLang="ja-JP" sz="2263" b="1" dirty="0"/>
              <a:t>2D</a:t>
            </a:r>
            <a:r>
              <a:rPr lang="ja-JP" altLang="en-US" sz="2263" b="1" dirty="0"/>
              <a:t>ゲームには無かった</a:t>
            </a:r>
            <a:r>
              <a:rPr lang="ja-JP" altLang="en-US" sz="2800" b="1" dirty="0">
                <a:solidFill>
                  <a:srgbClr val="FF0000"/>
                </a:solidFill>
              </a:rPr>
              <a:t>カメラ操作</a:t>
            </a:r>
            <a:r>
              <a:rPr lang="ja-JP" altLang="en-US" sz="2263" b="1" dirty="0"/>
              <a:t>が未設定のため！！</a:t>
            </a:r>
            <a:endParaRPr lang="en-US" altLang="ja-JP" sz="2263"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303005" y="857577"/>
            <a:ext cx="6696744" cy="905930"/>
          </a:xfrm>
          <a:prstGeom prst="rect">
            <a:avLst/>
          </a:prstGeom>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err="1">
                <a:solidFill>
                  <a:schemeClr val="tx1"/>
                </a:solidFill>
              </a:rPr>
              <a:t>int</a:t>
            </a:r>
            <a:r>
              <a:rPr kumimoji="1" lang="en-US" altLang="ja-JP" sz="2400" b="1" dirty="0">
                <a:solidFill>
                  <a:schemeClr val="tx1"/>
                </a:solidFill>
              </a:rPr>
              <a:t> </a:t>
            </a:r>
            <a:r>
              <a:rPr kumimoji="1" lang="en-US" altLang="ja-JP" sz="2400" b="1" dirty="0" err="1">
                <a:solidFill>
                  <a:schemeClr val="tx1"/>
                </a:solidFill>
              </a:rPr>
              <a:t>SetCameraNearFar</a:t>
            </a:r>
            <a:r>
              <a:rPr kumimoji="1" lang="en-US" altLang="ja-JP" sz="2400" b="1" dirty="0">
                <a:solidFill>
                  <a:schemeClr val="tx1"/>
                </a:solidFill>
              </a:rPr>
              <a:t>(float </a:t>
            </a:r>
            <a:r>
              <a:rPr kumimoji="1" lang="ja-JP" altLang="en-US" sz="2400" b="1" dirty="0">
                <a:solidFill>
                  <a:schemeClr val="tx1"/>
                </a:solidFill>
              </a:rPr>
              <a:t>ニアクリッピング</a:t>
            </a:r>
            <a:r>
              <a:rPr kumimoji="1" lang="en-US" altLang="ja-JP" sz="2400" b="1" dirty="0">
                <a:solidFill>
                  <a:schemeClr val="tx1"/>
                </a:solidFill>
              </a:rPr>
              <a:t>, 				float </a:t>
            </a:r>
            <a:r>
              <a:rPr kumimoji="1" lang="ja-JP" altLang="en-US" sz="2400" b="1" dirty="0">
                <a:solidFill>
                  <a:schemeClr val="tx1"/>
                </a:solidFill>
              </a:rPr>
              <a:t>ファークリッピング</a:t>
            </a:r>
            <a:r>
              <a:rPr kumimoji="1" lang="en-US" altLang="ja-JP" sz="2400" b="1" dirty="0">
                <a:solidFill>
                  <a:schemeClr val="tx1"/>
                </a:solidFill>
              </a:rPr>
              <a:t>)</a:t>
            </a:r>
            <a:endParaRPr kumimoji="1" lang="ja-JP" altLang="en-US" sz="2400" b="1" dirty="0">
              <a:solidFill>
                <a:schemeClr val="tx1"/>
              </a:solidFill>
            </a:endParaRPr>
          </a:p>
        </p:txBody>
      </p:sp>
      <p:sp>
        <p:nvSpPr>
          <p:cNvPr id="14" name="Text Box 5"/>
          <p:cNvSpPr txBox="1">
            <a:spLocks noChangeArrowheads="1"/>
          </p:cNvSpPr>
          <p:nvPr/>
        </p:nvSpPr>
        <p:spPr bwMode="auto">
          <a:xfrm>
            <a:off x="539552" y="183734"/>
            <a:ext cx="7953375"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a:t>[</a:t>
            </a:r>
            <a:r>
              <a:rPr lang="ja-JP" altLang="en-US" sz="2263" b="1" dirty="0"/>
              <a:t>カメラ関数　～クリッピング～</a:t>
            </a:r>
            <a:r>
              <a:rPr lang="en-US" altLang="ja-JP" sz="2263" b="1" dirty="0"/>
              <a:t>]</a:t>
            </a:r>
          </a:p>
        </p:txBody>
      </p:sp>
      <p:sp>
        <p:nvSpPr>
          <p:cNvPr id="20" name="Text Box 5"/>
          <p:cNvSpPr txBox="1">
            <a:spLocks noChangeArrowheads="1"/>
          </p:cNvSpPr>
          <p:nvPr/>
        </p:nvSpPr>
        <p:spPr bwMode="auto">
          <a:xfrm>
            <a:off x="899592" y="1883502"/>
            <a:ext cx="8064896"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a:t>第一引数：手前側に映る物体の限界距離</a:t>
            </a:r>
            <a:r>
              <a:rPr lang="en-US" altLang="ja-JP" sz="2263" b="1" dirty="0"/>
              <a:t>(0.0</a:t>
            </a:r>
            <a:r>
              <a:rPr lang="ja-JP" altLang="en-US" sz="2263" b="1" dirty="0"/>
              <a:t>より上である事</a:t>
            </a:r>
            <a:r>
              <a:rPr lang="en-US" altLang="ja-JP" sz="2263" b="1" dirty="0"/>
              <a:t>)</a:t>
            </a:r>
            <a:br>
              <a:rPr lang="en-US" altLang="ja-JP" sz="2263" b="1" dirty="0"/>
            </a:br>
            <a:r>
              <a:rPr lang="ja-JP" altLang="en-US" sz="2263" b="1" dirty="0"/>
              <a:t>第二引数：奥側に映る物体の限界距離</a:t>
            </a:r>
            <a:r>
              <a:rPr lang="en-US" altLang="ja-JP" sz="2263" b="1" dirty="0"/>
              <a:t>(</a:t>
            </a:r>
            <a:r>
              <a:rPr lang="ja-JP" altLang="en-US" sz="2263" b="1" dirty="0"/>
              <a:t>第一引数より上である事</a:t>
            </a:r>
            <a:r>
              <a:rPr lang="en-US" altLang="ja-JP" sz="2263" b="1" dirty="0"/>
              <a:t>)</a:t>
            </a:r>
            <a:br>
              <a:rPr lang="en-US" altLang="ja-JP" sz="2263" b="1" dirty="0"/>
            </a:br>
            <a:r>
              <a:rPr lang="ja-JP" altLang="en-US" sz="2263" b="1" dirty="0"/>
              <a:t>戻り値：成功＝</a:t>
            </a:r>
            <a:r>
              <a:rPr lang="en-US" altLang="ja-JP" sz="2263" b="1" dirty="0"/>
              <a:t>0</a:t>
            </a:r>
            <a:r>
              <a:rPr lang="ja-JP" altLang="en-US" sz="2263" b="1" dirty="0"/>
              <a:t>　失敗＝</a:t>
            </a:r>
            <a:r>
              <a:rPr lang="en-US" altLang="ja-JP" sz="2263" b="1" dirty="0"/>
              <a:t>-1</a:t>
            </a:r>
          </a:p>
        </p:txBody>
      </p:sp>
      <p:grpSp>
        <p:nvGrpSpPr>
          <p:cNvPr id="7" name="グループ化 6"/>
          <p:cNvGrpSpPr/>
          <p:nvPr/>
        </p:nvGrpSpPr>
        <p:grpSpPr>
          <a:xfrm>
            <a:off x="715188" y="3573016"/>
            <a:ext cx="3936189" cy="3024764"/>
            <a:chOff x="814872" y="790003"/>
            <a:chExt cx="7238315" cy="5200348"/>
          </a:xfrm>
        </p:grpSpPr>
        <p:pic>
          <p:nvPicPr>
            <p:cNvPr id="8" name="図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3810" y="1370726"/>
              <a:ext cx="4705350" cy="4619625"/>
            </a:xfrm>
            <a:prstGeom prst="rect">
              <a:avLst/>
            </a:prstGeom>
            <a:effectLst>
              <a:outerShdw blurRad="50800" dist="50800" dir="5400000" algn="ctr" rotWithShape="0">
                <a:srgbClr val="000000">
                  <a:alpha val="0"/>
                </a:srgbClr>
              </a:outerShdw>
            </a:effectLst>
          </p:spPr>
        </p:pic>
        <p:cxnSp>
          <p:nvCxnSpPr>
            <p:cNvPr id="9" name="直線コネクタ 8"/>
            <p:cNvCxnSpPr/>
            <p:nvPr/>
          </p:nvCxnSpPr>
          <p:spPr>
            <a:xfrm flipV="1">
              <a:off x="1999049" y="1533594"/>
              <a:ext cx="5569222" cy="2240149"/>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a:off x="1972348" y="3779231"/>
              <a:ext cx="5595923" cy="2022219"/>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3600973" y="1818366"/>
              <a:ext cx="0" cy="3695783"/>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16" name="円弧 15"/>
            <p:cNvSpPr/>
            <p:nvPr/>
          </p:nvSpPr>
          <p:spPr>
            <a:xfrm rot="2511645">
              <a:off x="2030609" y="3261192"/>
              <a:ext cx="971826" cy="1112489"/>
            </a:xfrm>
            <a:prstGeom prst="arc">
              <a:avLst/>
            </a:prstGeom>
            <a:ln>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nvGrpSpPr>
            <p:cNvPr id="18" name="グループ化 17"/>
            <p:cNvGrpSpPr/>
            <p:nvPr/>
          </p:nvGrpSpPr>
          <p:grpSpPr>
            <a:xfrm rot="10800000">
              <a:off x="814872" y="3553771"/>
              <a:ext cx="1172612" cy="504265"/>
              <a:chOff x="3995936" y="4293096"/>
              <a:chExt cx="2154586" cy="792088"/>
            </a:xfrm>
          </p:grpSpPr>
          <p:sp>
            <p:nvSpPr>
              <p:cNvPr id="31" name="フローチャート: 抜出し 30"/>
              <p:cNvSpPr/>
              <p:nvPr/>
            </p:nvSpPr>
            <p:spPr>
              <a:xfrm rot="5400000">
                <a:off x="3995936" y="4293096"/>
                <a:ext cx="792088" cy="792088"/>
              </a:xfrm>
              <a:prstGeom prst="flowChartExtra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p:cNvSpPr/>
              <p:nvPr/>
            </p:nvSpPr>
            <p:spPr>
              <a:xfrm>
                <a:off x="4686510" y="4293096"/>
                <a:ext cx="1464012" cy="79208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9" name="正方形/長方形 28"/>
            <p:cNvSpPr/>
            <p:nvPr/>
          </p:nvSpPr>
          <p:spPr>
            <a:xfrm>
              <a:off x="5723993" y="790003"/>
              <a:ext cx="2329194" cy="775291"/>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ファー</a:t>
              </a:r>
              <a:endParaRPr kumimoji="1" lang="ja-JP" altLang="en-US" b="1" dirty="0">
                <a:solidFill>
                  <a:schemeClr val="tx1"/>
                </a:solidFill>
              </a:endParaRPr>
            </a:p>
          </p:txBody>
        </p:sp>
        <p:cxnSp>
          <p:nvCxnSpPr>
            <p:cNvPr id="23" name="直線コネクタ 22"/>
            <p:cNvCxnSpPr/>
            <p:nvPr/>
          </p:nvCxnSpPr>
          <p:spPr>
            <a:xfrm>
              <a:off x="6862463" y="1578757"/>
              <a:ext cx="0" cy="4128152"/>
            </a:xfrm>
            <a:prstGeom prst="line">
              <a:avLst/>
            </a:prstGeom>
            <a:ln w="38100">
              <a:solidFill>
                <a:schemeClr val="tx2"/>
              </a:solidFill>
              <a:tailEnd type="none"/>
            </a:ln>
          </p:spPr>
          <p:style>
            <a:lnRef idx="1">
              <a:schemeClr val="accent1"/>
            </a:lnRef>
            <a:fillRef idx="0">
              <a:schemeClr val="accent1"/>
            </a:fillRef>
            <a:effectRef idx="0">
              <a:schemeClr val="accent1"/>
            </a:effectRef>
            <a:fontRef idx="minor">
              <a:schemeClr val="tx1"/>
            </a:fontRef>
          </p:style>
        </p:cxnSp>
      </p:grpSp>
      <p:sp>
        <p:nvSpPr>
          <p:cNvPr id="33" name="正方形/長方形 32"/>
          <p:cNvSpPr/>
          <p:nvPr/>
        </p:nvSpPr>
        <p:spPr>
          <a:xfrm>
            <a:off x="1597001" y="3747712"/>
            <a:ext cx="1266614" cy="45094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rgbClr val="FF0000"/>
                </a:solidFill>
              </a:rPr>
              <a:t>ニア</a:t>
            </a:r>
            <a:endParaRPr kumimoji="1" lang="ja-JP" altLang="en-US" b="1" dirty="0">
              <a:solidFill>
                <a:srgbClr val="FF0000"/>
              </a:solidFill>
            </a:endParaRPr>
          </a:p>
        </p:txBody>
      </p:sp>
      <p:sp>
        <p:nvSpPr>
          <p:cNvPr id="34" name="Text Box 5"/>
          <p:cNvSpPr txBox="1">
            <a:spLocks noChangeArrowheads="1"/>
          </p:cNvSpPr>
          <p:nvPr/>
        </p:nvSpPr>
        <p:spPr bwMode="auto">
          <a:xfrm>
            <a:off x="4683945" y="3893096"/>
            <a:ext cx="4492623" cy="2181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カメラに映る物体の範囲を決める。</a:t>
            </a:r>
            <a:br>
              <a:rPr lang="en-US" altLang="ja-JP" sz="2263" b="1" dirty="0"/>
            </a:br>
            <a:r>
              <a:rPr lang="ja-JP" altLang="en-US" sz="2263" b="1" dirty="0"/>
              <a:t>この</a:t>
            </a:r>
            <a:r>
              <a:rPr lang="ja-JP" altLang="en-US" sz="2263" b="1" dirty="0">
                <a:solidFill>
                  <a:srgbClr val="0000FF"/>
                </a:solidFill>
              </a:rPr>
              <a:t>範囲の外にあるオブジェクトは</a:t>
            </a:r>
            <a:br>
              <a:rPr lang="en-US" altLang="ja-JP" sz="2263" b="1" dirty="0">
                <a:solidFill>
                  <a:srgbClr val="0000FF"/>
                </a:solidFill>
              </a:rPr>
            </a:br>
            <a:r>
              <a:rPr lang="ja-JP" altLang="en-US" sz="2263" b="1" dirty="0">
                <a:solidFill>
                  <a:srgbClr val="0000FF"/>
                </a:solidFill>
              </a:rPr>
              <a:t>一切表示されない</a:t>
            </a:r>
            <a:r>
              <a:rPr lang="ja-JP" altLang="en-US" sz="2263" b="1" dirty="0"/>
              <a:t>。</a:t>
            </a:r>
            <a:br>
              <a:rPr lang="en-US" altLang="ja-JP" sz="2263" b="1" dirty="0"/>
            </a:br>
            <a:r>
              <a:rPr lang="ja-JP" altLang="en-US" sz="2263" b="1" dirty="0"/>
              <a:t>なお、</a:t>
            </a:r>
            <a:r>
              <a:rPr lang="ja-JP" altLang="en-US" sz="2263" b="1" dirty="0">
                <a:solidFill>
                  <a:srgbClr val="FF0000"/>
                </a:solidFill>
              </a:rPr>
              <a:t>範囲が広すぎると</a:t>
            </a:r>
            <a:br>
              <a:rPr lang="en-US" altLang="ja-JP" sz="2263" b="1" dirty="0">
                <a:solidFill>
                  <a:srgbClr val="FF0000"/>
                </a:solidFill>
              </a:rPr>
            </a:br>
            <a:r>
              <a:rPr lang="ja-JP" altLang="en-US" sz="2263" b="1" dirty="0">
                <a:solidFill>
                  <a:srgbClr val="FF0000"/>
                </a:solidFill>
              </a:rPr>
              <a:t>綺麗にモデルが表示</a:t>
            </a:r>
            <a:br>
              <a:rPr lang="en-US" altLang="ja-JP" sz="2263" b="1" dirty="0">
                <a:solidFill>
                  <a:srgbClr val="FF0000"/>
                </a:solidFill>
              </a:rPr>
            </a:br>
            <a:r>
              <a:rPr lang="ja-JP" altLang="en-US" sz="2263" b="1" dirty="0">
                <a:solidFill>
                  <a:srgbClr val="FF0000"/>
                </a:solidFill>
              </a:rPr>
              <a:t>されなかったりする</a:t>
            </a:r>
            <a:r>
              <a:rPr lang="ja-JP" altLang="en-US" sz="2263" b="1" dirty="0"/>
              <a:t>ので注意。</a:t>
            </a:r>
            <a:endParaRPr lang="en-US" altLang="ja-JP" sz="2263" b="1" dirty="0"/>
          </a:p>
        </p:txBody>
      </p:sp>
    </p:spTree>
    <p:extLst>
      <p:ext uri="{BB962C8B-B14F-4D97-AF65-F5344CB8AC3E}">
        <p14:creationId xmlns:p14="http://schemas.microsoft.com/office/powerpoint/2010/main" val="224104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303005" y="857576"/>
            <a:ext cx="6696744" cy="1203271"/>
          </a:xfrm>
          <a:prstGeom prst="rect">
            <a:avLst/>
          </a:prstGeom>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err="1">
                <a:solidFill>
                  <a:schemeClr val="tx1"/>
                </a:solidFill>
              </a:rPr>
              <a:t>int</a:t>
            </a:r>
            <a:r>
              <a:rPr kumimoji="1" lang="en-US" altLang="ja-JP" sz="2400" b="1" dirty="0">
                <a:solidFill>
                  <a:schemeClr val="tx1"/>
                </a:solidFill>
              </a:rPr>
              <a:t> </a:t>
            </a:r>
            <a:r>
              <a:rPr kumimoji="1" lang="en-US" altLang="ja-JP" sz="2400" b="1" dirty="0" err="1">
                <a:solidFill>
                  <a:schemeClr val="tx1"/>
                </a:solidFill>
              </a:rPr>
              <a:t>SetCameraPositionAndTargetAndUpVec</a:t>
            </a:r>
            <a:r>
              <a:rPr kumimoji="1" lang="en-US" altLang="ja-JP" sz="2400" b="1" dirty="0">
                <a:solidFill>
                  <a:schemeClr val="tx1"/>
                </a:solidFill>
              </a:rPr>
              <a:t>(</a:t>
            </a:r>
            <a:br>
              <a:rPr kumimoji="1" lang="en-US" altLang="ja-JP" sz="2400" b="1" dirty="0">
                <a:solidFill>
                  <a:schemeClr val="tx1"/>
                </a:solidFill>
              </a:rPr>
            </a:br>
            <a:r>
              <a:rPr kumimoji="1" lang="en-US" altLang="ja-JP" sz="2400" b="1" dirty="0">
                <a:solidFill>
                  <a:schemeClr val="tx1"/>
                </a:solidFill>
              </a:rPr>
              <a:t>		VECTOR </a:t>
            </a:r>
            <a:r>
              <a:rPr lang="ja-JP" altLang="en-US" sz="2400" b="1" dirty="0">
                <a:solidFill>
                  <a:schemeClr val="tx1"/>
                </a:solidFill>
              </a:rPr>
              <a:t>視点</a:t>
            </a:r>
            <a:r>
              <a:rPr kumimoji="1" lang="en-US" altLang="ja-JP" sz="2400" b="1" dirty="0">
                <a:solidFill>
                  <a:schemeClr val="tx1"/>
                </a:solidFill>
              </a:rPr>
              <a:t>, VECTOR </a:t>
            </a:r>
            <a:r>
              <a:rPr lang="ja-JP" altLang="en-US" sz="2400" b="1" dirty="0">
                <a:solidFill>
                  <a:schemeClr val="tx1"/>
                </a:solidFill>
              </a:rPr>
              <a:t>注視点</a:t>
            </a:r>
            <a:r>
              <a:rPr lang="en-US" altLang="ja-JP" sz="2400" b="1" dirty="0">
                <a:solidFill>
                  <a:schemeClr val="tx1"/>
                </a:solidFill>
              </a:rPr>
              <a:t>,</a:t>
            </a:r>
            <a:br>
              <a:rPr lang="en-US" altLang="ja-JP" sz="2400" b="1" dirty="0">
                <a:solidFill>
                  <a:schemeClr val="tx1"/>
                </a:solidFill>
              </a:rPr>
            </a:br>
            <a:r>
              <a:rPr lang="en-US" altLang="ja-JP" sz="2400" b="1" dirty="0">
                <a:solidFill>
                  <a:schemeClr val="tx1"/>
                </a:solidFill>
              </a:rPr>
              <a:t>VECTOR </a:t>
            </a:r>
            <a:r>
              <a:rPr lang="ja-JP" altLang="en-US" sz="2400" b="1" dirty="0">
                <a:solidFill>
                  <a:schemeClr val="tx1"/>
                </a:solidFill>
              </a:rPr>
              <a:t>上方向</a:t>
            </a:r>
            <a:r>
              <a:rPr kumimoji="1" lang="en-US" altLang="ja-JP" sz="2400" b="1" dirty="0">
                <a:solidFill>
                  <a:schemeClr val="tx1"/>
                </a:solidFill>
              </a:rPr>
              <a:t>)</a:t>
            </a:r>
            <a:endParaRPr kumimoji="1" lang="ja-JP" altLang="en-US" sz="2400" b="1" dirty="0">
              <a:solidFill>
                <a:schemeClr val="tx1"/>
              </a:solidFill>
            </a:endParaRPr>
          </a:p>
        </p:txBody>
      </p:sp>
      <p:sp>
        <p:nvSpPr>
          <p:cNvPr id="14" name="Text Box 5"/>
          <p:cNvSpPr txBox="1">
            <a:spLocks noChangeArrowheads="1"/>
          </p:cNvSpPr>
          <p:nvPr/>
        </p:nvSpPr>
        <p:spPr bwMode="auto">
          <a:xfrm>
            <a:off x="539552" y="183734"/>
            <a:ext cx="7953375"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a:t>[</a:t>
            </a:r>
            <a:r>
              <a:rPr lang="ja-JP" altLang="en-US" sz="2263" b="1" dirty="0"/>
              <a:t>カメラ関数　～カメラ位置～</a:t>
            </a:r>
            <a:r>
              <a:rPr lang="en-US" altLang="ja-JP" sz="2263" b="1" dirty="0"/>
              <a:t>]</a:t>
            </a:r>
          </a:p>
        </p:txBody>
      </p:sp>
      <p:sp>
        <p:nvSpPr>
          <p:cNvPr id="20" name="Text Box 5"/>
          <p:cNvSpPr txBox="1">
            <a:spLocks noChangeArrowheads="1"/>
          </p:cNvSpPr>
          <p:nvPr/>
        </p:nvSpPr>
        <p:spPr bwMode="auto">
          <a:xfrm>
            <a:off x="1303005" y="2091814"/>
            <a:ext cx="6336704" cy="1485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a:t>第一引数：カメラがある場所</a:t>
            </a:r>
            <a:r>
              <a:rPr lang="en-US" altLang="ja-JP" sz="2263" b="1" dirty="0"/>
              <a:t>(</a:t>
            </a:r>
            <a:r>
              <a:rPr lang="ja-JP" altLang="en-US" sz="2263" b="1" dirty="0">
                <a:solidFill>
                  <a:srgbClr val="FF00FF"/>
                </a:solidFill>
              </a:rPr>
              <a:t>視点</a:t>
            </a:r>
            <a:r>
              <a:rPr lang="en-US" altLang="ja-JP" sz="2263" b="1" dirty="0"/>
              <a:t>)</a:t>
            </a:r>
            <a:br>
              <a:rPr lang="en-US" altLang="ja-JP" sz="2263" b="1" dirty="0"/>
            </a:br>
            <a:r>
              <a:rPr lang="ja-JP" altLang="en-US" sz="2263" b="1" dirty="0"/>
              <a:t>第二引数：カメラが見ている場所</a:t>
            </a:r>
            <a:r>
              <a:rPr lang="en-US" altLang="ja-JP" sz="2263" b="1" dirty="0"/>
              <a:t>(</a:t>
            </a:r>
            <a:r>
              <a:rPr lang="ja-JP" altLang="en-US" sz="2263" b="1" dirty="0">
                <a:solidFill>
                  <a:srgbClr val="00B0F0"/>
                </a:solidFill>
              </a:rPr>
              <a:t>注視点</a:t>
            </a:r>
            <a:r>
              <a:rPr lang="en-US" altLang="ja-JP" sz="2263" b="1" dirty="0"/>
              <a:t>)</a:t>
            </a:r>
            <a:br>
              <a:rPr lang="en-US" altLang="ja-JP" sz="2263" b="1" dirty="0"/>
            </a:br>
            <a:r>
              <a:rPr lang="ja-JP" altLang="en-US" sz="2263" b="1" dirty="0"/>
              <a:t>第三引数：カメラの上方向</a:t>
            </a:r>
            <a:br>
              <a:rPr lang="en-US" altLang="ja-JP" sz="2263" b="1" dirty="0"/>
            </a:br>
            <a:r>
              <a:rPr lang="ja-JP" altLang="en-US" sz="2263" b="1" dirty="0"/>
              <a:t>戻り値：成功＝</a:t>
            </a:r>
            <a:r>
              <a:rPr lang="en-US" altLang="ja-JP" sz="2263" b="1" dirty="0"/>
              <a:t>0</a:t>
            </a:r>
            <a:r>
              <a:rPr lang="ja-JP" altLang="en-US" sz="2263" b="1" dirty="0"/>
              <a:t>　失敗＝</a:t>
            </a:r>
            <a:r>
              <a:rPr lang="en-US" altLang="ja-JP" sz="2263" b="1" dirty="0"/>
              <a:t>-1</a:t>
            </a:r>
          </a:p>
        </p:txBody>
      </p:sp>
      <p:pic>
        <p:nvPicPr>
          <p:cNvPr id="19" name="図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2740" y="4797152"/>
            <a:ext cx="1606969" cy="1406098"/>
          </a:xfrm>
          <a:prstGeom prst="rect">
            <a:avLst/>
          </a:prstGeom>
        </p:spPr>
      </p:pic>
      <p:sp>
        <p:nvSpPr>
          <p:cNvPr id="21" name="正方形/長方形 20"/>
          <p:cNvSpPr/>
          <p:nvPr/>
        </p:nvSpPr>
        <p:spPr>
          <a:xfrm>
            <a:off x="6156176" y="6093296"/>
            <a:ext cx="1656184" cy="648072"/>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rgbClr val="FF0000"/>
                </a:solidFill>
              </a:rPr>
              <a:t>視点</a:t>
            </a:r>
            <a:br>
              <a:rPr lang="en-US" altLang="ja-JP" b="1" dirty="0">
                <a:solidFill>
                  <a:srgbClr val="FF0000"/>
                </a:solidFill>
              </a:rPr>
            </a:br>
            <a:r>
              <a:rPr lang="en-US" altLang="ja-JP" b="1" dirty="0">
                <a:solidFill>
                  <a:srgbClr val="FF0000"/>
                </a:solidFill>
              </a:rPr>
              <a:t>(</a:t>
            </a:r>
            <a:r>
              <a:rPr lang="ja-JP" altLang="en-US" b="1" dirty="0">
                <a:solidFill>
                  <a:srgbClr val="FF0000"/>
                </a:solidFill>
              </a:rPr>
              <a:t>位置ベクトル</a:t>
            </a:r>
            <a:r>
              <a:rPr lang="en-US" altLang="ja-JP" b="1" dirty="0">
                <a:solidFill>
                  <a:srgbClr val="FF0000"/>
                </a:solidFill>
              </a:rPr>
              <a:t>)</a:t>
            </a:r>
            <a:endParaRPr kumimoji="1" lang="ja-JP" altLang="en-US" b="1" dirty="0">
              <a:solidFill>
                <a:srgbClr val="FF0000"/>
              </a:solidFill>
            </a:endParaRPr>
          </a:p>
        </p:txBody>
      </p:sp>
      <p:pic>
        <p:nvPicPr>
          <p:cNvPr id="2" name="図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680" y="4221088"/>
            <a:ext cx="1747089" cy="1747089"/>
          </a:xfrm>
          <a:prstGeom prst="rect">
            <a:avLst/>
          </a:prstGeom>
        </p:spPr>
      </p:pic>
      <p:sp>
        <p:nvSpPr>
          <p:cNvPr id="22" name="正方形/長方形 21"/>
          <p:cNvSpPr/>
          <p:nvPr/>
        </p:nvSpPr>
        <p:spPr>
          <a:xfrm>
            <a:off x="1691680" y="5968177"/>
            <a:ext cx="1584176" cy="64399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rgbClr val="FF0000"/>
                </a:solidFill>
              </a:rPr>
              <a:t>注視点</a:t>
            </a:r>
            <a:br>
              <a:rPr lang="en-US" altLang="ja-JP" b="1" dirty="0">
                <a:solidFill>
                  <a:srgbClr val="FF0000"/>
                </a:solidFill>
              </a:rPr>
            </a:br>
            <a:r>
              <a:rPr lang="en-US" altLang="ja-JP" b="1" dirty="0">
                <a:solidFill>
                  <a:srgbClr val="FF0000"/>
                </a:solidFill>
              </a:rPr>
              <a:t>(</a:t>
            </a:r>
            <a:r>
              <a:rPr lang="ja-JP" altLang="en-US" b="1" dirty="0">
                <a:solidFill>
                  <a:srgbClr val="FF0000"/>
                </a:solidFill>
              </a:rPr>
              <a:t>位置ベクトル</a:t>
            </a:r>
            <a:r>
              <a:rPr lang="en-US" altLang="ja-JP" b="1" dirty="0">
                <a:solidFill>
                  <a:srgbClr val="FF0000"/>
                </a:solidFill>
              </a:rPr>
              <a:t>)</a:t>
            </a:r>
            <a:endParaRPr kumimoji="1" lang="ja-JP" altLang="en-US" b="1" dirty="0">
              <a:solidFill>
                <a:srgbClr val="FF0000"/>
              </a:solidFill>
            </a:endParaRPr>
          </a:p>
        </p:txBody>
      </p:sp>
      <p:cxnSp>
        <p:nvCxnSpPr>
          <p:cNvPr id="5" name="直線矢印コネクタ 4"/>
          <p:cNvCxnSpPr/>
          <p:nvPr/>
        </p:nvCxnSpPr>
        <p:spPr>
          <a:xfrm flipV="1">
            <a:off x="6876256" y="4365104"/>
            <a:ext cx="0" cy="1152128"/>
          </a:xfrm>
          <a:prstGeom prst="straightConnector1">
            <a:avLst/>
          </a:prstGeom>
          <a:ln>
            <a:solidFill>
              <a:srgbClr val="00B050"/>
            </a:solidFill>
            <a:tailEnd type="triangle"/>
          </a:ln>
        </p:spPr>
        <p:style>
          <a:lnRef idx="3">
            <a:schemeClr val="accent6"/>
          </a:lnRef>
          <a:fillRef idx="0">
            <a:schemeClr val="accent6"/>
          </a:fillRef>
          <a:effectRef idx="2">
            <a:schemeClr val="accent6"/>
          </a:effectRef>
          <a:fontRef idx="minor">
            <a:schemeClr val="tx1"/>
          </a:fontRef>
        </p:style>
      </p:cxnSp>
      <p:sp>
        <p:nvSpPr>
          <p:cNvPr id="24" name="正方形/長方形 23"/>
          <p:cNvSpPr/>
          <p:nvPr/>
        </p:nvSpPr>
        <p:spPr>
          <a:xfrm>
            <a:off x="6989463" y="3975296"/>
            <a:ext cx="1656184" cy="648072"/>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rgbClr val="00B050"/>
                </a:solidFill>
              </a:rPr>
              <a:t>上方向</a:t>
            </a:r>
            <a:br>
              <a:rPr lang="en-US" altLang="ja-JP" b="1" dirty="0">
                <a:solidFill>
                  <a:srgbClr val="00B050"/>
                </a:solidFill>
              </a:rPr>
            </a:br>
            <a:r>
              <a:rPr lang="en-US" altLang="ja-JP" b="1" dirty="0">
                <a:solidFill>
                  <a:srgbClr val="00B050"/>
                </a:solidFill>
              </a:rPr>
              <a:t>(</a:t>
            </a:r>
            <a:r>
              <a:rPr lang="ja-JP" altLang="en-US" b="1" dirty="0">
                <a:solidFill>
                  <a:srgbClr val="00B050"/>
                </a:solidFill>
              </a:rPr>
              <a:t>方向ベクトル</a:t>
            </a:r>
            <a:r>
              <a:rPr lang="en-US" altLang="ja-JP" b="1" dirty="0">
                <a:solidFill>
                  <a:srgbClr val="00B050"/>
                </a:solidFill>
              </a:rPr>
              <a:t>)</a:t>
            </a:r>
            <a:endParaRPr kumimoji="1" lang="ja-JP" altLang="en-US" b="1" dirty="0">
              <a:solidFill>
                <a:srgbClr val="00B050"/>
              </a:solidFill>
            </a:endParaRPr>
          </a:p>
        </p:txBody>
      </p:sp>
      <p:sp>
        <p:nvSpPr>
          <p:cNvPr id="6" name="二等辺三角形 5"/>
          <p:cNvSpPr/>
          <p:nvPr/>
        </p:nvSpPr>
        <p:spPr>
          <a:xfrm rot="5400000">
            <a:off x="4363912" y="4427626"/>
            <a:ext cx="864096" cy="2467245"/>
          </a:xfrm>
          <a:prstGeom prst="triangle">
            <a:avLst/>
          </a:prstGeom>
          <a:solidFill>
            <a:srgbClr val="FFFF00"/>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Text Box 5"/>
          <p:cNvSpPr txBox="1">
            <a:spLocks noChangeArrowheads="1"/>
          </p:cNvSpPr>
          <p:nvPr/>
        </p:nvSpPr>
        <p:spPr bwMode="auto">
          <a:xfrm>
            <a:off x="6475890" y="3252759"/>
            <a:ext cx="26323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b="1" dirty="0">
                <a:solidFill>
                  <a:srgbClr val="FF0000"/>
                </a:solidFill>
              </a:rPr>
              <a:t>上方向は最初</a:t>
            </a:r>
            <a:br>
              <a:rPr lang="en-US" altLang="ja-JP" b="1" dirty="0">
                <a:solidFill>
                  <a:srgbClr val="FF0000"/>
                </a:solidFill>
              </a:rPr>
            </a:br>
            <a:r>
              <a:rPr lang="en-US" altLang="ja-JP" b="1" dirty="0">
                <a:solidFill>
                  <a:srgbClr val="FF0000"/>
                </a:solidFill>
              </a:rPr>
              <a:t>(0.0, 1.0, 0.0)</a:t>
            </a:r>
            <a:r>
              <a:rPr lang="ja-JP" altLang="en-US" b="1" dirty="0">
                <a:solidFill>
                  <a:srgbClr val="FF0000"/>
                </a:solidFill>
              </a:rPr>
              <a:t>で</a:t>
            </a:r>
            <a:r>
              <a:rPr lang="en-US" altLang="ja-JP" b="1" dirty="0">
                <a:solidFill>
                  <a:srgbClr val="FF0000"/>
                </a:solidFill>
              </a:rPr>
              <a:t>OK</a:t>
            </a:r>
          </a:p>
        </p:txBody>
      </p:sp>
    </p:spTree>
    <p:extLst>
      <p:ext uri="{BB962C8B-B14F-4D97-AF65-F5344CB8AC3E}">
        <p14:creationId xmlns:p14="http://schemas.microsoft.com/office/powerpoint/2010/main" val="1324185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5"/>
          <p:cNvSpPr txBox="1">
            <a:spLocks noChangeArrowheads="1"/>
          </p:cNvSpPr>
          <p:nvPr/>
        </p:nvSpPr>
        <p:spPr bwMode="auto">
          <a:xfrm>
            <a:off x="460175" y="741602"/>
            <a:ext cx="8223650"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どちらの関数も</a:t>
            </a:r>
            <a:r>
              <a:rPr lang="ja-JP" altLang="en-US" sz="2263" b="1" dirty="0">
                <a:solidFill>
                  <a:srgbClr val="0000FF"/>
                </a:solidFill>
              </a:rPr>
              <a:t>基本は変更があったタイミングだけ呼び出す</a:t>
            </a:r>
            <a:r>
              <a:rPr lang="ja-JP" altLang="en-US" sz="2263" b="1" dirty="0"/>
              <a:t>が、</a:t>
            </a:r>
            <a:br>
              <a:rPr lang="en-US" altLang="ja-JP" sz="2263" b="1" dirty="0"/>
            </a:br>
            <a:r>
              <a:rPr lang="ja-JP" altLang="en-US" sz="2263" b="1" dirty="0"/>
              <a:t>カメラ座標はよく座標が変わるので、毎フレーム更新する事が多い。</a:t>
            </a:r>
            <a:endParaRPr lang="en-US" altLang="ja-JP" sz="2263" b="1" dirty="0"/>
          </a:p>
        </p:txBody>
      </p:sp>
      <p:sp>
        <p:nvSpPr>
          <p:cNvPr id="11" name="Text Box 5"/>
          <p:cNvSpPr txBox="1">
            <a:spLocks noChangeArrowheads="1"/>
          </p:cNvSpPr>
          <p:nvPr/>
        </p:nvSpPr>
        <p:spPr bwMode="auto">
          <a:xfrm>
            <a:off x="179512" y="237347"/>
            <a:ext cx="8352928"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a:t>[</a:t>
            </a:r>
            <a:r>
              <a:rPr lang="ja-JP" altLang="en-US" sz="2263" b="1" dirty="0"/>
              <a:t>カメラの更新タイミング</a:t>
            </a:r>
            <a:r>
              <a:rPr lang="en-US" altLang="ja-JP" sz="2263" b="1" dirty="0"/>
              <a:t>]</a:t>
            </a:r>
          </a:p>
        </p:txBody>
      </p:sp>
      <p:sp>
        <p:nvSpPr>
          <p:cNvPr id="12" name="Text Box 5"/>
          <p:cNvSpPr txBox="1">
            <a:spLocks noChangeArrowheads="1"/>
          </p:cNvSpPr>
          <p:nvPr/>
        </p:nvSpPr>
        <p:spPr bwMode="auto">
          <a:xfrm>
            <a:off x="460175" y="1483449"/>
            <a:ext cx="8223650"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また、変更するタイミングを失敗すると見た目がおかしくなるので、</a:t>
            </a:r>
            <a:br>
              <a:rPr lang="en-US" altLang="ja-JP" sz="2263" b="1" dirty="0"/>
            </a:br>
            <a:r>
              <a:rPr lang="ja-JP" altLang="en-US" sz="2263" b="1" dirty="0"/>
              <a:t>最初は以下の場所にプログラムを書くのがおススメ。</a:t>
            </a:r>
            <a:endParaRPr lang="en-US" altLang="ja-JP" sz="2263" b="1" dirty="0"/>
          </a:p>
        </p:txBody>
      </p:sp>
      <p:sp>
        <p:nvSpPr>
          <p:cNvPr id="6" name="正方形/長方形 5"/>
          <p:cNvSpPr/>
          <p:nvPr/>
        </p:nvSpPr>
        <p:spPr>
          <a:xfrm>
            <a:off x="1835696" y="2410173"/>
            <a:ext cx="6336704" cy="1068909"/>
          </a:xfrm>
          <a:prstGeom prst="rect">
            <a:avLst/>
          </a:prstGeom>
          <a:solidFill>
            <a:srgbClr val="FFFF00"/>
          </a:solidFill>
          <a:ln>
            <a:solidFill>
              <a:srgbClr val="FFC000"/>
            </a:solidFill>
          </a:ln>
          <a:effectLst>
            <a:glow rad="101600">
              <a:srgbClr val="FF9933">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rPr>
              <a:t>オブジェクトの移動処理</a:t>
            </a:r>
            <a:br>
              <a:rPr kumimoji="1" lang="en-US" altLang="ja-JP" sz="2400" b="1" dirty="0">
                <a:solidFill>
                  <a:schemeClr val="tx1"/>
                </a:solidFill>
              </a:rPr>
            </a:br>
            <a:r>
              <a:rPr kumimoji="1" lang="ja-JP" altLang="en-US" sz="2400" b="1" dirty="0">
                <a:solidFill>
                  <a:schemeClr val="tx1"/>
                </a:solidFill>
              </a:rPr>
              <a:t>当たり判定後の押し戻し処理</a:t>
            </a:r>
            <a:br>
              <a:rPr lang="en-US" altLang="ja-JP" sz="2400" b="1" dirty="0">
                <a:solidFill>
                  <a:schemeClr val="tx1"/>
                </a:solidFill>
              </a:rPr>
            </a:br>
            <a:r>
              <a:rPr lang="en-US" altLang="ja-JP" sz="2400" b="1" dirty="0">
                <a:solidFill>
                  <a:schemeClr val="tx1"/>
                </a:solidFill>
              </a:rPr>
              <a:t>					</a:t>
            </a:r>
            <a:r>
              <a:rPr lang="en-US" altLang="ja-JP" sz="2400" b="1" dirty="0" err="1">
                <a:solidFill>
                  <a:schemeClr val="tx1"/>
                </a:solidFill>
              </a:rPr>
              <a:t>etc</a:t>
            </a:r>
            <a:r>
              <a:rPr lang="en-US" altLang="ja-JP" sz="2400" b="1" dirty="0">
                <a:solidFill>
                  <a:schemeClr val="tx1"/>
                </a:solidFill>
              </a:rPr>
              <a:t>…</a:t>
            </a:r>
            <a:endParaRPr kumimoji="1" lang="ja-JP" altLang="en-US" sz="2400" b="1" dirty="0">
              <a:solidFill>
                <a:schemeClr val="tx1"/>
              </a:solidFill>
            </a:endParaRPr>
          </a:p>
        </p:txBody>
      </p:sp>
      <p:sp>
        <p:nvSpPr>
          <p:cNvPr id="7" name="下矢印 6"/>
          <p:cNvSpPr/>
          <p:nvPr/>
        </p:nvSpPr>
        <p:spPr>
          <a:xfrm>
            <a:off x="611560" y="2348880"/>
            <a:ext cx="576064" cy="4392488"/>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正方形/長方形 7"/>
          <p:cNvSpPr/>
          <p:nvPr/>
        </p:nvSpPr>
        <p:spPr>
          <a:xfrm>
            <a:off x="1849647" y="3745647"/>
            <a:ext cx="6336704" cy="806865"/>
          </a:xfrm>
          <a:prstGeom prst="rect">
            <a:avLst/>
          </a:prstGeom>
          <a:solidFill>
            <a:srgbClr val="FFFF00"/>
          </a:solidFill>
          <a:ln>
            <a:solidFill>
              <a:srgbClr val="FFC000"/>
            </a:solidFill>
          </a:ln>
          <a:effectLst>
            <a:glow rad="101600">
              <a:srgbClr val="FF9933">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400" b="1" dirty="0">
                <a:solidFill>
                  <a:schemeClr val="tx1"/>
                </a:solidFill>
              </a:rPr>
              <a:t>MV1SetPosition</a:t>
            </a:r>
            <a:r>
              <a:rPr kumimoji="1" lang="ja-JP" altLang="en-US" sz="2400" b="1" dirty="0">
                <a:solidFill>
                  <a:schemeClr val="tx1"/>
                </a:solidFill>
              </a:rPr>
              <a:t>など</a:t>
            </a:r>
            <a:endParaRPr kumimoji="1" lang="ja-JP" altLang="en-US" sz="4400" b="1" dirty="0">
              <a:solidFill>
                <a:schemeClr val="tx1"/>
              </a:solidFill>
            </a:endParaRPr>
          </a:p>
        </p:txBody>
      </p:sp>
      <p:sp>
        <p:nvSpPr>
          <p:cNvPr id="9" name="正方形/長方形 8"/>
          <p:cNvSpPr/>
          <p:nvPr/>
        </p:nvSpPr>
        <p:spPr>
          <a:xfrm>
            <a:off x="1835696" y="5954928"/>
            <a:ext cx="6336704" cy="720079"/>
          </a:xfrm>
          <a:prstGeom prst="rect">
            <a:avLst/>
          </a:prstGeom>
          <a:solidFill>
            <a:srgbClr val="FFFF00"/>
          </a:solidFill>
          <a:ln>
            <a:solidFill>
              <a:srgbClr val="FFC000"/>
            </a:solidFill>
          </a:ln>
          <a:effectLst>
            <a:glow rad="101600">
              <a:srgbClr val="FF9933">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400" b="1" dirty="0">
                <a:solidFill>
                  <a:schemeClr val="tx1"/>
                </a:solidFill>
              </a:rPr>
              <a:t>MV1DrawModel</a:t>
            </a:r>
            <a:endParaRPr kumimoji="1" lang="ja-JP" altLang="en-US" sz="4400" b="1" dirty="0">
              <a:solidFill>
                <a:schemeClr val="tx1"/>
              </a:solidFill>
            </a:endParaRPr>
          </a:p>
        </p:txBody>
      </p:sp>
      <p:sp>
        <p:nvSpPr>
          <p:cNvPr id="10" name="正方形/長方形 9"/>
          <p:cNvSpPr/>
          <p:nvPr/>
        </p:nvSpPr>
        <p:spPr>
          <a:xfrm>
            <a:off x="1835696" y="4905490"/>
            <a:ext cx="6336704" cy="720079"/>
          </a:xfrm>
          <a:prstGeom prst="rect">
            <a:avLst/>
          </a:prstGeom>
          <a:solidFill>
            <a:srgbClr val="FFFF00"/>
          </a:solidFill>
          <a:ln>
            <a:solidFill>
              <a:srgbClr val="FFC000"/>
            </a:solidFill>
          </a:ln>
          <a:effectLst>
            <a:glow rad="101600">
              <a:srgbClr val="FF9933">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err="1">
                <a:solidFill>
                  <a:srgbClr val="FF0000"/>
                </a:solidFill>
              </a:rPr>
              <a:t>SetCameraPositionAndTargetAndUpVec</a:t>
            </a:r>
            <a:endParaRPr kumimoji="1" lang="ja-JP" altLang="en-US" sz="2400" b="1" dirty="0">
              <a:solidFill>
                <a:srgbClr val="FF0000"/>
              </a:solidFill>
            </a:endParaRPr>
          </a:p>
        </p:txBody>
      </p:sp>
    </p:spTree>
    <p:extLst>
      <p:ext uri="{BB962C8B-B14F-4D97-AF65-F5344CB8AC3E}">
        <p14:creationId xmlns:p14="http://schemas.microsoft.com/office/powerpoint/2010/main" val="1396150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角丸四角形 5"/>
          <p:cNvSpPr/>
          <p:nvPr/>
        </p:nvSpPr>
        <p:spPr>
          <a:xfrm>
            <a:off x="467544" y="980728"/>
            <a:ext cx="3384376" cy="24482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Text Box 5"/>
          <p:cNvSpPr txBox="1">
            <a:spLocks noChangeArrowheads="1"/>
          </p:cNvSpPr>
          <p:nvPr/>
        </p:nvSpPr>
        <p:spPr bwMode="auto">
          <a:xfrm>
            <a:off x="395536" y="99383"/>
            <a:ext cx="8424936"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以下のようなプログラムの順序を心がけてプログラムを作成しよう！</a:t>
            </a:r>
            <a:endParaRPr lang="en-US" altLang="ja-JP" sz="2263" b="1" dirty="0"/>
          </a:p>
        </p:txBody>
      </p:sp>
      <p:pic>
        <p:nvPicPr>
          <p:cNvPr id="3" name="図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66842" y="1714840"/>
            <a:ext cx="1469331" cy="1592771"/>
          </a:xfrm>
          <a:prstGeom prst="rect">
            <a:avLst/>
          </a:prstGeom>
        </p:spPr>
      </p:pic>
      <p:pic>
        <p:nvPicPr>
          <p:cNvPr id="4" name="図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1611" y="1398081"/>
            <a:ext cx="1277690" cy="1423610"/>
          </a:xfrm>
          <a:prstGeom prst="rect">
            <a:avLst/>
          </a:prstGeom>
        </p:spPr>
      </p:pic>
      <p:sp>
        <p:nvSpPr>
          <p:cNvPr id="9" name="角丸四角形 8"/>
          <p:cNvSpPr/>
          <p:nvPr/>
        </p:nvSpPr>
        <p:spPr>
          <a:xfrm>
            <a:off x="863588" y="678664"/>
            <a:ext cx="2664296" cy="5954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①プレイヤーや敵などの</a:t>
            </a:r>
            <a:br>
              <a:rPr kumimoji="1" lang="en-US" altLang="ja-JP" b="1" dirty="0">
                <a:solidFill>
                  <a:schemeClr val="tx1"/>
                </a:solidFill>
              </a:rPr>
            </a:br>
            <a:r>
              <a:rPr kumimoji="1" lang="ja-JP" altLang="en-US" b="1" dirty="0">
                <a:solidFill>
                  <a:srgbClr val="FF0000"/>
                </a:solidFill>
              </a:rPr>
              <a:t>個別処理</a:t>
            </a:r>
          </a:p>
        </p:txBody>
      </p:sp>
      <p:sp>
        <p:nvSpPr>
          <p:cNvPr id="10" name="角丸四角形 9"/>
          <p:cNvSpPr/>
          <p:nvPr/>
        </p:nvSpPr>
        <p:spPr>
          <a:xfrm>
            <a:off x="5226753" y="972133"/>
            <a:ext cx="3384376" cy="24482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p:cNvSpPr/>
          <p:nvPr/>
        </p:nvSpPr>
        <p:spPr>
          <a:xfrm>
            <a:off x="5622797" y="670069"/>
            <a:ext cx="2664296" cy="5954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②当たり判定</a:t>
            </a:r>
            <a:r>
              <a:rPr kumimoji="1" lang="ja-JP" altLang="en-US" b="1" dirty="0">
                <a:solidFill>
                  <a:schemeClr val="tx1"/>
                </a:solidFill>
              </a:rPr>
              <a:t>などの</a:t>
            </a:r>
            <a:br>
              <a:rPr kumimoji="1" lang="en-US" altLang="ja-JP" b="1" dirty="0">
                <a:solidFill>
                  <a:schemeClr val="tx1"/>
                </a:solidFill>
              </a:rPr>
            </a:br>
            <a:r>
              <a:rPr kumimoji="1" lang="ja-JP" altLang="en-US" b="1" dirty="0">
                <a:solidFill>
                  <a:srgbClr val="FF0000"/>
                </a:solidFill>
              </a:rPr>
              <a:t>①の結果を受けた処理</a:t>
            </a:r>
          </a:p>
        </p:txBody>
      </p:sp>
      <p:sp>
        <p:nvSpPr>
          <p:cNvPr id="7" name="右矢印 6"/>
          <p:cNvSpPr/>
          <p:nvPr/>
        </p:nvSpPr>
        <p:spPr>
          <a:xfrm>
            <a:off x="4067944" y="1714840"/>
            <a:ext cx="936104" cy="994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8881" y="1395586"/>
            <a:ext cx="1342167" cy="1783611"/>
          </a:xfrm>
          <a:prstGeom prst="rect">
            <a:avLst/>
          </a:prstGeom>
        </p:spPr>
      </p:pic>
      <p:sp>
        <p:nvSpPr>
          <p:cNvPr id="13" name="角丸四角形 12"/>
          <p:cNvSpPr/>
          <p:nvPr/>
        </p:nvSpPr>
        <p:spPr>
          <a:xfrm>
            <a:off x="5357776" y="4293096"/>
            <a:ext cx="3384376" cy="24482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p:cNvSpPr/>
          <p:nvPr/>
        </p:nvSpPr>
        <p:spPr>
          <a:xfrm>
            <a:off x="5753820" y="3991032"/>
            <a:ext cx="2664296" cy="5954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③</a:t>
            </a:r>
            <a:r>
              <a:rPr kumimoji="1" lang="ja-JP" altLang="en-US" b="1" dirty="0">
                <a:solidFill>
                  <a:srgbClr val="FF0000"/>
                </a:solidFill>
              </a:rPr>
              <a:t>カメラの処理</a:t>
            </a:r>
          </a:p>
        </p:txBody>
      </p:sp>
      <p:pic>
        <p:nvPicPr>
          <p:cNvPr id="16" name="図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28184" y="4916512"/>
            <a:ext cx="1606969" cy="1406098"/>
          </a:xfrm>
          <a:prstGeom prst="rect">
            <a:avLst/>
          </a:prstGeom>
        </p:spPr>
      </p:pic>
      <p:sp>
        <p:nvSpPr>
          <p:cNvPr id="17" name="下矢印 16"/>
          <p:cNvSpPr/>
          <p:nvPr/>
        </p:nvSpPr>
        <p:spPr>
          <a:xfrm>
            <a:off x="6516216" y="3550521"/>
            <a:ext cx="936104" cy="3020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p:cNvSpPr/>
          <p:nvPr/>
        </p:nvSpPr>
        <p:spPr>
          <a:xfrm>
            <a:off x="479234" y="4293096"/>
            <a:ext cx="3384376" cy="24482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p:cNvSpPr/>
          <p:nvPr/>
        </p:nvSpPr>
        <p:spPr>
          <a:xfrm>
            <a:off x="875278" y="3991032"/>
            <a:ext cx="2664296" cy="5954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④</a:t>
            </a:r>
            <a:r>
              <a:rPr lang="en-US" altLang="ja-JP" b="1" dirty="0">
                <a:solidFill>
                  <a:schemeClr val="tx1"/>
                </a:solidFill>
              </a:rPr>
              <a:t>3D</a:t>
            </a:r>
            <a:r>
              <a:rPr lang="ja-JP" altLang="en-US" b="1" dirty="0">
                <a:solidFill>
                  <a:schemeClr val="tx1"/>
                </a:solidFill>
              </a:rPr>
              <a:t>モデルや</a:t>
            </a:r>
            <a:r>
              <a:rPr lang="en-US" altLang="ja-JP" b="1" dirty="0">
                <a:solidFill>
                  <a:schemeClr val="tx1"/>
                </a:solidFill>
              </a:rPr>
              <a:t>2D</a:t>
            </a:r>
            <a:r>
              <a:rPr lang="ja-JP" altLang="en-US" b="1" dirty="0">
                <a:solidFill>
                  <a:schemeClr val="tx1"/>
                </a:solidFill>
              </a:rPr>
              <a:t>画像の</a:t>
            </a:r>
            <a:br>
              <a:rPr kumimoji="1" lang="en-US" altLang="ja-JP" b="1" dirty="0">
                <a:solidFill>
                  <a:schemeClr val="tx1"/>
                </a:solidFill>
              </a:rPr>
            </a:br>
            <a:r>
              <a:rPr kumimoji="1" lang="ja-JP" altLang="en-US" b="1" dirty="0">
                <a:solidFill>
                  <a:srgbClr val="FF0000"/>
                </a:solidFill>
              </a:rPr>
              <a:t>描画処理</a:t>
            </a:r>
          </a:p>
        </p:txBody>
      </p:sp>
      <p:sp>
        <p:nvSpPr>
          <p:cNvPr id="21" name="左矢印 20"/>
          <p:cNvSpPr/>
          <p:nvPr/>
        </p:nvSpPr>
        <p:spPr>
          <a:xfrm>
            <a:off x="4067944" y="5157192"/>
            <a:ext cx="1158809" cy="79208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図 2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2541" y="4648218"/>
            <a:ext cx="2026389" cy="2026389"/>
          </a:xfrm>
          <a:prstGeom prst="rect">
            <a:avLst/>
          </a:prstGeom>
        </p:spPr>
      </p:pic>
    </p:spTree>
    <p:extLst>
      <p:ext uri="{BB962C8B-B14F-4D97-AF65-F5344CB8AC3E}">
        <p14:creationId xmlns:p14="http://schemas.microsoft.com/office/powerpoint/2010/main" val="3685015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1A18C792-D7F1-41A3-A9C1-4D465DFBEA38}"/>
              </a:ext>
            </a:extLst>
          </p:cNvPr>
          <p:cNvPicPr>
            <a:picLocks noChangeAspect="1"/>
          </p:cNvPicPr>
          <p:nvPr/>
        </p:nvPicPr>
        <p:blipFill>
          <a:blip r:embed="rId2"/>
          <a:stretch>
            <a:fillRect/>
          </a:stretch>
        </p:blipFill>
        <p:spPr>
          <a:xfrm>
            <a:off x="405655" y="559065"/>
            <a:ext cx="8332690" cy="60382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 Box 5"/>
          <p:cNvSpPr txBox="1">
            <a:spLocks noChangeArrowheads="1"/>
          </p:cNvSpPr>
          <p:nvPr/>
        </p:nvSpPr>
        <p:spPr bwMode="auto">
          <a:xfrm>
            <a:off x="395536" y="99383"/>
            <a:ext cx="8352928"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a:t>[</a:t>
            </a:r>
            <a:r>
              <a:rPr lang="ja-JP" altLang="en-US" sz="2263" b="1" dirty="0"/>
              <a:t>キャラクターが原点にいても表示されるサンプルプログラム　前半</a:t>
            </a:r>
            <a:r>
              <a:rPr lang="en-US" altLang="ja-JP" sz="2263" b="1" dirty="0"/>
              <a:t>]</a:t>
            </a:r>
          </a:p>
        </p:txBody>
      </p:sp>
      <p:sp>
        <p:nvSpPr>
          <p:cNvPr id="6" name="正方形/長方形 5"/>
          <p:cNvSpPr/>
          <p:nvPr/>
        </p:nvSpPr>
        <p:spPr>
          <a:xfrm>
            <a:off x="683568" y="4907300"/>
            <a:ext cx="7992888" cy="10081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 Box 5"/>
          <p:cNvSpPr txBox="1">
            <a:spLocks noChangeArrowheads="1"/>
          </p:cNvSpPr>
          <p:nvPr/>
        </p:nvSpPr>
        <p:spPr bwMode="auto">
          <a:xfrm>
            <a:off x="5150891" y="4118494"/>
            <a:ext cx="3523853" cy="788806"/>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カメラ設定はひとまず、</a:t>
            </a:r>
            <a:br>
              <a:rPr lang="en-US" altLang="ja-JP" sz="2263" b="1" dirty="0"/>
            </a:br>
            <a:r>
              <a:rPr lang="ja-JP" altLang="en-US" sz="2263" b="1" dirty="0"/>
              <a:t>以下の値で追加してみる</a:t>
            </a:r>
            <a:endParaRPr lang="en-US" altLang="ja-JP" sz="2263" b="1" dirty="0"/>
          </a:p>
        </p:txBody>
      </p:sp>
      <p:sp>
        <p:nvSpPr>
          <p:cNvPr id="10" name="正方形/長方形 9">
            <a:extLst>
              <a:ext uri="{FF2B5EF4-FFF2-40B4-BE49-F238E27FC236}">
                <a16:creationId xmlns:a16="http://schemas.microsoft.com/office/drawing/2014/main" id="{50A4B255-5D15-4E70-A4F8-B1877CEB8D2D}"/>
              </a:ext>
            </a:extLst>
          </p:cNvPr>
          <p:cNvSpPr/>
          <p:nvPr/>
        </p:nvSpPr>
        <p:spPr>
          <a:xfrm>
            <a:off x="755576" y="6088950"/>
            <a:ext cx="3708412" cy="255031"/>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Text Box 5">
            <a:extLst>
              <a:ext uri="{FF2B5EF4-FFF2-40B4-BE49-F238E27FC236}">
                <a16:creationId xmlns:a16="http://schemas.microsoft.com/office/drawing/2014/main" id="{4B12544B-986B-469E-9F20-985BEE3A41F2}"/>
              </a:ext>
            </a:extLst>
          </p:cNvPr>
          <p:cNvSpPr txBox="1">
            <a:spLocks noChangeArrowheads="1"/>
          </p:cNvSpPr>
          <p:nvPr/>
        </p:nvSpPr>
        <p:spPr bwMode="auto">
          <a:xfrm>
            <a:off x="4572000" y="6040962"/>
            <a:ext cx="3523853" cy="440570"/>
          </a:xfrm>
          <a:prstGeom prst="rect">
            <a:avLst/>
          </a:prstGeom>
          <a:ln>
            <a:solidFill>
              <a:srgbClr val="0000FF"/>
            </a:solidFill>
          </a:ln>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モデルの初期位置が原点</a:t>
            </a:r>
            <a:endParaRPr lang="en-US" altLang="ja-JP" sz="2263" b="1" dirty="0"/>
          </a:p>
        </p:txBody>
      </p:sp>
    </p:spTree>
    <p:extLst>
      <p:ext uri="{BB962C8B-B14F-4D97-AF65-F5344CB8AC3E}">
        <p14:creationId xmlns:p14="http://schemas.microsoft.com/office/powerpoint/2010/main" val="3806022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5"/>
          <p:cNvSpPr txBox="1">
            <a:spLocks noChangeArrowheads="1"/>
          </p:cNvSpPr>
          <p:nvPr/>
        </p:nvSpPr>
        <p:spPr bwMode="auto">
          <a:xfrm>
            <a:off x="395536" y="99383"/>
            <a:ext cx="8352928"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a:t>[</a:t>
            </a:r>
            <a:r>
              <a:rPr lang="ja-JP" altLang="en-US" sz="2263" b="1" dirty="0"/>
              <a:t>キャラクターが原点にいても表示されるサンプルプログラム　中盤</a:t>
            </a:r>
            <a:r>
              <a:rPr lang="en-US" altLang="ja-JP" sz="2263" b="1" dirty="0"/>
              <a:t>]</a:t>
            </a:r>
          </a:p>
        </p:txBody>
      </p:sp>
      <p:pic>
        <p:nvPicPr>
          <p:cNvPr id="7" name="図 6">
            <a:extLst>
              <a:ext uri="{FF2B5EF4-FFF2-40B4-BE49-F238E27FC236}">
                <a16:creationId xmlns:a16="http://schemas.microsoft.com/office/drawing/2014/main" id="{DC8E6151-0AA5-4C8E-A01A-B7EE81ABD498}"/>
              </a:ext>
            </a:extLst>
          </p:cNvPr>
          <p:cNvPicPr>
            <a:picLocks noChangeAspect="1"/>
          </p:cNvPicPr>
          <p:nvPr/>
        </p:nvPicPr>
        <p:blipFill>
          <a:blip r:embed="rId2"/>
          <a:stretch>
            <a:fillRect/>
          </a:stretch>
        </p:blipFill>
        <p:spPr>
          <a:xfrm>
            <a:off x="1151620" y="577140"/>
            <a:ext cx="6840760" cy="61574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角丸四角形吹き出し 10">
            <a:extLst>
              <a:ext uri="{FF2B5EF4-FFF2-40B4-BE49-F238E27FC236}">
                <a16:creationId xmlns:a16="http://schemas.microsoft.com/office/drawing/2014/main" id="{1F4559A0-7F8D-44AA-BF6D-08E0F6AB7E83}"/>
              </a:ext>
            </a:extLst>
          </p:cNvPr>
          <p:cNvSpPr/>
          <p:nvPr/>
        </p:nvSpPr>
        <p:spPr>
          <a:xfrm>
            <a:off x="4938732" y="2564904"/>
            <a:ext cx="4190649" cy="1022820"/>
          </a:xfrm>
          <a:prstGeom prst="wedgeRoundRectCallout">
            <a:avLst>
              <a:gd name="adj1" fmla="val -43310"/>
              <a:gd name="adj2" fmla="val 77529"/>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a:latin typeface="ＭＳ Ｐゴシック"/>
              </a:rPr>
              <a:t>もちろんキャラの移動プログラムは</a:t>
            </a:r>
            <a:br>
              <a:rPr lang="en-US" altLang="ja-JP" sz="2000" b="1" dirty="0">
                <a:latin typeface="ＭＳ Ｐゴシック"/>
              </a:rPr>
            </a:br>
            <a:r>
              <a:rPr lang="ja-JP" altLang="en-US" sz="2000" b="1" dirty="0">
                <a:latin typeface="ＭＳ Ｐゴシック"/>
              </a:rPr>
              <a:t>サンプルと違っても</a:t>
            </a:r>
            <a:r>
              <a:rPr lang="en-US" altLang="ja-JP" sz="2000" b="1" dirty="0">
                <a:latin typeface="ＭＳ Ｐゴシック"/>
              </a:rPr>
              <a:t>OK</a:t>
            </a:r>
            <a:r>
              <a:rPr lang="ja-JP" altLang="en-US" sz="2000" b="1" dirty="0">
                <a:latin typeface="ＭＳ Ｐゴシック"/>
              </a:rPr>
              <a:t>！！</a:t>
            </a:r>
          </a:p>
        </p:txBody>
      </p:sp>
    </p:spTree>
    <p:extLst>
      <p:ext uri="{BB962C8B-B14F-4D97-AF65-F5344CB8AC3E}">
        <p14:creationId xmlns:p14="http://schemas.microsoft.com/office/powerpoint/2010/main" val="3417160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69AF9B00-3F55-4EF6-8228-0494ED75ED6E}"/>
              </a:ext>
            </a:extLst>
          </p:cNvPr>
          <p:cNvPicPr>
            <a:picLocks noChangeAspect="1"/>
          </p:cNvPicPr>
          <p:nvPr/>
        </p:nvPicPr>
        <p:blipFill>
          <a:blip r:embed="rId2"/>
          <a:stretch>
            <a:fillRect/>
          </a:stretch>
        </p:blipFill>
        <p:spPr>
          <a:xfrm>
            <a:off x="683568" y="722490"/>
            <a:ext cx="7776864" cy="55151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 Box 5"/>
          <p:cNvSpPr txBox="1">
            <a:spLocks noChangeArrowheads="1"/>
          </p:cNvSpPr>
          <p:nvPr/>
        </p:nvSpPr>
        <p:spPr bwMode="auto">
          <a:xfrm>
            <a:off x="395536" y="99383"/>
            <a:ext cx="8352928"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a:t>[</a:t>
            </a:r>
            <a:r>
              <a:rPr lang="ja-JP" altLang="en-US" sz="2263" b="1" dirty="0"/>
              <a:t>キャラクターが原点にいても表示されるサンプルプログラム　後半</a:t>
            </a:r>
            <a:r>
              <a:rPr lang="en-US" altLang="ja-JP" sz="2263" b="1" dirty="0"/>
              <a:t>]</a:t>
            </a:r>
          </a:p>
        </p:txBody>
      </p:sp>
      <p:sp>
        <p:nvSpPr>
          <p:cNvPr id="6" name="正方形/長方形 5"/>
          <p:cNvSpPr/>
          <p:nvPr/>
        </p:nvSpPr>
        <p:spPr>
          <a:xfrm>
            <a:off x="1403819" y="1268760"/>
            <a:ext cx="5904485" cy="4360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 Box 5"/>
          <p:cNvSpPr txBox="1">
            <a:spLocks noChangeArrowheads="1"/>
          </p:cNvSpPr>
          <p:nvPr/>
        </p:nvSpPr>
        <p:spPr bwMode="auto">
          <a:xfrm>
            <a:off x="4644008" y="1704823"/>
            <a:ext cx="3523853" cy="788806"/>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カメラの視点・注視点を</a:t>
            </a:r>
            <a:br>
              <a:rPr lang="en-US" altLang="ja-JP" sz="2263" b="1" dirty="0"/>
            </a:br>
            <a:r>
              <a:rPr lang="ja-JP" altLang="en-US" sz="2263" b="1" dirty="0"/>
              <a:t>ここで設定する</a:t>
            </a:r>
            <a:endParaRPr lang="en-US" altLang="ja-JP" sz="2263" b="1" dirty="0"/>
          </a:p>
        </p:txBody>
      </p:sp>
      <p:sp>
        <p:nvSpPr>
          <p:cNvPr id="7" name="Text Box 5"/>
          <p:cNvSpPr txBox="1">
            <a:spLocks noChangeArrowheads="1"/>
          </p:cNvSpPr>
          <p:nvPr/>
        </p:nvSpPr>
        <p:spPr bwMode="auto">
          <a:xfrm>
            <a:off x="575556" y="6309320"/>
            <a:ext cx="7992888"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成功すれば画面中央にモデルが表示される！</a:t>
            </a:r>
            <a:endParaRPr lang="en-US" altLang="ja-JP" sz="2263" b="1" dirty="0"/>
          </a:p>
        </p:txBody>
      </p:sp>
    </p:spTree>
    <p:extLst>
      <p:ext uri="{BB962C8B-B14F-4D97-AF65-F5344CB8AC3E}">
        <p14:creationId xmlns:p14="http://schemas.microsoft.com/office/powerpoint/2010/main" val="4198230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5"/>
          <p:cNvSpPr txBox="1">
            <a:spLocks noChangeArrowheads="1"/>
          </p:cNvSpPr>
          <p:nvPr/>
        </p:nvSpPr>
        <p:spPr bwMode="auto">
          <a:xfrm>
            <a:off x="539552" y="183734"/>
            <a:ext cx="7953375"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a:t>[</a:t>
            </a:r>
            <a:r>
              <a:rPr lang="ja-JP" altLang="en-US" sz="2263" b="1" dirty="0"/>
              <a:t>もう一つのカメラ設定</a:t>
            </a:r>
            <a:r>
              <a:rPr lang="en-US" altLang="ja-JP" sz="2263" b="1" dirty="0"/>
              <a:t>]</a:t>
            </a:r>
          </a:p>
        </p:txBody>
      </p:sp>
      <p:sp>
        <p:nvSpPr>
          <p:cNvPr id="20" name="Text Box 5"/>
          <p:cNvSpPr txBox="1">
            <a:spLocks noChangeArrowheads="1"/>
          </p:cNvSpPr>
          <p:nvPr/>
        </p:nvSpPr>
        <p:spPr bwMode="auto">
          <a:xfrm>
            <a:off x="1043608" y="778713"/>
            <a:ext cx="6645146"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先ほど行ったカメラ設定は、モンスターハンターなど</a:t>
            </a:r>
            <a:br>
              <a:rPr lang="en-US" altLang="ja-JP" sz="2263" b="1" dirty="0"/>
            </a:br>
            <a:r>
              <a:rPr lang="en-US" altLang="ja-JP" sz="2263" b="1" dirty="0">
                <a:solidFill>
                  <a:srgbClr val="FF0000"/>
                </a:solidFill>
              </a:rPr>
              <a:t>TPS</a:t>
            </a:r>
            <a:r>
              <a:rPr lang="ja-JP" altLang="en-US" sz="2263" b="1" dirty="0">
                <a:solidFill>
                  <a:srgbClr val="FF0000"/>
                </a:solidFill>
              </a:rPr>
              <a:t>視点</a:t>
            </a:r>
            <a:r>
              <a:rPr lang="ja-JP" altLang="en-US" sz="2263" b="1" dirty="0"/>
              <a:t>のゲームなどで大活躍する。</a:t>
            </a:r>
            <a:endParaRPr lang="en-US" altLang="ja-JP" sz="2263" b="1" dirty="0"/>
          </a:p>
        </p:txBody>
      </p:sp>
      <p:sp>
        <p:nvSpPr>
          <p:cNvPr id="12" name="Text Box 5"/>
          <p:cNvSpPr txBox="1">
            <a:spLocks noChangeArrowheads="1"/>
          </p:cNvSpPr>
          <p:nvPr/>
        </p:nvSpPr>
        <p:spPr bwMode="auto">
          <a:xfrm>
            <a:off x="5726484" y="2527111"/>
            <a:ext cx="3213248" cy="788806"/>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a:t>視点：プレイヤーの後方</a:t>
            </a:r>
            <a:br>
              <a:rPr lang="en-US" altLang="ja-JP" sz="2263" b="1" dirty="0"/>
            </a:br>
            <a:r>
              <a:rPr lang="ja-JP" altLang="en-US" sz="2263" b="1" dirty="0"/>
              <a:t>注視点：プレイヤー</a:t>
            </a:r>
            <a:endParaRPr lang="en-US" altLang="ja-JP" sz="2263" b="1" dirty="0"/>
          </a:p>
        </p:txBody>
      </p:sp>
      <p:pic>
        <p:nvPicPr>
          <p:cNvPr id="2" name="図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447" y="1597539"/>
            <a:ext cx="4419600" cy="2647950"/>
          </a:xfrm>
          <a:prstGeom prst="rect">
            <a:avLst/>
          </a:prstGeom>
        </p:spPr>
      </p:pic>
      <p:sp>
        <p:nvSpPr>
          <p:cNvPr id="8" name="Text Box 5"/>
          <p:cNvSpPr txBox="1">
            <a:spLocks noChangeArrowheads="1"/>
          </p:cNvSpPr>
          <p:nvPr/>
        </p:nvSpPr>
        <p:spPr bwMode="auto">
          <a:xfrm>
            <a:off x="261725" y="5218724"/>
            <a:ext cx="4104456"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反面、主人公が画面に見えない</a:t>
            </a:r>
            <a:br>
              <a:rPr lang="en-US" altLang="ja-JP" sz="2263" b="1" dirty="0"/>
            </a:br>
            <a:r>
              <a:rPr lang="en-US" altLang="ja-JP" sz="2263" b="1" dirty="0">
                <a:solidFill>
                  <a:srgbClr val="FF0000"/>
                </a:solidFill>
              </a:rPr>
              <a:t>FPS</a:t>
            </a:r>
            <a:r>
              <a:rPr lang="ja-JP" altLang="en-US" sz="2263" b="1" dirty="0">
                <a:solidFill>
                  <a:srgbClr val="FF0000"/>
                </a:solidFill>
              </a:rPr>
              <a:t>視点</a:t>
            </a:r>
            <a:r>
              <a:rPr lang="ja-JP" altLang="en-US" sz="2263" b="1" dirty="0"/>
              <a:t>のゲームなどは</a:t>
            </a:r>
            <a:br>
              <a:rPr lang="en-US" altLang="ja-JP" sz="2263" b="1" dirty="0"/>
            </a:br>
            <a:r>
              <a:rPr lang="ja-JP" altLang="en-US" sz="2263" b="1" dirty="0"/>
              <a:t>実装は別手法で行う。</a:t>
            </a:r>
            <a:endParaRPr lang="en-US" altLang="ja-JP" sz="2263" b="1" dirty="0"/>
          </a:p>
        </p:txBody>
      </p:sp>
      <p:pic>
        <p:nvPicPr>
          <p:cNvPr id="5" name="図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4008" y="4431343"/>
            <a:ext cx="4314056" cy="2426657"/>
          </a:xfrm>
          <a:prstGeom prst="rect">
            <a:avLst/>
          </a:prstGeom>
        </p:spPr>
      </p:pic>
      <p:sp>
        <p:nvSpPr>
          <p:cNvPr id="6" name="左矢印 5"/>
          <p:cNvSpPr/>
          <p:nvPr/>
        </p:nvSpPr>
        <p:spPr>
          <a:xfrm>
            <a:off x="3563888" y="2708920"/>
            <a:ext cx="2016224" cy="432048"/>
          </a:xfrm>
          <a:prstGeom prst="lef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左矢印 10"/>
          <p:cNvSpPr/>
          <p:nvPr/>
        </p:nvSpPr>
        <p:spPr>
          <a:xfrm rot="10800000">
            <a:off x="4366181" y="5628771"/>
            <a:ext cx="2016224" cy="432048"/>
          </a:xfrm>
          <a:prstGeom prst="lef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3848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827584" y="892423"/>
            <a:ext cx="7056784" cy="1168425"/>
          </a:xfrm>
          <a:prstGeom prst="rect">
            <a:avLst/>
          </a:prstGeom>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err="1">
                <a:solidFill>
                  <a:schemeClr val="tx1"/>
                </a:solidFill>
              </a:rPr>
              <a:t>int</a:t>
            </a:r>
            <a:r>
              <a:rPr kumimoji="1" lang="en-US" altLang="ja-JP" sz="2400" b="1" dirty="0">
                <a:solidFill>
                  <a:schemeClr val="tx1"/>
                </a:solidFill>
              </a:rPr>
              <a:t> </a:t>
            </a:r>
            <a:r>
              <a:rPr lang="en-US" altLang="ja-JP" sz="2400" b="1" dirty="0" err="1">
                <a:solidFill>
                  <a:schemeClr val="tx1"/>
                </a:solidFill>
              </a:rPr>
              <a:t>SetCameraPositionAndAngle</a:t>
            </a:r>
            <a:r>
              <a:rPr kumimoji="1" lang="en-US" altLang="ja-JP" sz="2400" b="1" dirty="0">
                <a:solidFill>
                  <a:schemeClr val="tx1"/>
                </a:solidFill>
              </a:rPr>
              <a:t>(</a:t>
            </a:r>
            <a:br>
              <a:rPr kumimoji="1" lang="en-US" altLang="ja-JP" sz="2400" b="1" dirty="0">
                <a:solidFill>
                  <a:schemeClr val="tx1"/>
                </a:solidFill>
              </a:rPr>
            </a:br>
            <a:r>
              <a:rPr kumimoji="1" lang="en-US" altLang="ja-JP" sz="2400" b="1" dirty="0">
                <a:solidFill>
                  <a:schemeClr val="tx1"/>
                </a:solidFill>
              </a:rPr>
              <a:t>VECTOR </a:t>
            </a:r>
            <a:r>
              <a:rPr kumimoji="1" lang="ja-JP" altLang="en-US" sz="2400" b="1" dirty="0">
                <a:solidFill>
                  <a:schemeClr val="tx1"/>
                </a:solidFill>
              </a:rPr>
              <a:t>カメラ視点</a:t>
            </a:r>
            <a:r>
              <a:rPr kumimoji="1" lang="en-US" altLang="ja-JP" sz="2400" b="1" dirty="0">
                <a:solidFill>
                  <a:schemeClr val="tx1"/>
                </a:solidFill>
              </a:rPr>
              <a:t>, float </a:t>
            </a:r>
            <a:r>
              <a:rPr kumimoji="1" lang="ja-JP" altLang="en-US" sz="2400" b="1" dirty="0">
                <a:solidFill>
                  <a:schemeClr val="tx1"/>
                </a:solidFill>
              </a:rPr>
              <a:t>垂直回転角度</a:t>
            </a:r>
            <a:r>
              <a:rPr kumimoji="1" lang="en-US" altLang="ja-JP" sz="2400" b="1" dirty="0">
                <a:solidFill>
                  <a:schemeClr val="tx1"/>
                </a:solidFill>
              </a:rPr>
              <a:t>,</a:t>
            </a:r>
            <a:br>
              <a:rPr kumimoji="1" lang="en-US" altLang="ja-JP" sz="2400" b="1" dirty="0">
                <a:solidFill>
                  <a:schemeClr val="tx1"/>
                </a:solidFill>
              </a:rPr>
            </a:br>
            <a:r>
              <a:rPr kumimoji="1" lang="en-US" altLang="ja-JP" sz="2400" b="1" dirty="0">
                <a:solidFill>
                  <a:schemeClr val="tx1"/>
                </a:solidFill>
              </a:rPr>
              <a:t>float </a:t>
            </a:r>
            <a:r>
              <a:rPr kumimoji="1" lang="ja-JP" altLang="en-US" sz="2400" b="1" dirty="0">
                <a:solidFill>
                  <a:schemeClr val="tx1"/>
                </a:solidFill>
              </a:rPr>
              <a:t>水平回転角度</a:t>
            </a:r>
            <a:r>
              <a:rPr kumimoji="1" lang="en-US" altLang="ja-JP" sz="2400" b="1" dirty="0">
                <a:solidFill>
                  <a:schemeClr val="tx1"/>
                </a:solidFill>
              </a:rPr>
              <a:t>, float </a:t>
            </a:r>
            <a:r>
              <a:rPr kumimoji="1" lang="ja-JP" altLang="en-US" sz="2400" b="1" dirty="0">
                <a:solidFill>
                  <a:schemeClr val="tx1"/>
                </a:solidFill>
              </a:rPr>
              <a:t>ひねり回転角度</a:t>
            </a:r>
            <a:r>
              <a:rPr kumimoji="1" lang="en-US" altLang="ja-JP" sz="2400" b="1" dirty="0">
                <a:solidFill>
                  <a:schemeClr val="tx1"/>
                </a:solidFill>
              </a:rPr>
              <a:t>)</a:t>
            </a:r>
            <a:endParaRPr kumimoji="1" lang="ja-JP" altLang="en-US" sz="2400" b="1" dirty="0">
              <a:solidFill>
                <a:schemeClr val="tx1"/>
              </a:solidFill>
            </a:endParaRPr>
          </a:p>
        </p:txBody>
      </p:sp>
      <p:sp>
        <p:nvSpPr>
          <p:cNvPr id="14" name="Text Box 5"/>
          <p:cNvSpPr txBox="1">
            <a:spLocks noChangeArrowheads="1"/>
          </p:cNvSpPr>
          <p:nvPr/>
        </p:nvSpPr>
        <p:spPr bwMode="auto">
          <a:xfrm>
            <a:off x="539552" y="183734"/>
            <a:ext cx="7953375"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a:t>[</a:t>
            </a:r>
            <a:r>
              <a:rPr lang="ja-JP" altLang="en-US" sz="2263" b="1" dirty="0"/>
              <a:t>カメラ関数　～カメラ位置②～</a:t>
            </a:r>
            <a:r>
              <a:rPr lang="en-US" altLang="ja-JP" sz="2263" b="1" dirty="0"/>
              <a:t>]</a:t>
            </a:r>
          </a:p>
        </p:txBody>
      </p:sp>
      <p:sp>
        <p:nvSpPr>
          <p:cNvPr id="20" name="Text Box 5"/>
          <p:cNvSpPr txBox="1">
            <a:spLocks noChangeArrowheads="1"/>
          </p:cNvSpPr>
          <p:nvPr/>
        </p:nvSpPr>
        <p:spPr bwMode="auto">
          <a:xfrm>
            <a:off x="1033403" y="2310757"/>
            <a:ext cx="6645146" cy="2181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a:t>第一引数：モデルハンドル</a:t>
            </a:r>
            <a:br>
              <a:rPr lang="en-US" altLang="ja-JP" sz="2263" b="1" dirty="0"/>
            </a:br>
            <a:r>
              <a:rPr lang="ja-JP" altLang="en-US" sz="2263" b="1" dirty="0"/>
              <a:t>第二引数：カメラの位置</a:t>
            </a:r>
            <a:br>
              <a:rPr lang="en-US" altLang="ja-JP" sz="2263" b="1" dirty="0"/>
            </a:br>
            <a:r>
              <a:rPr lang="ja-JP" altLang="en-US" sz="2263" b="1" dirty="0"/>
              <a:t>第三引数：</a:t>
            </a:r>
            <a:r>
              <a:rPr lang="en-US" altLang="ja-JP" sz="2263" b="1" dirty="0"/>
              <a:t>X</a:t>
            </a:r>
            <a:r>
              <a:rPr lang="ja-JP" altLang="en-US" sz="2263" b="1" dirty="0"/>
              <a:t>軸に対する回転</a:t>
            </a:r>
            <a:r>
              <a:rPr lang="en-US" altLang="ja-JP" sz="2263" b="1" dirty="0"/>
              <a:t>(</a:t>
            </a:r>
            <a:r>
              <a:rPr lang="ja-JP" altLang="en-US" sz="2263" b="1" dirty="0"/>
              <a:t>ラジアン角</a:t>
            </a:r>
            <a:r>
              <a:rPr lang="en-US" altLang="ja-JP" sz="2263" b="1" dirty="0"/>
              <a:t>) </a:t>
            </a:r>
            <a:br>
              <a:rPr lang="en-US" altLang="ja-JP" sz="2263" b="1" dirty="0"/>
            </a:br>
            <a:r>
              <a:rPr lang="ja-JP" altLang="en-US" sz="2263" b="1" dirty="0"/>
              <a:t>第四引数：</a:t>
            </a:r>
            <a:r>
              <a:rPr lang="en-US" altLang="ja-JP" sz="2263" b="1" dirty="0"/>
              <a:t>Y</a:t>
            </a:r>
            <a:r>
              <a:rPr lang="ja-JP" altLang="en-US" sz="2263" b="1" dirty="0"/>
              <a:t>軸に対する回転</a:t>
            </a:r>
            <a:r>
              <a:rPr lang="en-US" altLang="ja-JP" sz="2263" b="1" dirty="0"/>
              <a:t>(</a:t>
            </a:r>
            <a:r>
              <a:rPr lang="ja-JP" altLang="en-US" sz="2263" b="1" dirty="0"/>
              <a:t>ラジアン角</a:t>
            </a:r>
            <a:r>
              <a:rPr lang="en-US" altLang="ja-JP" sz="2263" b="1" dirty="0"/>
              <a:t>) </a:t>
            </a:r>
            <a:br>
              <a:rPr lang="en-US" altLang="ja-JP" sz="2263" b="1" dirty="0"/>
            </a:br>
            <a:r>
              <a:rPr lang="ja-JP" altLang="en-US" sz="2263" b="1" dirty="0"/>
              <a:t>第五引数：</a:t>
            </a:r>
            <a:r>
              <a:rPr lang="en-US" altLang="ja-JP" sz="2263" b="1" dirty="0"/>
              <a:t>Z</a:t>
            </a:r>
            <a:r>
              <a:rPr lang="ja-JP" altLang="en-US" sz="2263" b="1" dirty="0"/>
              <a:t>軸に対する回転</a:t>
            </a:r>
            <a:r>
              <a:rPr lang="en-US" altLang="ja-JP" sz="2263" b="1" dirty="0"/>
              <a:t>(</a:t>
            </a:r>
            <a:r>
              <a:rPr lang="ja-JP" altLang="en-US" sz="2263" b="1" dirty="0"/>
              <a:t>ラジアン角</a:t>
            </a:r>
            <a:r>
              <a:rPr lang="en-US" altLang="ja-JP" sz="2263" b="1" dirty="0"/>
              <a:t>)</a:t>
            </a:r>
            <a:br>
              <a:rPr lang="en-US" altLang="ja-JP" sz="2263" b="1" dirty="0"/>
            </a:br>
            <a:r>
              <a:rPr lang="ja-JP" altLang="en-US" sz="2263" b="1" dirty="0"/>
              <a:t>戻り値：成功＝</a:t>
            </a:r>
            <a:r>
              <a:rPr lang="en-US" altLang="ja-JP" sz="2263" b="1" dirty="0"/>
              <a:t>0</a:t>
            </a:r>
            <a:r>
              <a:rPr lang="ja-JP" altLang="en-US" sz="2263" b="1" dirty="0"/>
              <a:t>　失敗＝</a:t>
            </a:r>
            <a:r>
              <a:rPr lang="en-US" altLang="ja-JP" sz="2263" b="1" dirty="0"/>
              <a:t>-1</a:t>
            </a:r>
          </a:p>
        </p:txBody>
      </p:sp>
      <p:sp>
        <p:nvSpPr>
          <p:cNvPr id="12" name="Text Box 5"/>
          <p:cNvSpPr txBox="1">
            <a:spLocks noChangeArrowheads="1"/>
          </p:cNvSpPr>
          <p:nvPr/>
        </p:nvSpPr>
        <p:spPr bwMode="auto">
          <a:xfrm>
            <a:off x="404414" y="5229200"/>
            <a:ext cx="8223650"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こちらのカメラ設定では、カメラマン自体を回転させて</a:t>
            </a:r>
            <a:br>
              <a:rPr lang="en-US" altLang="ja-JP" sz="2263" b="1" dirty="0"/>
            </a:br>
            <a:r>
              <a:rPr lang="ja-JP" altLang="en-US" sz="2263" b="1" dirty="0"/>
              <a:t>画面に映る範囲を変更する方法となる。</a:t>
            </a:r>
            <a:endParaRPr lang="en-US" altLang="ja-JP" sz="2263" b="1" dirty="0"/>
          </a:p>
        </p:txBody>
      </p:sp>
    </p:spTree>
    <p:extLst>
      <p:ext uri="{BB962C8B-B14F-4D97-AF65-F5344CB8AC3E}">
        <p14:creationId xmlns:p14="http://schemas.microsoft.com/office/powerpoint/2010/main" val="3888433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角丸四角形 18"/>
          <p:cNvSpPr/>
          <p:nvPr/>
        </p:nvSpPr>
        <p:spPr>
          <a:xfrm>
            <a:off x="429785" y="4056880"/>
            <a:ext cx="4086454" cy="28168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p:cNvSpPr/>
          <p:nvPr/>
        </p:nvSpPr>
        <p:spPr>
          <a:xfrm>
            <a:off x="4806026" y="932144"/>
            <a:ext cx="4086454" cy="28168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p:cNvSpPr/>
          <p:nvPr/>
        </p:nvSpPr>
        <p:spPr>
          <a:xfrm>
            <a:off x="316445" y="932144"/>
            <a:ext cx="4086454" cy="28168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Text Box 5"/>
          <p:cNvSpPr txBox="1">
            <a:spLocks noChangeArrowheads="1"/>
          </p:cNvSpPr>
          <p:nvPr/>
        </p:nvSpPr>
        <p:spPr bwMode="auto">
          <a:xfrm>
            <a:off x="539552" y="183734"/>
            <a:ext cx="7953375"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a:t>[</a:t>
            </a:r>
            <a:r>
              <a:rPr lang="ja-JP" altLang="en-US" sz="2263" b="1" dirty="0"/>
              <a:t>回転方向のイメージ</a:t>
            </a:r>
            <a:r>
              <a:rPr lang="en-US" altLang="ja-JP" sz="2263" b="1" dirty="0"/>
              <a:t>]</a:t>
            </a:r>
          </a:p>
        </p:txBody>
      </p:sp>
      <p:pic>
        <p:nvPicPr>
          <p:cNvPr id="2" name="図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636" y="959175"/>
            <a:ext cx="2232248" cy="2176442"/>
          </a:xfrm>
          <a:prstGeom prst="rect">
            <a:avLst/>
          </a:prstGeom>
        </p:spPr>
      </p:pic>
      <p:sp>
        <p:nvSpPr>
          <p:cNvPr id="8" name="Text Box 5"/>
          <p:cNvSpPr txBox="1">
            <a:spLocks noChangeArrowheads="1"/>
          </p:cNvSpPr>
          <p:nvPr/>
        </p:nvSpPr>
        <p:spPr bwMode="auto">
          <a:xfrm>
            <a:off x="683568" y="726247"/>
            <a:ext cx="3456384" cy="440570"/>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a:t>○垂直回転角度</a:t>
            </a:r>
            <a:r>
              <a:rPr lang="en-US" altLang="ja-JP" sz="2263" b="1" dirty="0"/>
              <a:t>(X</a:t>
            </a:r>
            <a:r>
              <a:rPr lang="ja-JP" altLang="en-US" sz="2263" b="1" dirty="0"/>
              <a:t>軸回転</a:t>
            </a:r>
            <a:r>
              <a:rPr lang="en-US" altLang="ja-JP" sz="2263" b="1" dirty="0"/>
              <a:t>)</a:t>
            </a:r>
          </a:p>
        </p:txBody>
      </p:sp>
      <p:sp>
        <p:nvSpPr>
          <p:cNvPr id="9" name="Text Box 5"/>
          <p:cNvSpPr txBox="1">
            <a:spLocks noChangeArrowheads="1"/>
          </p:cNvSpPr>
          <p:nvPr/>
        </p:nvSpPr>
        <p:spPr bwMode="auto">
          <a:xfrm>
            <a:off x="683568" y="3135617"/>
            <a:ext cx="3456384"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鉄棒を軸にして行う回転</a:t>
            </a:r>
            <a:endParaRPr lang="en-US" altLang="ja-JP" sz="2263" b="1" dirty="0"/>
          </a:p>
        </p:txBody>
      </p:sp>
      <p:sp>
        <p:nvSpPr>
          <p:cNvPr id="10" name="Text Box 5"/>
          <p:cNvSpPr txBox="1">
            <a:spLocks noChangeArrowheads="1"/>
          </p:cNvSpPr>
          <p:nvPr/>
        </p:nvSpPr>
        <p:spPr bwMode="auto">
          <a:xfrm>
            <a:off x="5148064" y="717407"/>
            <a:ext cx="3456384" cy="440570"/>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a:t>○水平回転角度</a:t>
            </a:r>
            <a:r>
              <a:rPr lang="en-US" altLang="ja-JP" sz="2263" b="1" dirty="0"/>
              <a:t>(Y</a:t>
            </a:r>
            <a:r>
              <a:rPr lang="ja-JP" altLang="en-US" sz="2263" b="1" dirty="0"/>
              <a:t>軸回転</a:t>
            </a:r>
            <a:r>
              <a:rPr lang="en-US" altLang="ja-JP" sz="2263" b="1" dirty="0"/>
              <a:t>)</a:t>
            </a:r>
          </a:p>
        </p:txBody>
      </p:sp>
      <p:pic>
        <p:nvPicPr>
          <p:cNvPr id="5" name="図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8184" y="1251080"/>
            <a:ext cx="1584176" cy="1584176"/>
          </a:xfrm>
          <a:prstGeom prst="rect">
            <a:avLst/>
          </a:prstGeom>
        </p:spPr>
      </p:pic>
      <p:sp>
        <p:nvSpPr>
          <p:cNvPr id="13" name="Text Box 5"/>
          <p:cNvSpPr txBox="1">
            <a:spLocks noChangeArrowheads="1"/>
          </p:cNvSpPr>
          <p:nvPr/>
        </p:nvSpPr>
        <p:spPr bwMode="auto">
          <a:xfrm>
            <a:off x="5292080" y="3135617"/>
            <a:ext cx="3456384"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登り棒を軸にして行う回転</a:t>
            </a:r>
            <a:endParaRPr lang="en-US" altLang="ja-JP" sz="2263" b="1" dirty="0"/>
          </a:p>
        </p:txBody>
      </p:sp>
      <p:pic>
        <p:nvPicPr>
          <p:cNvPr id="6" name="図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01386" y="4648382"/>
            <a:ext cx="1743251" cy="1317653"/>
          </a:xfrm>
          <a:prstGeom prst="rect">
            <a:avLst/>
          </a:prstGeom>
        </p:spPr>
      </p:pic>
      <p:sp>
        <p:nvSpPr>
          <p:cNvPr id="15" name="Text Box 5"/>
          <p:cNvSpPr txBox="1">
            <a:spLocks noChangeArrowheads="1"/>
          </p:cNvSpPr>
          <p:nvPr/>
        </p:nvSpPr>
        <p:spPr bwMode="auto">
          <a:xfrm>
            <a:off x="683568" y="3920273"/>
            <a:ext cx="3672408" cy="440570"/>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a:t>○ひねり回転角度</a:t>
            </a:r>
            <a:r>
              <a:rPr lang="en-US" altLang="ja-JP" sz="2263" b="1" dirty="0"/>
              <a:t>(Z</a:t>
            </a:r>
            <a:r>
              <a:rPr lang="ja-JP" altLang="en-US" sz="2263" b="1" dirty="0"/>
              <a:t>軸回転</a:t>
            </a:r>
            <a:r>
              <a:rPr lang="en-US" altLang="ja-JP" sz="2263" b="1" dirty="0"/>
              <a:t>)</a:t>
            </a:r>
          </a:p>
        </p:txBody>
      </p:sp>
      <p:sp>
        <p:nvSpPr>
          <p:cNvPr id="16" name="Text Box 5"/>
          <p:cNvSpPr txBox="1">
            <a:spLocks noChangeArrowheads="1"/>
          </p:cNvSpPr>
          <p:nvPr/>
        </p:nvSpPr>
        <p:spPr bwMode="auto">
          <a:xfrm>
            <a:off x="791580" y="6171847"/>
            <a:ext cx="3456384"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プロペラの回転</a:t>
            </a:r>
            <a:endParaRPr lang="en-US" altLang="ja-JP" sz="2263" b="1" dirty="0"/>
          </a:p>
        </p:txBody>
      </p:sp>
      <p:sp>
        <p:nvSpPr>
          <p:cNvPr id="21" name="Text Box 5"/>
          <p:cNvSpPr txBox="1">
            <a:spLocks noChangeArrowheads="1"/>
          </p:cNvSpPr>
          <p:nvPr/>
        </p:nvSpPr>
        <p:spPr bwMode="auto">
          <a:xfrm>
            <a:off x="4968044" y="4830648"/>
            <a:ext cx="4104456"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en-US" altLang="ja-JP" sz="2263" b="1" dirty="0"/>
              <a:t>3D</a:t>
            </a:r>
            <a:r>
              <a:rPr lang="ja-JP" altLang="en-US" sz="2263" b="1" dirty="0"/>
              <a:t>モデルを回転させる時は</a:t>
            </a:r>
            <a:br>
              <a:rPr lang="en-US" altLang="ja-JP" sz="2263" b="1" dirty="0"/>
            </a:br>
            <a:r>
              <a:rPr lang="ja-JP" altLang="en-US" sz="2263" b="1" dirty="0"/>
              <a:t>今回と同じ指定で</a:t>
            </a:r>
            <a:r>
              <a:rPr lang="en-US" altLang="ja-JP" sz="2263" b="1" dirty="0"/>
              <a:t>OK</a:t>
            </a:r>
            <a:r>
              <a:rPr lang="ja-JP" altLang="en-US" sz="2263" b="1" dirty="0" err="1"/>
              <a:t>。</a:t>
            </a:r>
            <a:br>
              <a:rPr lang="en-US" altLang="ja-JP" sz="2263" b="1" dirty="0"/>
            </a:br>
            <a:r>
              <a:rPr lang="ja-JP" altLang="en-US" sz="2263" b="1" dirty="0"/>
              <a:t>しっかりと覚えておこう。</a:t>
            </a:r>
            <a:endParaRPr lang="en-US" altLang="ja-JP" sz="2263" b="1" dirty="0"/>
          </a:p>
        </p:txBody>
      </p:sp>
    </p:spTree>
    <p:extLst>
      <p:ext uri="{BB962C8B-B14F-4D97-AF65-F5344CB8AC3E}">
        <p14:creationId xmlns:p14="http://schemas.microsoft.com/office/powerpoint/2010/main" val="4188908419"/>
      </p:ext>
    </p:extLst>
  </p:cSld>
  <p:clrMapOvr>
    <a:masterClrMapping/>
  </p:clrMapOvr>
</p:sld>
</file>

<file path=ppt/theme/theme1.xml><?xml version="1.0" encoding="utf-8"?>
<a:theme xmlns:a="http://schemas.openxmlformats.org/drawingml/2006/main" name="標準デザイン">
  <a:themeElements>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標準デザイン">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15817</TotalTime>
  <Words>770</Words>
  <Application>Microsoft Office PowerPoint</Application>
  <PresentationFormat>画面に合わせる (4:3)</PresentationFormat>
  <Paragraphs>58</Paragraphs>
  <Slides>12</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12</vt:i4>
      </vt:variant>
    </vt:vector>
  </HeadingPairs>
  <TitlesOfParts>
    <vt:vector size="16" baseType="lpstr">
      <vt:lpstr>ＭＳ Ｐゴシック</vt:lpstr>
      <vt:lpstr>Arial</vt:lpstr>
      <vt:lpstr>Calibri</vt:lpstr>
      <vt:lpstr>標準デザイン</vt:lpstr>
      <vt:lpstr>この単元の目標</vt:lpstr>
      <vt:lpstr>2 カメラ操作の基礎</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麻生塾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初めてのプログラム</dc:title>
  <dc:creator>t_ymmt</dc:creator>
  <cp:lastModifiedBy>山本　隆行</cp:lastModifiedBy>
  <cp:revision>591</cp:revision>
  <dcterms:created xsi:type="dcterms:W3CDTF">2013-04-19T02:46:48Z</dcterms:created>
  <dcterms:modified xsi:type="dcterms:W3CDTF">2026-04-01T07:11:24Z</dcterms:modified>
</cp:coreProperties>
</file>