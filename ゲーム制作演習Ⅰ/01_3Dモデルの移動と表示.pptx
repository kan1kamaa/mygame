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4" r:id="rId2"/>
    <p:sldId id="263" r:id="rId3"/>
    <p:sldId id="480" r:id="rId4"/>
    <p:sldId id="497" r:id="rId5"/>
    <p:sldId id="510" r:id="rId6"/>
    <p:sldId id="505" r:id="rId7"/>
    <p:sldId id="511" r:id="rId8"/>
    <p:sldId id="512" r:id="rId9"/>
    <p:sldId id="506" r:id="rId10"/>
    <p:sldId id="513" r:id="rId11"/>
    <p:sldId id="507" r:id="rId12"/>
    <p:sldId id="499" r:id="rId13"/>
    <p:sldId id="508" r:id="rId14"/>
    <p:sldId id="514" r:id="rId15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3" autoAdjust="0"/>
    <p:restoredTop sz="93432" autoAdjust="0"/>
  </p:normalViewPr>
  <p:slideViewPr>
    <p:cSldViewPr>
      <p:cViewPr varScale="1">
        <p:scale>
          <a:sx n="113" d="100"/>
          <a:sy n="113" d="100"/>
        </p:scale>
        <p:origin x="163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27E591F3-6C5C-4237-9A0F-19C627DFAD91}" type="datetimeFigureOut">
              <a:rPr lang="ja-JP" altLang="en-US"/>
              <a:pPr>
                <a:defRPr/>
              </a:pPr>
              <a:t>2026/4/1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E94BE2DB-0632-44C0-A305-06F0D4B9CEE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64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9741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94326-21EF-45D6-9938-6B5BD0D058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3490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1B8C3-4F1B-4F8C-B78A-BA008A4288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7403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0992A-329F-4748-B8BD-5ACE4AD4DE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447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F9311-072B-437B-8F4A-90FAC793E74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687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856A-195B-44FC-9E8C-2B8EFCAF2E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134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8990D-02EF-4AF9-8193-ADA8B1D08AA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68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E9533-605F-4AB1-90F2-B443A41F5FF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4775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F4E6F-8E4F-465C-BE46-3CA155F67AB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356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A2F0E-8486-49C0-88FF-C5FCF562858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2502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312D0-E269-4F66-A389-47D91A25CD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7464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5277F-FF33-41BB-B110-8F2E985F6F0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062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F2B73C9D-6D14-4BD8-824F-F008878771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6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3D</a:t>
            </a: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モデルを表示させ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空間を移動させることが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できる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dirty="0"/>
              <a:t>1 3D</a:t>
            </a:r>
            <a:r>
              <a:rPr lang="ja-JP" altLang="en-US" dirty="0"/>
              <a:t>モデルの移動と表示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20699" y="1938411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3D</a:t>
            </a:r>
            <a:r>
              <a:rPr lang="ja-JP" altLang="en-US" sz="2263" b="1" dirty="0"/>
              <a:t>ゲームの表示の基本は</a:t>
            </a:r>
            <a:r>
              <a:rPr lang="en-US" altLang="ja-JP" sz="2263" b="1" dirty="0"/>
              <a:t>2D</a:t>
            </a:r>
            <a:r>
              <a:rPr lang="ja-JP" altLang="en-US" sz="2263" b="1" dirty="0"/>
              <a:t>と同じ。</a:t>
            </a:r>
            <a:endParaRPr lang="en-US" altLang="ja-JP" sz="2263" b="1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20923" y="1520424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[3D</a:t>
            </a:r>
            <a:r>
              <a:rPr lang="ja-JP" altLang="en-US" sz="2263" b="1" dirty="0"/>
              <a:t>モデルの表示の基本</a:t>
            </a:r>
            <a:r>
              <a:rPr lang="en-US" altLang="ja-JP" sz="2263" b="1" dirty="0"/>
              <a:t>]</a:t>
            </a: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99" y="2763364"/>
            <a:ext cx="1999109" cy="1999109"/>
          </a:xfrm>
          <a:prstGeom prst="rect">
            <a:avLst/>
          </a:prstGeom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20923" y="5031946"/>
            <a:ext cx="2448272" cy="7888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0000FF"/>
                </a:solidFill>
              </a:rPr>
              <a:t>データの読み込み</a:t>
            </a:r>
            <a:br>
              <a:rPr lang="en-US" altLang="ja-JP" sz="2263" b="1" dirty="0">
                <a:solidFill>
                  <a:srgbClr val="0000FF"/>
                </a:solidFill>
              </a:rPr>
            </a:br>
            <a:r>
              <a:rPr lang="en-US" altLang="ja-JP" sz="2263" b="1" dirty="0">
                <a:solidFill>
                  <a:srgbClr val="0000FF"/>
                </a:solidFill>
              </a:rPr>
              <a:t>(</a:t>
            </a:r>
            <a:r>
              <a:rPr lang="ja-JP" altLang="en-US" sz="2263" b="1" dirty="0">
                <a:solidFill>
                  <a:srgbClr val="0000FF"/>
                </a:solidFill>
              </a:rPr>
              <a:t>最初の</a:t>
            </a:r>
            <a:r>
              <a:rPr lang="en-US" altLang="ja-JP" sz="2263" b="1" dirty="0">
                <a:solidFill>
                  <a:srgbClr val="0000FF"/>
                </a:solidFill>
              </a:rPr>
              <a:t>1</a:t>
            </a:r>
            <a:r>
              <a:rPr lang="ja-JP" altLang="en-US" sz="2263" b="1" dirty="0">
                <a:solidFill>
                  <a:srgbClr val="0000FF"/>
                </a:solidFill>
              </a:rPr>
              <a:t>回だけ</a:t>
            </a:r>
            <a:r>
              <a:rPr lang="en-US" altLang="ja-JP" sz="2263" b="1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4" name="右矢印 3"/>
          <p:cNvSpPr/>
          <p:nvPr/>
        </p:nvSpPr>
        <p:spPr>
          <a:xfrm>
            <a:off x="2337147" y="3483126"/>
            <a:ext cx="864096" cy="8640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3055366"/>
            <a:ext cx="2442637" cy="1719616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3491880" y="5031946"/>
            <a:ext cx="2448272" cy="7888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0000FF"/>
                </a:solidFill>
              </a:rPr>
              <a:t>画像の表示</a:t>
            </a:r>
            <a:br>
              <a:rPr lang="en-US" altLang="ja-JP" sz="2263" b="1" dirty="0">
                <a:solidFill>
                  <a:srgbClr val="0000FF"/>
                </a:solidFill>
              </a:rPr>
            </a:br>
            <a:r>
              <a:rPr lang="en-US" altLang="ja-JP" sz="2263" b="1" dirty="0">
                <a:solidFill>
                  <a:srgbClr val="0000FF"/>
                </a:solidFill>
              </a:rPr>
              <a:t>(</a:t>
            </a:r>
            <a:r>
              <a:rPr lang="ja-JP" altLang="en-US" sz="2263" b="1" dirty="0">
                <a:solidFill>
                  <a:srgbClr val="0000FF"/>
                </a:solidFill>
              </a:rPr>
              <a:t>毎回</a:t>
            </a:r>
            <a:r>
              <a:rPr lang="en-US" altLang="ja-JP" sz="2263" b="1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4" name="右矢印 13"/>
          <p:cNvSpPr/>
          <p:nvPr/>
        </p:nvSpPr>
        <p:spPr>
          <a:xfrm>
            <a:off x="5937122" y="3483126"/>
            <a:ext cx="864096" cy="8640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839" y="3055366"/>
            <a:ext cx="2140744" cy="1766114"/>
          </a:xfrm>
          <a:prstGeom prst="rect">
            <a:avLst/>
          </a:prstGeom>
        </p:spPr>
      </p:pic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599159" y="5028293"/>
            <a:ext cx="2448272" cy="7888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0000FF"/>
                </a:solidFill>
              </a:rPr>
              <a:t>データの破棄</a:t>
            </a:r>
            <a:br>
              <a:rPr lang="en-US" altLang="ja-JP" sz="2263" b="1" dirty="0">
                <a:solidFill>
                  <a:srgbClr val="0000FF"/>
                </a:solidFill>
              </a:rPr>
            </a:br>
            <a:r>
              <a:rPr lang="en-US" altLang="ja-JP" sz="2263" b="1" dirty="0">
                <a:solidFill>
                  <a:srgbClr val="0000FF"/>
                </a:solidFill>
              </a:rPr>
              <a:t>(</a:t>
            </a:r>
            <a:r>
              <a:rPr lang="ja-JP" altLang="en-US" sz="2263" b="1" dirty="0">
                <a:solidFill>
                  <a:srgbClr val="0000FF"/>
                </a:solidFill>
              </a:rPr>
              <a:t>最後の</a:t>
            </a:r>
            <a:r>
              <a:rPr lang="en-US" altLang="ja-JP" sz="2263" b="1" dirty="0">
                <a:solidFill>
                  <a:srgbClr val="0000FF"/>
                </a:solidFill>
              </a:rPr>
              <a:t>1</a:t>
            </a:r>
            <a:r>
              <a:rPr lang="ja-JP" altLang="en-US" sz="2263" b="1" dirty="0">
                <a:solidFill>
                  <a:srgbClr val="0000FF"/>
                </a:solidFill>
              </a:rPr>
              <a:t>回だけ</a:t>
            </a:r>
            <a:r>
              <a:rPr lang="en-US" altLang="ja-JP" sz="2263" b="1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520699" y="6086572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実際、関数を</a:t>
            </a:r>
            <a:r>
              <a:rPr lang="en-US" altLang="ja-JP" sz="2263" b="1" dirty="0"/>
              <a:t>3D</a:t>
            </a:r>
            <a:r>
              <a:rPr lang="ja-JP" altLang="en-US" sz="2263" b="1" dirty="0"/>
              <a:t>用のものに変更するだけでＯＫ。</a:t>
            </a:r>
            <a:endParaRPr lang="en-US" altLang="ja-JP" sz="2263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86778" y="741602"/>
            <a:ext cx="8223650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○今回は</a:t>
            </a:r>
            <a:r>
              <a:rPr lang="en-US" altLang="ja-JP" sz="2263" b="1" dirty="0">
                <a:solidFill>
                  <a:srgbClr val="0000FF"/>
                </a:solidFill>
              </a:rPr>
              <a:t>3D</a:t>
            </a:r>
            <a:r>
              <a:rPr lang="ja-JP" altLang="en-US" sz="2263" b="1" dirty="0">
                <a:solidFill>
                  <a:srgbClr val="0000FF"/>
                </a:solidFill>
              </a:rPr>
              <a:t>モデルの表示・移動に全力を注ぎたい</a:t>
            </a:r>
            <a:r>
              <a:rPr lang="ja-JP" altLang="en-US" sz="2263" b="1" dirty="0"/>
              <a:t>。</a:t>
            </a:r>
            <a:br>
              <a:rPr lang="en-US" altLang="ja-JP" sz="2263" b="1" dirty="0"/>
            </a:br>
            <a:r>
              <a:rPr lang="ja-JP" altLang="en-US" sz="2263" b="1" dirty="0"/>
              <a:t>　 </a:t>
            </a:r>
            <a:r>
              <a:rPr lang="en-US" altLang="ja-JP" sz="2263" b="1" dirty="0"/>
              <a:t>C++</a:t>
            </a:r>
            <a:r>
              <a:rPr lang="ja-JP" altLang="en-US" sz="2263" b="1" dirty="0"/>
              <a:t>でクラスなどを学び始めているが、</a:t>
            </a:r>
            <a:r>
              <a:rPr lang="ja-JP" altLang="en-US" sz="2263" b="1" dirty="0">
                <a:solidFill>
                  <a:srgbClr val="FF0000"/>
                </a:solidFill>
              </a:rPr>
              <a:t>後でしっかりとクラス化を</a:t>
            </a:r>
            <a:br>
              <a:rPr lang="en-US" altLang="ja-JP" sz="2263" b="1" dirty="0">
                <a:solidFill>
                  <a:srgbClr val="FF0000"/>
                </a:solidFill>
              </a:rPr>
            </a:br>
            <a:r>
              <a:rPr lang="ja-JP" altLang="en-US" sz="2263" b="1" dirty="0">
                <a:solidFill>
                  <a:srgbClr val="FF0000"/>
                </a:solidFill>
              </a:rPr>
              <a:t>　 行う</a:t>
            </a:r>
            <a:r>
              <a:rPr lang="ja-JP" altLang="en-US" sz="2263" b="1" dirty="0"/>
              <a:t>ので、今は</a:t>
            </a:r>
            <a:r>
              <a:rPr lang="en-US" altLang="ja-JP" sz="2263" b="1" dirty="0"/>
              <a:t>C</a:t>
            </a:r>
            <a:r>
              <a:rPr lang="ja-JP" altLang="en-US" sz="2263" b="1" dirty="0"/>
              <a:t>言語の書き方で</a:t>
            </a:r>
            <a:r>
              <a:rPr lang="en-US" altLang="ja-JP" sz="2263" b="1" dirty="0"/>
              <a:t>OK!!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237347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作成をする前に・・・</a:t>
            </a:r>
            <a:r>
              <a:rPr lang="en-US" altLang="ja-JP" sz="2263" b="1" dirty="0"/>
              <a:t>]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86778" y="2157309"/>
            <a:ext cx="8223650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○一年生時に作成した</a:t>
            </a:r>
            <a:r>
              <a:rPr lang="en-US" altLang="ja-JP" sz="2263" b="1" dirty="0"/>
              <a:t>FPS</a:t>
            </a:r>
            <a:r>
              <a:rPr lang="ja-JP" altLang="en-US" sz="2263" b="1" dirty="0"/>
              <a:t>表示関数は</a:t>
            </a:r>
            <a:r>
              <a:rPr lang="en-US" altLang="ja-JP" sz="2263" b="1" dirty="0"/>
              <a:t>3D</a:t>
            </a:r>
            <a:r>
              <a:rPr lang="ja-JP" altLang="en-US" sz="2263" b="1" dirty="0"/>
              <a:t>ゲームでも使用できる。</a:t>
            </a:r>
            <a:br>
              <a:rPr lang="en-US" altLang="ja-JP" sz="2263" b="1" dirty="0"/>
            </a:br>
            <a:r>
              <a:rPr lang="ja-JP" altLang="en-US" sz="2263" b="1" dirty="0"/>
              <a:t>　 むしろ</a:t>
            </a:r>
            <a:r>
              <a:rPr lang="en-US" altLang="ja-JP" sz="2263" b="1" dirty="0">
                <a:solidFill>
                  <a:srgbClr val="0000FF"/>
                </a:solidFill>
              </a:rPr>
              <a:t>3D</a:t>
            </a:r>
            <a:r>
              <a:rPr lang="ja-JP" altLang="en-US" sz="2263" b="1" dirty="0">
                <a:solidFill>
                  <a:srgbClr val="0000FF"/>
                </a:solidFill>
              </a:rPr>
              <a:t>ゲームの方が処理落ちが発生しやすい</a:t>
            </a:r>
            <a:r>
              <a:rPr lang="ja-JP" altLang="en-US" sz="2263" b="1" dirty="0"/>
              <a:t>ので、</a:t>
            </a:r>
            <a:br>
              <a:rPr lang="en-US" altLang="ja-JP" sz="2263" b="1" dirty="0"/>
            </a:br>
            <a:r>
              <a:rPr lang="ja-JP" altLang="en-US" sz="2263" b="1" dirty="0"/>
              <a:t>　 必ず持ってきて</a:t>
            </a:r>
            <a:r>
              <a:rPr lang="en-US" altLang="ja-JP" sz="2263" b="1" dirty="0">
                <a:solidFill>
                  <a:srgbClr val="FF0000"/>
                </a:solidFill>
              </a:rPr>
              <a:t>FPS</a:t>
            </a:r>
            <a:r>
              <a:rPr lang="ja-JP" altLang="en-US" sz="2263" b="1" dirty="0">
                <a:solidFill>
                  <a:srgbClr val="FF0000"/>
                </a:solidFill>
              </a:rPr>
              <a:t>を表示させておく</a:t>
            </a:r>
            <a:r>
              <a:rPr lang="ja-JP" altLang="en-US" sz="2263" b="1" dirty="0"/>
              <a:t>事</a:t>
            </a:r>
            <a:r>
              <a:rPr lang="en-US" altLang="ja-JP" sz="2263" b="1" dirty="0"/>
              <a:t>!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486778" y="3573016"/>
            <a:ext cx="8223650" cy="2878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○</a:t>
            </a:r>
            <a:r>
              <a:rPr lang="en-US" altLang="ja-JP" sz="2263" b="1" dirty="0"/>
              <a:t>DX</a:t>
            </a:r>
            <a:r>
              <a:rPr lang="ja-JP" altLang="en-US" sz="2263" b="1" dirty="0"/>
              <a:t>ライブラリで読み込めるデータは以下のものとなる。</a:t>
            </a:r>
            <a:br>
              <a:rPr lang="en-US" altLang="ja-JP" sz="2263" b="1" dirty="0"/>
            </a:br>
            <a:r>
              <a:rPr lang="en-US" altLang="ja-JP" sz="2263" b="1" dirty="0"/>
              <a:t>	</a:t>
            </a:r>
            <a:r>
              <a:rPr lang="ja-JP" altLang="en-US" sz="2263" b="1" dirty="0"/>
              <a:t>・「</a:t>
            </a:r>
            <a:r>
              <a:rPr lang="en-US" altLang="ja-JP" sz="2263" b="1" dirty="0"/>
              <a:t>.x</a:t>
            </a:r>
            <a:r>
              <a:rPr lang="ja-JP" altLang="en-US" sz="2263" b="1" dirty="0"/>
              <a:t>」</a:t>
            </a:r>
            <a:r>
              <a:rPr lang="en-US" altLang="ja-JP" sz="2263" b="1" dirty="0"/>
              <a:t>(DirectX</a:t>
            </a:r>
            <a:r>
              <a:rPr lang="ja-JP" altLang="en-US" sz="2263" b="1" dirty="0"/>
              <a:t>用モデル</a:t>
            </a:r>
            <a:r>
              <a:rPr lang="en-US" altLang="ja-JP" sz="2263" b="1" dirty="0"/>
              <a:t>)</a:t>
            </a:r>
            <a:br>
              <a:rPr lang="en-US" altLang="ja-JP" sz="2263" b="1" dirty="0"/>
            </a:br>
            <a:r>
              <a:rPr lang="en-US" altLang="ja-JP" sz="2263" b="1" dirty="0"/>
              <a:t>	</a:t>
            </a:r>
            <a:r>
              <a:rPr lang="ja-JP" altLang="en-US" sz="2263" b="1" dirty="0"/>
              <a:t>・「</a:t>
            </a:r>
            <a:r>
              <a:rPr lang="en-US" altLang="ja-JP" sz="2263" b="1" dirty="0"/>
              <a:t>.</a:t>
            </a:r>
            <a:r>
              <a:rPr lang="en-US" altLang="ja-JP" sz="2263" b="1" dirty="0" err="1"/>
              <a:t>mqo</a:t>
            </a:r>
            <a:r>
              <a:rPr lang="ja-JP" altLang="en-US" sz="2263" b="1" dirty="0"/>
              <a:t>」</a:t>
            </a:r>
            <a:r>
              <a:rPr lang="en-US" altLang="ja-JP" sz="2263" b="1" dirty="0"/>
              <a:t>(</a:t>
            </a:r>
            <a:r>
              <a:rPr lang="ja-JP" altLang="en-US" sz="2263" b="1" dirty="0"/>
              <a:t>メタセコイア用モデル</a:t>
            </a:r>
            <a:r>
              <a:rPr lang="en-US" altLang="ja-JP" sz="2263" b="1" dirty="0"/>
              <a:t>) </a:t>
            </a:r>
            <a:br>
              <a:rPr lang="en-US" altLang="ja-JP" sz="2263" b="1" dirty="0"/>
            </a:br>
            <a:r>
              <a:rPr lang="en-US" altLang="ja-JP" sz="2263" b="1" dirty="0"/>
              <a:t>	</a:t>
            </a:r>
            <a:r>
              <a:rPr lang="ja-JP" altLang="en-US" sz="2263" b="1" dirty="0"/>
              <a:t>・「</a:t>
            </a:r>
            <a:r>
              <a:rPr lang="en-US" altLang="ja-JP" sz="2263" b="1" dirty="0"/>
              <a:t>.mv1</a:t>
            </a:r>
            <a:r>
              <a:rPr lang="ja-JP" altLang="en-US" sz="2263" b="1" dirty="0"/>
              <a:t>」</a:t>
            </a:r>
            <a:r>
              <a:rPr lang="en-US" altLang="ja-JP" sz="2263" b="1" dirty="0"/>
              <a:t>(</a:t>
            </a:r>
            <a:r>
              <a:rPr lang="en-US" altLang="ja-JP" sz="2263" b="1" dirty="0" err="1"/>
              <a:t>DxLib</a:t>
            </a:r>
            <a:r>
              <a:rPr lang="ja-JP" altLang="en-US" sz="2263" b="1" dirty="0"/>
              <a:t>用モデル</a:t>
            </a:r>
            <a:r>
              <a:rPr lang="en-US" altLang="ja-JP" sz="2263" b="1" dirty="0"/>
              <a:t>) </a:t>
            </a:r>
            <a:br>
              <a:rPr lang="en-US" altLang="ja-JP" sz="2263" b="1" dirty="0"/>
            </a:br>
            <a:r>
              <a:rPr lang="en-US" altLang="ja-JP" sz="2263" b="1" dirty="0"/>
              <a:t>	</a:t>
            </a:r>
            <a:r>
              <a:rPr lang="ja-JP" altLang="en-US" sz="2263" b="1" dirty="0"/>
              <a:t>・「</a:t>
            </a:r>
            <a:r>
              <a:rPr lang="en-US" altLang="ja-JP" sz="2263" b="1" dirty="0"/>
              <a:t>.</a:t>
            </a:r>
            <a:r>
              <a:rPr lang="en-US" altLang="ja-JP" sz="2263" b="1" dirty="0" err="1"/>
              <a:t>pmd</a:t>
            </a:r>
            <a:r>
              <a:rPr lang="en-US" altLang="ja-JP" sz="2263" b="1" dirty="0"/>
              <a:t>(+.</a:t>
            </a:r>
            <a:r>
              <a:rPr lang="en-US" altLang="ja-JP" sz="2263" b="1" dirty="0" err="1"/>
              <a:t>vmd</a:t>
            </a:r>
            <a:r>
              <a:rPr lang="en-US" altLang="ja-JP" sz="2263" b="1" dirty="0"/>
              <a:t>)</a:t>
            </a:r>
            <a:r>
              <a:rPr lang="ja-JP" altLang="en-US" sz="2263" b="1" dirty="0"/>
              <a:t>」</a:t>
            </a:r>
            <a:r>
              <a:rPr lang="en-US" altLang="ja-JP" sz="2263" b="1" dirty="0"/>
              <a:t>(</a:t>
            </a:r>
            <a:r>
              <a:rPr lang="en-US" altLang="ja-JP" sz="2263" b="1" dirty="0" err="1"/>
              <a:t>MikuMikuDance</a:t>
            </a:r>
            <a:r>
              <a:rPr lang="ja-JP" altLang="en-US" sz="2263" b="1" dirty="0"/>
              <a:t>用モデル</a:t>
            </a:r>
            <a:r>
              <a:rPr lang="en-US" altLang="ja-JP" sz="2263" b="1" dirty="0"/>
              <a:t>)</a:t>
            </a:r>
            <a:br>
              <a:rPr lang="en-US" altLang="ja-JP" sz="2263" b="1" dirty="0"/>
            </a:br>
            <a:r>
              <a:rPr lang="en-US" altLang="ja-JP" sz="2263" b="1" dirty="0"/>
              <a:t>	</a:t>
            </a:r>
            <a:r>
              <a:rPr lang="ja-JP" altLang="en-US" sz="2263" b="1" dirty="0"/>
              <a:t>・「</a:t>
            </a:r>
            <a:r>
              <a:rPr lang="en-US" altLang="ja-JP" sz="2263" b="1" dirty="0"/>
              <a:t>.</a:t>
            </a:r>
            <a:r>
              <a:rPr lang="en-US" altLang="ja-JP" sz="2263" b="1" dirty="0" err="1"/>
              <a:t>pmx</a:t>
            </a:r>
            <a:r>
              <a:rPr lang="en-US" altLang="ja-JP" sz="2263" b="1" dirty="0"/>
              <a:t>(+.</a:t>
            </a:r>
            <a:r>
              <a:rPr lang="en-US" altLang="ja-JP" sz="2263" b="1" dirty="0" err="1"/>
              <a:t>vmd</a:t>
            </a:r>
            <a:r>
              <a:rPr lang="en-US" altLang="ja-JP" sz="2263" b="1" dirty="0"/>
              <a:t>)</a:t>
            </a:r>
            <a:r>
              <a:rPr lang="ja-JP" altLang="en-US" sz="2263" b="1" dirty="0"/>
              <a:t>」</a:t>
            </a:r>
            <a:r>
              <a:rPr lang="en-US" altLang="ja-JP" sz="2263" b="1" dirty="0"/>
              <a:t>(</a:t>
            </a:r>
            <a:r>
              <a:rPr lang="en-US" altLang="ja-JP" sz="2263" b="1" dirty="0" err="1"/>
              <a:t>MikuMikuDance</a:t>
            </a:r>
            <a:r>
              <a:rPr lang="ja-JP" altLang="en-US" sz="2263" b="1" dirty="0"/>
              <a:t>用モデル</a:t>
            </a:r>
            <a:r>
              <a:rPr lang="en-US" altLang="ja-JP" sz="2263" b="1" dirty="0"/>
              <a:t>)</a:t>
            </a:r>
            <a:br>
              <a:rPr lang="en-US" altLang="ja-JP" sz="2263" b="1" dirty="0"/>
            </a:br>
            <a:r>
              <a:rPr lang="ja-JP" altLang="en-US" sz="2263" b="1" dirty="0"/>
              <a:t>　 実際の制作時は</a:t>
            </a:r>
            <a:r>
              <a:rPr lang="en-US" altLang="ja-JP" sz="2263" b="1" dirty="0">
                <a:solidFill>
                  <a:srgbClr val="FF0000"/>
                </a:solidFill>
              </a:rPr>
              <a:t>X</a:t>
            </a:r>
            <a:r>
              <a:rPr lang="ja-JP" altLang="en-US" sz="2263" b="1" dirty="0">
                <a:solidFill>
                  <a:srgbClr val="FF0000"/>
                </a:solidFill>
              </a:rPr>
              <a:t>ファイルか</a:t>
            </a:r>
            <a:r>
              <a:rPr lang="en-US" altLang="ja-JP" sz="2263" b="1" dirty="0">
                <a:solidFill>
                  <a:srgbClr val="FF0000"/>
                </a:solidFill>
              </a:rPr>
              <a:t>mv1</a:t>
            </a:r>
            <a:r>
              <a:rPr lang="ja-JP" altLang="en-US" sz="2263" b="1" dirty="0">
                <a:solidFill>
                  <a:srgbClr val="FF0000"/>
                </a:solidFill>
              </a:rPr>
              <a:t>がメイン</a:t>
            </a:r>
            <a:r>
              <a:rPr lang="ja-JP" altLang="en-US" sz="2263" b="1" dirty="0"/>
              <a:t>となる。</a:t>
            </a:r>
            <a:br>
              <a:rPr lang="en-US" altLang="ja-JP" sz="2263" b="1" dirty="0"/>
            </a:br>
            <a:r>
              <a:rPr lang="ja-JP" altLang="en-US" sz="2263" b="1" dirty="0"/>
              <a:t>　 が、今回は可愛いやつを使いたいので</a:t>
            </a:r>
            <a:r>
              <a:rPr lang="en-US" altLang="ja-JP" sz="2263" b="1" dirty="0"/>
              <a:t>MMD</a:t>
            </a:r>
            <a:r>
              <a:rPr lang="ja-JP" altLang="en-US" sz="2263" b="1" dirty="0"/>
              <a:t>モデルを使用。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1396150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6BB8E36-5C59-4D17-9307-D16E1A9FA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194" y="539952"/>
            <a:ext cx="6805612" cy="62186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95536" y="99383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サンプルプログラム　前半</a:t>
            </a:r>
            <a:r>
              <a:rPr lang="en-US" altLang="ja-JP" sz="2263" b="1" dirty="0"/>
              <a:t>]</a:t>
            </a:r>
          </a:p>
        </p:txBody>
      </p:sp>
      <p:cxnSp>
        <p:nvCxnSpPr>
          <p:cNvPr id="5" name="直線コネクタ 4"/>
          <p:cNvCxnSpPr>
            <a:cxnSpLocks/>
          </p:cNvCxnSpPr>
          <p:nvPr/>
        </p:nvCxnSpPr>
        <p:spPr>
          <a:xfrm>
            <a:off x="1619672" y="6165304"/>
            <a:ext cx="604867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015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23ED27F-0A49-4965-AFF2-B9518F520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287" y="499487"/>
            <a:ext cx="6769427" cy="62591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95536" y="99383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サンプルプログラム　後半</a:t>
            </a:r>
            <a:r>
              <a:rPr lang="en-US" altLang="ja-JP" sz="2263" b="1" dirty="0"/>
              <a:t>]</a:t>
            </a:r>
          </a:p>
        </p:txBody>
      </p:sp>
      <p:cxnSp>
        <p:nvCxnSpPr>
          <p:cNvPr id="5" name="直線コネクタ 4"/>
          <p:cNvCxnSpPr/>
          <p:nvPr/>
        </p:nvCxnSpPr>
        <p:spPr>
          <a:xfrm>
            <a:off x="1979712" y="3645024"/>
            <a:ext cx="237626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/>
          <p:cNvCxnSpPr/>
          <p:nvPr/>
        </p:nvCxnSpPr>
        <p:spPr>
          <a:xfrm>
            <a:off x="1573065" y="5779863"/>
            <a:ext cx="259228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5148064" y="4437112"/>
            <a:ext cx="3811885" cy="7888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2D</a:t>
            </a:r>
            <a:r>
              <a:rPr lang="ja-JP" altLang="en-US" sz="2263" b="1" dirty="0"/>
              <a:t>の時と変わったのは</a:t>
            </a:r>
            <a:br>
              <a:rPr lang="en-US" altLang="ja-JP" sz="2263" b="1" dirty="0"/>
            </a:br>
            <a:r>
              <a:rPr lang="ja-JP" altLang="en-US" sz="2263" b="1" dirty="0"/>
              <a:t>赤線の</a:t>
            </a:r>
            <a:r>
              <a:rPr lang="en-US" altLang="ja-JP" sz="2263" b="1" dirty="0"/>
              <a:t>3</a:t>
            </a:r>
            <a:r>
              <a:rPr lang="ja-JP" altLang="en-US" sz="2263" b="1" dirty="0"/>
              <a:t>箇所だけ！！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249890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439652" y="892423"/>
            <a:ext cx="6264696" cy="61290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MV1LoadModel(char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＊ ファイルパス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)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39552" y="183734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モデルの読み込み</a:t>
            </a:r>
            <a:r>
              <a:rPr lang="en-US" altLang="ja-JP" sz="2263" b="1" dirty="0"/>
              <a:t>]</a:t>
            </a: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1691680" y="1703125"/>
            <a:ext cx="664514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第一引数：ファイルのパスとファイル名</a:t>
            </a:r>
            <a:br>
              <a:rPr lang="en-US" altLang="ja-JP" sz="2263" b="1" dirty="0"/>
            </a:br>
            <a:r>
              <a:rPr lang="ja-JP" altLang="en-US" sz="2263" b="1" dirty="0"/>
              <a:t>戻り値：モデルハンドル</a:t>
            </a:r>
            <a:endParaRPr lang="en-US" altLang="ja-JP" sz="2263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39552" y="3546263"/>
            <a:ext cx="8223650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2D</a:t>
            </a:r>
            <a:r>
              <a:rPr lang="ja-JP" altLang="en-US" sz="2263" b="1" dirty="0"/>
              <a:t>の画像表示で使っていた</a:t>
            </a:r>
            <a:r>
              <a:rPr lang="ja-JP" altLang="en-US" sz="2263" b="1" dirty="0">
                <a:solidFill>
                  <a:srgbClr val="0000FF"/>
                </a:solidFill>
              </a:rPr>
              <a:t>画像ハンドル</a:t>
            </a:r>
            <a:r>
              <a:rPr lang="ja-JP" altLang="en-US" sz="2263" b="1" dirty="0"/>
              <a:t>が、</a:t>
            </a:r>
            <a:br>
              <a:rPr lang="en-US" altLang="ja-JP" sz="2263" b="1" dirty="0"/>
            </a:br>
            <a:r>
              <a:rPr lang="ja-JP" altLang="en-US" sz="2263" b="1" dirty="0"/>
              <a:t>今回は</a:t>
            </a:r>
            <a:r>
              <a:rPr lang="ja-JP" altLang="en-US" sz="2263" b="1" dirty="0">
                <a:solidFill>
                  <a:srgbClr val="FF0000"/>
                </a:solidFill>
              </a:rPr>
              <a:t>モデルハンドル</a:t>
            </a:r>
            <a:r>
              <a:rPr lang="ja-JP" altLang="en-US" sz="2263" b="1" dirty="0"/>
              <a:t>という名前に変更。</a:t>
            </a:r>
            <a:br>
              <a:rPr lang="en-US" altLang="ja-JP" sz="2263" b="1" dirty="0"/>
            </a:br>
            <a:r>
              <a:rPr lang="ja-JP" altLang="en-US" sz="2263" b="1" dirty="0"/>
              <a:t>ただし、実際は今までと使い方は同じとなる。</a:t>
            </a:r>
            <a:endParaRPr lang="en-US" altLang="ja-JP" sz="2263" b="1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C1FCEE2-E448-4587-A9F2-0AD4D2B83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16" y="5070102"/>
            <a:ext cx="7840169" cy="8954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3848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439652" y="892423"/>
            <a:ext cx="6264696" cy="61290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MV1DrawModel(</a:t>
            </a:r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モデルハンドル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)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39552" y="183734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モデルの描画</a:t>
            </a:r>
            <a:r>
              <a:rPr lang="en-US" altLang="ja-JP" sz="2263" b="1" dirty="0"/>
              <a:t>]</a:t>
            </a: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1691734" y="1598739"/>
            <a:ext cx="432042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第一引数：モデルハンドル</a:t>
            </a:r>
            <a:br>
              <a:rPr lang="en-US" altLang="ja-JP" sz="2263" b="1" dirty="0"/>
            </a:br>
            <a:r>
              <a:rPr lang="ja-JP" altLang="en-US" sz="2263" b="1" dirty="0"/>
              <a:t>戻り値：成功＝</a:t>
            </a:r>
            <a:r>
              <a:rPr lang="en-US" altLang="ja-JP" sz="2263" b="1" dirty="0"/>
              <a:t>0</a:t>
            </a:r>
            <a:r>
              <a:rPr lang="ja-JP" altLang="en-US" sz="2263" b="1" dirty="0"/>
              <a:t>　失敗＝</a:t>
            </a:r>
            <a:r>
              <a:rPr lang="en-US" altLang="ja-JP" sz="2263" b="1" dirty="0"/>
              <a:t>-1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60175" y="2977742"/>
            <a:ext cx="822365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こちらも</a:t>
            </a:r>
            <a:r>
              <a:rPr lang="en-US" altLang="ja-JP" sz="2263" b="1" dirty="0"/>
              <a:t>2D</a:t>
            </a:r>
            <a:r>
              <a:rPr lang="ja-JP" altLang="en-US" sz="2263" b="1" dirty="0"/>
              <a:t>の時と同じで、毎フレーム描画する必要がある。</a:t>
            </a:r>
            <a:endParaRPr lang="en-US" altLang="ja-JP" sz="2263" b="1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18" y="4582724"/>
            <a:ext cx="2198962" cy="2226797"/>
          </a:xfrm>
          <a:prstGeom prst="rect">
            <a:avLst/>
          </a:prstGeom>
        </p:spPr>
      </p:pic>
      <p:sp>
        <p:nvSpPr>
          <p:cNvPr id="9" name="角丸四角形吹き出し 10"/>
          <p:cNvSpPr/>
          <p:nvPr/>
        </p:nvSpPr>
        <p:spPr>
          <a:xfrm>
            <a:off x="3563888" y="5105350"/>
            <a:ext cx="4752528" cy="1022820"/>
          </a:xfrm>
          <a:prstGeom prst="wedgeRoundRectCallout">
            <a:avLst>
              <a:gd name="adj1" fmla="val -62103"/>
              <a:gd name="adj2" fmla="val -2192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あれぇ？</a:t>
            </a:r>
            <a:r>
              <a:rPr lang="en-US" altLang="ja-JP" sz="2000" b="1" dirty="0">
                <a:latin typeface="ＭＳ Ｐゴシック"/>
              </a:rPr>
              <a:t>2D</a:t>
            </a:r>
            <a:r>
              <a:rPr lang="ja-JP" altLang="en-US" sz="2000" b="1" dirty="0">
                <a:latin typeface="ＭＳ Ｐゴシック"/>
              </a:rPr>
              <a:t>の時にはあった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表示する場所</a:t>
            </a:r>
            <a:r>
              <a:rPr lang="ja-JP" altLang="en-US" sz="2000" b="1" dirty="0">
                <a:latin typeface="ＭＳ Ｐゴシック"/>
              </a:rPr>
              <a:t>の設定が無いぞ！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書かなくて大丈夫なのかな？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6D09E36-CC15-483E-B46A-8CFBFC358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788" y="3429000"/>
            <a:ext cx="3816424" cy="1111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8433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439652" y="892423"/>
            <a:ext cx="6264696" cy="61290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MV1DeleteModel(</a:t>
            </a:r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モデルハンドル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)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39552" y="183734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モデルの破棄</a:t>
            </a:r>
            <a:r>
              <a:rPr lang="en-US" altLang="ja-JP" sz="2263" b="1" dirty="0"/>
              <a:t>]</a:t>
            </a: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1723431" y="1628421"/>
            <a:ext cx="3796014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第一引数：モデルハンドル</a:t>
            </a:r>
            <a:br>
              <a:rPr lang="en-US" altLang="ja-JP" sz="2263" b="1" dirty="0"/>
            </a:br>
            <a:r>
              <a:rPr lang="ja-JP" altLang="en-US" sz="2263" b="1" dirty="0"/>
              <a:t>戻り値：成功＝</a:t>
            </a:r>
            <a:r>
              <a:rPr lang="en-US" altLang="ja-JP" sz="2263" b="1" dirty="0"/>
              <a:t>0</a:t>
            </a:r>
            <a:r>
              <a:rPr lang="ja-JP" altLang="en-US" sz="2263" b="1" dirty="0"/>
              <a:t>　失敗＝</a:t>
            </a:r>
            <a:r>
              <a:rPr lang="en-US" altLang="ja-JP" sz="2263" b="1" dirty="0"/>
              <a:t>-1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60175" y="2977742"/>
            <a:ext cx="8223650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こちらも</a:t>
            </a:r>
            <a:r>
              <a:rPr lang="en-US" altLang="ja-JP" sz="2263" b="1" dirty="0"/>
              <a:t>2D</a:t>
            </a:r>
            <a:r>
              <a:rPr lang="ja-JP" altLang="en-US" sz="2263" b="1" dirty="0"/>
              <a:t>の時と同じで、不必要になったタイミングで使用する。</a:t>
            </a:r>
            <a:br>
              <a:rPr lang="en-US" altLang="ja-JP" sz="2263" b="1" dirty="0"/>
            </a:br>
            <a:r>
              <a:rPr lang="en-US" altLang="ja-JP" sz="2263" b="1" dirty="0"/>
              <a:t>3D</a:t>
            </a:r>
            <a:r>
              <a:rPr lang="ja-JP" altLang="en-US" sz="2263" b="1" dirty="0"/>
              <a:t>モデルは</a:t>
            </a:r>
            <a:r>
              <a:rPr lang="en-US" altLang="ja-JP" sz="2263" b="1" dirty="0"/>
              <a:t>2D</a:t>
            </a:r>
            <a:r>
              <a:rPr lang="ja-JP" altLang="en-US" sz="2263" b="1" dirty="0"/>
              <a:t>モデルに比べてデータ量が多いので</a:t>
            </a:r>
            <a:br>
              <a:rPr lang="en-US" altLang="ja-JP" sz="2263" b="1" dirty="0"/>
            </a:br>
            <a:r>
              <a:rPr lang="ja-JP" altLang="en-US" sz="2263" b="1" dirty="0"/>
              <a:t>しっかりと破棄しよう！！</a:t>
            </a:r>
            <a:endParaRPr lang="en-US" altLang="ja-JP" sz="2263" b="1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C231B39-1054-40AD-9C15-C8F71149A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816" y="4505368"/>
            <a:ext cx="3956368" cy="8678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8908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784C376-2F35-4774-9E77-B52169F9B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09" y="747141"/>
            <a:ext cx="8745782" cy="5130131"/>
          </a:xfrm>
          <a:prstGeom prst="rect">
            <a:avLst/>
          </a:prstGeom>
        </p:spPr>
      </p:pic>
      <p:sp>
        <p:nvSpPr>
          <p:cNvPr id="15" name="角丸四角形吹き出し 10"/>
          <p:cNvSpPr/>
          <p:nvPr/>
        </p:nvSpPr>
        <p:spPr>
          <a:xfrm>
            <a:off x="957837" y="4725144"/>
            <a:ext cx="4088209" cy="898807"/>
          </a:xfrm>
          <a:prstGeom prst="wedgeRoundRectCallout">
            <a:avLst>
              <a:gd name="adj1" fmla="val -66794"/>
              <a:gd name="adj2" fmla="val 5582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ここにいるよ！！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見えるかな？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11560" y="188640"/>
            <a:ext cx="792088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プログラムを実行してみると・・・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817710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439652" y="892423"/>
            <a:ext cx="6264696" cy="90593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MV1SetPosition(</a:t>
            </a:r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モデルハンドル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,</a:t>
            </a:r>
            <a:br>
              <a:rPr kumimoji="1" lang="en-US" altLang="ja-JP" sz="2400" b="1" dirty="0">
                <a:solidFill>
                  <a:schemeClr val="tx1"/>
                </a:solidFill>
              </a:rPr>
            </a:br>
            <a:r>
              <a:rPr kumimoji="1" lang="en-US" altLang="ja-JP" sz="2400" b="1" dirty="0">
                <a:solidFill>
                  <a:schemeClr val="tx1"/>
                </a:solidFill>
              </a:rPr>
              <a:t>			VECTOR 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座標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)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39552" y="183734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モデルの座標設定</a:t>
            </a:r>
            <a:r>
              <a:rPr lang="en-US" altLang="ja-JP" sz="2263" b="1" dirty="0"/>
              <a:t>]</a:t>
            </a: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2133588" y="1844824"/>
            <a:ext cx="4261463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第一引数：モデルハンドル</a:t>
            </a:r>
            <a:br>
              <a:rPr lang="en-US" altLang="ja-JP" sz="2263" b="1" dirty="0"/>
            </a:br>
            <a:r>
              <a:rPr lang="ja-JP" altLang="en-US" sz="2263" b="1" dirty="0"/>
              <a:t>第二引数：モデルの座標</a:t>
            </a:r>
            <a:r>
              <a:rPr lang="en-US" altLang="ja-JP" sz="2263" b="1" dirty="0"/>
              <a:t>(X,Y,Z)</a:t>
            </a:r>
            <a:br>
              <a:rPr lang="en-US" altLang="ja-JP" sz="2263" b="1" dirty="0"/>
            </a:br>
            <a:r>
              <a:rPr lang="ja-JP" altLang="en-US" sz="2263" b="1" dirty="0"/>
              <a:t>戻り値：成功＝</a:t>
            </a:r>
            <a:r>
              <a:rPr lang="en-US" altLang="ja-JP" sz="2263" b="1" dirty="0"/>
              <a:t>0</a:t>
            </a:r>
            <a:r>
              <a:rPr lang="ja-JP" altLang="en-US" sz="2263" b="1" dirty="0"/>
              <a:t>　失敗＝</a:t>
            </a:r>
            <a:r>
              <a:rPr lang="en-US" altLang="ja-JP" sz="2263" b="1" dirty="0"/>
              <a:t>-1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50686" y="3400291"/>
            <a:ext cx="8223650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モデルの座標指定は、描画関数とは切り離されて</a:t>
            </a:r>
            <a:br>
              <a:rPr lang="en-US" altLang="ja-JP" sz="2263" b="1" dirty="0"/>
            </a:br>
            <a:r>
              <a:rPr lang="ja-JP" altLang="en-US" sz="2263" b="1" dirty="0"/>
              <a:t>別の関数にする必要が出てくるようになった。</a:t>
            </a:r>
            <a:br>
              <a:rPr lang="en-US" altLang="ja-JP" sz="2263" b="1" dirty="0"/>
            </a:br>
            <a:r>
              <a:rPr lang="ja-JP" altLang="en-US" sz="2263" b="1" dirty="0"/>
              <a:t>こちらは</a:t>
            </a:r>
            <a:r>
              <a:rPr lang="ja-JP" altLang="en-US" sz="2263" b="1" dirty="0">
                <a:solidFill>
                  <a:srgbClr val="00B050"/>
                </a:solidFill>
              </a:rPr>
              <a:t>座標を変更するタイミング</a:t>
            </a:r>
            <a:r>
              <a:rPr lang="ja-JP" altLang="en-US" sz="2263" b="1" dirty="0"/>
              <a:t>で呼ぶだけで</a:t>
            </a:r>
            <a:r>
              <a:rPr lang="en-US" altLang="ja-JP" sz="2263" b="1" dirty="0"/>
              <a:t>OK!</a:t>
            </a:r>
            <a:br>
              <a:rPr lang="en-US" altLang="ja-JP" sz="2263" b="1" dirty="0"/>
            </a:br>
            <a:r>
              <a:rPr lang="ja-JP" altLang="en-US" sz="2263" b="1" dirty="0"/>
              <a:t>ではあるが、</a:t>
            </a:r>
            <a:r>
              <a:rPr lang="ja-JP" altLang="en-US" sz="2263" b="1" dirty="0">
                <a:solidFill>
                  <a:srgbClr val="FF0000"/>
                </a:solidFill>
              </a:rPr>
              <a:t>必ずロードした後に使用</a:t>
            </a:r>
            <a:r>
              <a:rPr lang="ja-JP" altLang="en-US" sz="2263" b="1" dirty="0"/>
              <a:t>すること</a:t>
            </a:r>
            <a:r>
              <a:rPr lang="en-US" altLang="ja-JP" sz="2263" b="1" dirty="0"/>
              <a:t>!!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977" y="4822771"/>
            <a:ext cx="2259222" cy="2067188"/>
          </a:xfrm>
          <a:prstGeom prst="rect">
            <a:avLst/>
          </a:prstGeom>
        </p:spPr>
      </p:pic>
      <p:sp>
        <p:nvSpPr>
          <p:cNvPr id="8" name="角丸四角形吹き出し 10"/>
          <p:cNvSpPr/>
          <p:nvPr/>
        </p:nvSpPr>
        <p:spPr>
          <a:xfrm>
            <a:off x="3635896" y="5406961"/>
            <a:ext cx="5127306" cy="1190391"/>
          </a:xfrm>
          <a:prstGeom prst="wedgeRoundRectCallout">
            <a:avLst>
              <a:gd name="adj1" fmla="val -59361"/>
              <a:gd name="adj2" fmla="val -2975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レースゲームの車などは常に移動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しているので、毎フレーム呼ぶ場所に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記述する事も多いよ。</a:t>
            </a:r>
          </a:p>
        </p:txBody>
      </p:sp>
    </p:spTree>
    <p:extLst>
      <p:ext uri="{BB962C8B-B14F-4D97-AF65-F5344CB8AC3E}">
        <p14:creationId xmlns:p14="http://schemas.microsoft.com/office/powerpoint/2010/main" val="397713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44F858E8-D10D-43B8-8810-308927072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63" y="802729"/>
            <a:ext cx="7878274" cy="18766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95536" y="260648"/>
            <a:ext cx="822365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以下のようにプログラムを追加すると・・・</a:t>
            </a:r>
            <a:endParaRPr lang="en-US" altLang="ja-JP" sz="2263" b="1" dirty="0"/>
          </a:p>
        </p:txBody>
      </p:sp>
      <p:sp>
        <p:nvSpPr>
          <p:cNvPr id="4" name="正方形/長方形 3"/>
          <p:cNvSpPr/>
          <p:nvPr/>
        </p:nvSpPr>
        <p:spPr>
          <a:xfrm>
            <a:off x="683569" y="1794006"/>
            <a:ext cx="5544616" cy="858371"/>
          </a:xfrm>
          <a:prstGeom prst="rect">
            <a:avLst/>
          </a:prstGeom>
          <a:noFill/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4303790"/>
            <a:ext cx="2481064" cy="2375619"/>
          </a:xfrm>
          <a:prstGeom prst="rect">
            <a:avLst/>
          </a:prstGeom>
        </p:spPr>
      </p:pic>
      <p:sp>
        <p:nvSpPr>
          <p:cNvPr id="14" name="角丸四角形吹き出し 10"/>
          <p:cNvSpPr/>
          <p:nvPr/>
        </p:nvSpPr>
        <p:spPr>
          <a:xfrm>
            <a:off x="5835415" y="2793380"/>
            <a:ext cx="2834554" cy="1352474"/>
          </a:xfrm>
          <a:prstGeom prst="wedgeRoundRectCallout">
            <a:avLst>
              <a:gd name="adj1" fmla="val 13617"/>
              <a:gd name="adj2" fmla="val 81403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大成功！！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しっかりと画面に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>
                <a:latin typeface="ＭＳ Ｐゴシック"/>
              </a:rPr>
              <a:t>3D</a:t>
            </a:r>
            <a:r>
              <a:rPr lang="ja-JP" altLang="en-US" sz="2000" b="1" dirty="0">
                <a:latin typeface="ＭＳ Ｐゴシック"/>
              </a:rPr>
              <a:t>のキャラクターが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表示されたぞ！！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A78EC06-5EB4-4AB7-8A98-85654B198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3109663"/>
            <a:ext cx="5508104" cy="323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075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67544" y="188640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モデルの移動</a:t>
            </a:r>
            <a:r>
              <a:rPr lang="en-US" altLang="ja-JP" sz="2263" b="1" dirty="0"/>
              <a:t>]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755576" y="629706"/>
            <a:ext cx="7560839" cy="1311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2D</a:t>
            </a:r>
            <a:r>
              <a:rPr lang="ja-JP" altLang="en-US" sz="2263" b="1" dirty="0"/>
              <a:t>制作時と異なる点は以下の二つ。</a:t>
            </a:r>
            <a:endParaRPr lang="en-US" altLang="ja-JP" sz="2263" b="1" dirty="0"/>
          </a:p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　①</a:t>
            </a:r>
            <a:r>
              <a:rPr lang="en-US" altLang="ja-JP" sz="2263" b="1" dirty="0"/>
              <a:t>Y</a:t>
            </a:r>
            <a:r>
              <a:rPr lang="ja-JP" altLang="en-US" sz="2263" b="1" dirty="0"/>
              <a:t>方向は上に行くほどプラスになる事。</a:t>
            </a:r>
            <a:br>
              <a:rPr lang="en-US" altLang="ja-JP" sz="2263" b="1" dirty="0"/>
            </a:br>
            <a:r>
              <a:rPr lang="ja-JP" altLang="en-US" sz="2263" b="1" dirty="0"/>
              <a:t>　②</a:t>
            </a:r>
            <a:r>
              <a:rPr lang="ja-JP" altLang="en-US" sz="2263" b="1" dirty="0">
                <a:solidFill>
                  <a:srgbClr val="FF0000"/>
                </a:solidFill>
              </a:rPr>
              <a:t>奥行きを表す</a:t>
            </a:r>
            <a:r>
              <a:rPr lang="en-US" altLang="ja-JP" sz="2263" b="1" dirty="0">
                <a:solidFill>
                  <a:srgbClr val="FF0000"/>
                </a:solidFill>
              </a:rPr>
              <a:t>Z</a:t>
            </a:r>
            <a:r>
              <a:rPr lang="ja-JP" altLang="en-US" sz="2263" b="1" dirty="0">
                <a:solidFill>
                  <a:srgbClr val="FF0000"/>
                </a:solidFill>
              </a:rPr>
              <a:t>軸</a:t>
            </a:r>
            <a:r>
              <a:rPr lang="ja-JP" altLang="en-US" sz="2263" b="1" dirty="0"/>
              <a:t>方向が追加された事。</a:t>
            </a:r>
            <a:endParaRPr lang="en-US" altLang="ja-JP" sz="2263" b="1" dirty="0"/>
          </a:p>
        </p:txBody>
      </p:sp>
      <p:grpSp>
        <p:nvGrpSpPr>
          <p:cNvPr id="7" name="グループ化 6"/>
          <p:cNvGrpSpPr/>
          <p:nvPr/>
        </p:nvGrpSpPr>
        <p:grpSpPr>
          <a:xfrm>
            <a:off x="1036467" y="2930437"/>
            <a:ext cx="3082933" cy="3137213"/>
            <a:chOff x="782192" y="2565166"/>
            <a:chExt cx="3082933" cy="3137213"/>
          </a:xfrm>
        </p:grpSpPr>
        <p:grpSp>
          <p:nvGrpSpPr>
            <p:cNvPr id="8" name="グループ化 7"/>
            <p:cNvGrpSpPr/>
            <p:nvPr/>
          </p:nvGrpSpPr>
          <p:grpSpPr>
            <a:xfrm>
              <a:off x="1074561" y="3538164"/>
              <a:ext cx="2633343" cy="2164215"/>
              <a:chOff x="1115616" y="3501008"/>
              <a:chExt cx="2633343" cy="2164215"/>
            </a:xfrm>
          </p:grpSpPr>
          <p:cxnSp>
            <p:nvCxnSpPr>
              <p:cNvPr id="12" name="直線矢印コネクタ 11"/>
              <p:cNvCxnSpPr/>
              <p:nvPr/>
            </p:nvCxnSpPr>
            <p:spPr>
              <a:xfrm flipV="1">
                <a:off x="1115616" y="3501008"/>
                <a:ext cx="0" cy="1872208"/>
              </a:xfrm>
              <a:prstGeom prst="straightConnector1">
                <a:avLst/>
              </a:prstGeom>
              <a:ln w="38100">
                <a:solidFill>
                  <a:srgbClr val="0099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矢印コネクタ 16"/>
              <p:cNvCxnSpPr/>
              <p:nvPr/>
            </p:nvCxnSpPr>
            <p:spPr>
              <a:xfrm flipV="1">
                <a:off x="1115616" y="5372835"/>
                <a:ext cx="2075588" cy="1"/>
              </a:xfrm>
              <a:prstGeom prst="straightConnector1">
                <a:avLst/>
              </a:prstGeom>
              <a:ln w="38100">
                <a:solidFill>
                  <a:srgbClr val="0000F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矢印コネクタ 17"/>
              <p:cNvCxnSpPr/>
              <p:nvPr/>
            </p:nvCxnSpPr>
            <p:spPr>
              <a:xfrm flipH="1">
                <a:off x="1115616" y="4220708"/>
                <a:ext cx="1457908" cy="115212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テキスト ボックス 18"/>
              <p:cNvSpPr txBox="1"/>
              <p:nvPr/>
            </p:nvSpPr>
            <p:spPr>
              <a:xfrm>
                <a:off x="3388919" y="5080448"/>
                <a:ext cx="36004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200" dirty="0"/>
                  <a:t>X</a:t>
                </a:r>
                <a:endParaRPr kumimoji="1" lang="ja-JP" altLang="en-US" sz="3200" dirty="0"/>
              </a:p>
            </p:txBody>
          </p:sp>
          <p:sp>
            <p:nvSpPr>
              <p:cNvPr id="20" name="テキスト ボックス 19"/>
              <p:cNvSpPr txBox="1"/>
              <p:nvPr/>
            </p:nvSpPr>
            <p:spPr>
              <a:xfrm>
                <a:off x="1259632" y="3501008"/>
                <a:ext cx="72895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200" dirty="0"/>
                  <a:t>Y</a:t>
                </a:r>
                <a:endParaRPr kumimoji="1" lang="ja-JP" altLang="en-US" sz="3200" dirty="0"/>
              </a:p>
            </p:txBody>
          </p:sp>
          <p:sp>
            <p:nvSpPr>
              <p:cNvPr id="21" name="テキスト ボックス 20"/>
              <p:cNvSpPr txBox="1"/>
              <p:nvPr/>
            </p:nvSpPr>
            <p:spPr>
              <a:xfrm>
                <a:off x="2573524" y="3849976"/>
                <a:ext cx="6176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200" dirty="0"/>
                  <a:t>Z</a:t>
                </a:r>
                <a:endParaRPr kumimoji="1" lang="ja-JP" altLang="en-US" sz="3200" dirty="0"/>
              </a:p>
            </p:txBody>
          </p:sp>
        </p:grpSp>
        <p:grpSp>
          <p:nvGrpSpPr>
            <p:cNvPr id="9" name="グループ化 8"/>
            <p:cNvGrpSpPr/>
            <p:nvPr/>
          </p:nvGrpSpPr>
          <p:grpSpPr>
            <a:xfrm>
              <a:off x="782192" y="2565166"/>
              <a:ext cx="3082933" cy="627266"/>
              <a:chOff x="629792" y="2609237"/>
              <a:chExt cx="3082933" cy="627266"/>
            </a:xfrm>
          </p:grpSpPr>
          <p:sp>
            <p:nvSpPr>
              <p:cNvPr id="10" name="テキスト ボックス 9"/>
              <p:cNvSpPr txBox="1"/>
              <p:nvPr/>
            </p:nvSpPr>
            <p:spPr>
              <a:xfrm>
                <a:off x="701033" y="2666787"/>
                <a:ext cx="30116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800" dirty="0"/>
                  <a:t>左手座標系</a:t>
                </a:r>
              </a:p>
            </p:txBody>
          </p:sp>
          <p:sp>
            <p:nvSpPr>
              <p:cNvPr id="11" name="角丸四角形 10"/>
              <p:cNvSpPr/>
              <p:nvPr/>
            </p:nvSpPr>
            <p:spPr>
              <a:xfrm>
                <a:off x="629792" y="2609237"/>
                <a:ext cx="2142008" cy="627266"/>
              </a:xfrm>
              <a:prstGeom prst="roundRect">
                <a:avLst/>
              </a:prstGeom>
              <a:noFill/>
              <a:ln>
                <a:solidFill>
                  <a:schemeClr val="accent5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22" name="グループ化 21"/>
          <p:cNvGrpSpPr/>
          <p:nvPr/>
        </p:nvGrpSpPr>
        <p:grpSpPr>
          <a:xfrm>
            <a:off x="4700045" y="2940458"/>
            <a:ext cx="3605479" cy="3127192"/>
            <a:chOff x="457785" y="762734"/>
            <a:chExt cx="4479842" cy="3885566"/>
          </a:xfrm>
        </p:grpSpPr>
        <p:graphicFrame>
          <p:nvGraphicFramePr>
            <p:cNvPr id="23" name="オブジェクト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945316"/>
                </p:ext>
              </p:extLst>
            </p:nvPr>
          </p:nvGraphicFramePr>
          <p:xfrm>
            <a:off x="1250207" y="762734"/>
            <a:ext cx="2849006" cy="38855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" name="Image" r:id="rId3" imgW="1474920" imgH="2011320" progId="Photoshop.Image.11">
                    <p:embed/>
                  </p:oleObj>
                </mc:Choice>
                <mc:Fallback>
                  <p:oleObj name="Image" r:id="rId3" imgW="1474920" imgH="2011320" progId="Photoshop.Image.11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50207" y="762734"/>
                          <a:ext cx="2849006" cy="388556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テキスト ボックス 23"/>
            <p:cNvSpPr txBox="1"/>
            <p:nvPr/>
          </p:nvSpPr>
          <p:spPr>
            <a:xfrm>
              <a:off x="2411759" y="1249434"/>
              <a:ext cx="16503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200" dirty="0">
                  <a:solidFill>
                    <a:srgbClr val="009900"/>
                  </a:solidFill>
                </a:rPr>
                <a:t>Y</a:t>
              </a:r>
              <a:r>
                <a:rPr kumimoji="1" lang="ja-JP" altLang="en-US" sz="2000" dirty="0">
                  <a:solidFill>
                    <a:srgbClr val="009900"/>
                  </a:solidFill>
                </a:rPr>
                <a:t>（人差し指）</a:t>
              </a:r>
            </a:p>
          </p:txBody>
        </p:sp>
        <p:sp>
          <p:nvSpPr>
            <p:cNvPr id="25" name="テキスト ボックス 24"/>
            <p:cNvSpPr txBox="1"/>
            <p:nvPr/>
          </p:nvSpPr>
          <p:spPr>
            <a:xfrm>
              <a:off x="3500003" y="2508746"/>
              <a:ext cx="14376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200" dirty="0">
                  <a:solidFill>
                    <a:srgbClr val="FF0000"/>
                  </a:solidFill>
                </a:rPr>
                <a:t>Z</a:t>
              </a:r>
              <a:r>
                <a:rPr kumimoji="1" lang="ja-JP" altLang="en-US" sz="2000" dirty="0">
                  <a:solidFill>
                    <a:srgbClr val="FF0000"/>
                  </a:solidFill>
                </a:rPr>
                <a:t>（中指）</a:t>
              </a:r>
            </a:p>
          </p:txBody>
        </p:sp>
        <p:sp>
          <p:nvSpPr>
            <p:cNvPr id="26" name="テキスト ボックス 25"/>
            <p:cNvSpPr txBox="1"/>
            <p:nvPr/>
          </p:nvSpPr>
          <p:spPr>
            <a:xfrm>
              <a:off x="457785" y="2442807"/>
              <a:ext cx="13753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200" dirty="0">
                  <a:solidFill>
                    <a:srgbClr val="0000FF"/>
                  </a:solidFill>
                </a:rPr>
                <a:t>X</a:t>
              </a:r>
              <a:r>
                <a:rPr lang="ja-JP" altLang="en-US" sz="2000" dirty="0">
                  <a:solidFill>
                    <a:srgbClr val="0000FF"/>
                  </a:solidFill>
                </a:rPr>
                <a:t>（親</a:t>
              </a:r>
              <a:r>
                <a:rPr kumimoji="1" lang="ja-JP" altLang="en-US" sz="2000" dirty="0">
                  <a:solidFill>
                    <a:srgbClr val="0000FF"/>
                  </a:solidFill>
                </a:rPr>
                <a:t>指）</a:t>
              </a:r>
            </a:p>
          </p:txBody>
        </p:sp>
        <p:cxnSp>
          <p:nvCxnSpPr>
            <p:cNvPr id="27" name="直線矢印コネクタ 26"/>
            <p:cNvCxnSpPr/>
            <p:nvPr/>
          </p:nvCxnSpPr>
          <p:spPr>
            <a:xfrm flipH="1" flipV="1">
              <a:off x="981782" y="3216490"/>
              <a:ext cx="1149512" cy="1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矢印コネクタ 27"/>
            <p:cNvCxnSpPr/>
            <p:nvPr/>
          </p:nvCxnSpPr>
          <p:spPr>
            <a:xfrm flipV="1">
              <a:off x="2267744" y="1834209"/>
              <a:ext cx="0" cy="1164131"/>
            </a:xfrm>
            <a:prstGeom prst="straightConnector1">
              <a:avLst/>
            </a:prstGeom>
            <a:ln w="38100">
              <a:solidFill>
                <a:srgbClr val="0099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矢印コネクタ 28"/>
            <p:cNvCxnSpPr/>
            <p:nvPr/>
          </p:nvCxnSpPr>
          <p:spPr>
            <a:xfrm flipH="1" flipV="1">
              <a:off x="2299288" y="3151071"/>
              <a:ext cx="1553223" cy="899328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 Box 5"/>
          <p:cNvSpPr txBox="1">
            <a:spLocks noChangeArrowheads="1"/>
          </p:cNvSpPr>
          <p:nvPr/>
        </p:nvSpPr>
        <p:spPr bwMode="auto">
          <a:xfrm>
            <a:off x="791581" y="2215383"/>
            <a:ext cx="7560839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また、ゲーム制作時は</a:t>
            </a:r>
            <a:r>
              <a:rPr lang="ja-JP" altLang="en-US" sz="2263" b="1" dirty="0">
                <a:solidFill>
                  <a:srgbClr val="FF0000"/>
                </a:solidFill>
              </a:rPr>
              <a:t>左手座標系</a:t>
            </a:r>
            <a:r>
              <a:rPr lang="ja-JP" altLang="en-US" sz="2263" b="1" dirty="0"/>
              <a:t>であることに注意！！</a:t>
            </a:r>
            <a:endParaRPr lang="en-US" altLang="ja-JP" sz="2263" b="1" dirty="0"/>
          </a:p>
        </p:txBody>
      </p:sp>
      <p:sp>
        <p:nvSpPr>
          <p:cNvPr id="34" name="Text Box 5"/>
          <p:cNvSpPr txBox="1">
            <a:spLocks noChangeArrowheads="1"/>
          </p:cNvSpPr>
          <p:nvPr/>
        </p:nvSpPr>
        <p:spPr bwMode="auto">
          <a:xfrm>
            <a:off x="729032" y="6346780"/>
            <a:ext cx="7560839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Ｚの値がプラスになるほど奥に進んでいく！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3180061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67544" y="188640"/>
            <a:ext cx="795337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また、座標をセットするタイミングと描画するタイミングは</a:t>
            </a:r>
            <a:br>
              <a:rPr lang="en-US" altLang="ja-JP" sz="2263" b="1" dirty="0"/>
            </a:br>
            <a:r>
              <a:rPr lang="ja-JP" altLang="en-US" sz="2263" b="1" dirty="0"/>
              <a:t>以下のようになるよう心がけると、バグが発生しにくくなる。</a:t>
            </a:r>
            <a:endParaRPr lang="en-US" altLang="ja-JP" sz="2263" b="1" dirty="0"/>
          </a:p>
        </p:txBody>
      </p:sp>
      <p:sp>
        <p:nvSpPr>
          <p:cNvPr id="6" name="正方形/長方形 5"/>
          <p:cNvSpPr/>
          <p:nvPr/>
        </p:nvSpPr>
        <p:spPr>
          <a:xfrm>
            <a:off x="1547664" y="1268760"/>
            <a:ext cx="6624736" cy="1224136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  <a:effectLst>
            <a:glow rad="101600">
              <a:srgbClr val="FF9933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solidFill>
                  <a:schemeClr val="tx1"/>
                </a:solidFill>
              </a:rPr>
              <a:t>オブジェクトの移動処理</a:t>
            </a:r>
            <a:br>
              <a:rPr kumimoji="1" lang="en-US" altLang="ja-JP" sz="2400" b="1" dirty="0">
                <a:solidFill>
                  <a:schemeClr val="tx1"/>
                </a:solidFill>
              </a:rPr>
            </a:br>
            <a:r>
              <a:rPr kumimoji="1" lang="ja-JP" altLang="en-US" sz="2400" b="1" dirty="0">
                <a:solidFill>
                  <a:schemeClr val="tx1"/>
                </a:solidFill>
              </a:rPr>
              <a:t>当たり判定後の押し戻し処理</a:t>
            </a:r>
            <a:br>
              <a:rPr lang="en-US" altLang="ja-JP" sz="2400" b="1" dirty="0">
                <a:solidFill>
                  <a:schemeClr val="tx1"/>
                </a:solidFill>
              </a:rPr>
            </a:br>
            <a:r>
              <a:rPr lang="en-US" altLang="ja-JP" sz="2400" b="1" dirty="0">
                <a:solidFill>
                  <a:schemeClr val="tx1"/>
                </a:solidFill>
              </a:rPr>
              <a:t>						</a:t>
            </a:r>
            <a:r>
              <a:rPr lang="en-US" altLang="ja-JP" sz="2400" b="1" dirty="0" err="1">
                <a:solidFill>
                  <a:schemeClr val="tx1"/>
                </a:solidFill>
              </a:rPr>
              <a:t>etc</a:t>
            </a:r>
            <a:r>
              <a:rPr lang="en-US" altLang="ja-JP" sz="2400" b="1" dirty="0">
                <a:solidFill>
                  <a:schemeClr val="tx1"/>
                </a:solidFill>
              </a:rPr>
              <a:t>…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下矢印 6"/>
          <p:cNvSpPr/>
          <p:nvPr/>
        </p:nvSpPr>
        <p:spPr>
          <a:xfrm>
            <a:off x="755576" y="1268760"/>
            <a:ext cx="432048" cy="4680520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1547664" y="2996952"/>
            <a:ext cx="6624736" cy="1224136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  <a:effectLst>
            <a:glow rad="101600">
              <a:srgbClr val="FF9933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400" b="1" dirty="0">
                <a:solidFill>
                  <a:srgbClr val="FF0000"/>
                </a:solidFill>
              </a:rPr>
              <a:t>MV1SetPosition</a:t>
            </a:r>
            <a:endParaRPr kumimoji="1" lang="ja-JP" altLang="en-US" sz="4400" b="1" dirty="0">
              <a:solidFill>
                <a:srgbClr val="FF0000"/>
              </a:solidFill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1547664" y="4725144"/>
            <a:ext cx="6624736" cy="1224136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  <a:effectLst>
            <a:glow rad="101600">
              <a:srgbClr val="FF9933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400" b="1" dirty="0">
                <a:solidFill>
                  <a:srgbClr val="0000FF"/>
                </a:solidFill>
              </a:rPr>
              <a:t>MV1DrawModel</a:t>
            </a:r>
            <a:endParaRPr kumimoji="1" lang="ja-JP" altLang="en-US" sz="4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25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爆発 1 1"/>
          <p:cNvSpPr/>
          <p:nvPr/>
        </p:nvSpPr>
        <p:spPr>
          <a:xfrm>
            <a:off x="2771775" y="115888"/>
            <a:ext cx="3916363" cy="1441450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作ってみよう</a:t>
            </a: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!!</a:t>
            </a:r>
            <a:endParaRPr lang="ja-JP" altLang="en-US" sz="2000" b="1" dirty="0">
              <a:solidFill>
                <a:srgbClr val="FF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789782" y="1844824"/>
            <a:ext cx="7564437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十字キーを押すとキャラクターが移動するように</a:t>
            </a:r>
            <a:br>
              <a:rPr lang="en-US" altLang="ja-JP" sz="2263" b="1" dirty="0"/>
            </a:br>
            <a:r>
              <a:rPr lang="ja-JP" altLang="en-US" sz="2263" b="1" dirty="0"/>
              <a:t>プログラムを追加しなさい。</a:t>
            </a:r>
            <a:br>
              <a:rPr lang="en-US" altLang="ja-JP" sz="2263" b="1" dirty="0"/>
            </a:br>
            <a:r>
              <a:rPr lang="ja-JP" altLang="en-US" sz="2263" b="1" dirty="0"/>
              <a:t>また、現在のキャラクターの座標を画面左上に表示しなさい。</a:t>
            </a:r>
            <a:br>
              <a:rPr lang="en-US" altLang="ja-JP" sz="2263" b="1" dirty="0"/>
            </a:br>
            <a:r>
              <a:rPr lang="ja-JP" altLang="en-US" sz="2263" b="1" dirty="0"/>
              <a:t>なお、仕様は以下の通りです。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467544" y="3617588"/>
            <a:ext cx="8377900" cy="21817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0000FF"/>
                </a:solidFill>
              </a:rPr>
              <a:t>右矢印</a:t>
            </a:r>
            <a:r>
              <a:rPr lang="ja-JP" altLang="en-US" sz="2263" b="1" dirty="0"/>
              <a:t>：</a:t>
            </a:r>
            <a:r>
              <a:rPr lang="en-US" altLang="ja-JP" sz="2263" b="1" dirty="0"/>
              <a:t>X</a:t>
            </a:r>
            <a:r>
              <a:rPr lang="ja-JP" altLang="en-US" sz="2263" b="1" dirty="0"/>
              <a:t>軸方向をプラスに移動</a:t>
            </a:r>
            <a:r>
              <a:rPr lang="en-US" altLang="ja-JP" sz="2263" b="1" dirty="0"/>
              <a:t>(</a:t>
            </a:r>
            <a:r>
              <a:rPr lang="ja-JP" altLang="en-US" sz="2263" b="1" dirty="0"/>
              <a:t>今回は</a:t>
            </a:r>
            <a:r>
              <a:rPr lang="ja-JP" altLang="en-US" sz="2263" b="1" dirty="0">
                <a:solidFill>
                  <a:srgbClr val="FF0000"/>
                </a:solidFill>
              </a:rPr>
              <a:t>右移動</a:t>
            </a:r>
            <a:r>
              <a:rPr lang="ja-JP" altLang="en-US" sz="2263" b="1" dirty="0"/>
              <a:t>に見える</a:t>
            </a:r>
            <a:r>
              <a:rPr lang="en-US" altLang="ja-JP" sz="2263" b="1" dirty="0"/>
              <a:t>)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0000FF"/>
                </a:solidFill>
              </a:rPr>
              <a:t>左矢印</a:t>
            </a:r>
            <a:r>
              <a:rPr lang="ja-JP" altLang="en-US" sz="2263" b="1" dirty="0"/>
              <a:t>：</a:t>
            </a:r>
            <a:r>
              <a:rPr lang="en-US" altLang="ja-JP" sz="2263" b="1" dirty="0"/>
              <a:t>X</a:t>
            </a:r>
            <a:r>
              <a:rPr lang="ja-JP" altLang="en-US" sz="2263" b="1" dirty="0"/>
              <a:t>軸方向をマイナスに移動</a:t>
            </a:r>
            <a:r>
              <a:rPr lang="en-US" altLang="ja-JP" sz="2263" b="1" dirty="0"/>
              <a:t>(</a:t>
            </a:r>
            <a:r>
              <a:rPr lang="ja-JP" altLang="en-US" sz="2263" b="1" dirty="0"/>
              <a:t>今回は</a:t>
            </a:r>
            <a:r>
              <a:rPr lang="ja-JP" altLang="en-US" sz="2263" b="1" dirty="0">
                <a:solidFill>
                  <a:srgbClr val="FF0000"/>
                </a:solidFill>
              </a:rPr>
              <a:t>左移動</a:t>
            </a:r>
            <a:r>
              <a:rPr lang="ja-JP" altLang="en-US" sz="2263" b="1" dirty="0"/>
              <a:t>に見える</a:t>
            </a:r>
            <a:r>
              <a:rPr lang="en-US" altLang="ja-JP" sz="2263" b="1" dirty="0"/>
              <a:t>)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0000FF"/>
                </a:solidFill>
              </a:rPr>
              <a:t>上矢印</a:t>
            </a:r>
            <a:r>
              <a:rPr lang="ja-JP" altLang="en-US" sz="2263" b="1" dirty="0"/>
              <a:t>：</a:t>
            </a:r>
            <a:r>
              <a:rPr lang="en-US" altLang="ja-JP" sz="2263" b="1" dirty="0"/>
              <a:t>Z</a:t>
            </a:r>
            <a:r>
              <a:rPr lang="ja-JP" altLang="en-US" sz="2263" b="1" dirty="0"/>
              <a:t>軸方向をプラスに移動</a:t>
            </a:r>
            <a:r>
              <a:rPr lang="en-US" altLang="ja-JP" sz="2263" b="1" dirty="0"/>
              <a:t>(</a:t>
            </a:r>
            <a:r>
              <a:rPr lang="ja-JP" altLang="en-US" sz="2263" b="1" dirty="0"/>
              <a:t>今回は</a:t>
            </a:r>
            <a:r>
              <a:rPr lang="ja-JP" altLang="en-US" sz="2263" b="1" dirty="0">
                <a:solidFill>
                  <a:srgbClr val="FF0000"/>
                </a:solidFill>
              </a:rPr>
              <a:t>奥移動</a:t>
            </a:r>
            <a:r>
              <a:rPr lang="ja-JP" altLang="en-US" sz="2263" b="1" dirty="0"/>
              <a:t>に見える</a:t>
            </a:r>
            <a:r>
              <a:rPr lang="en-US" altLang="ja-JP" sz="2263" b="1" dirty="0"/>
              <a:t>)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0000FF"/>
                </a:solidFill>
              </a:rPr>
              <a:t>下矢印</a:t>
            </a:r>
            <a:r>
              <a:rPr lang="ja-JP" altLang="en-US" sz="2263" b="1" dirty="0"/>
              <a:t>：</a:t>
            </a:r>
            <a:r>
              <a:rPr lang="en-US" altLang="ja-JP" sz="2263" b="1" dirty="0"/>
              <a:t>Z</a:t>
            </a:r>
            <a:r>
              <a:rPr lang="ja-JP" altLang="en-US" sz="2263" b="1" dirty="0"/>
              <a:t>軸方向をマイナスに移動</a:t>
            </a:r>
            <a:r>
              <a:rPr lang="en-US" altLang="ja-JP" sz="2263" b="1" dirty="0"/>
              <a:t>(</a:t>
            </a:r>
            <a:r>
              <a:rPr lang="ja-JP" altLang="en-US" sz="2263" b="1" dirty="0"/>
              <a:t>今回は</a:t>
            </a:r>
            <a:r>
              <a:rPr lang="ja-JP" altLang="en-US" sz="2263" b="1" dirty="0">
                <a:solidFill>
                  <a:srgbClr val="FF0000"/>
                </a:solidFill>
              </a:rPr>
              <a:t>手前移動</a:t>
            </a:r>
            <a:r>
              <a:rPr lang="ja-JP" altLang="en-US" sz="2263" b="1" dirty="0"/>
              <a:t>に見える</a:t>
            </a:r>
            <a:r>
              <a:rPr lang="en-US" altLang="ja-JP" sz="2263" b="1" dirty="0"/>
              <a:t>)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0000FF"/>
                </a:solidFill>
              </a:rPr>
              <a:t>シフト＋上矢印</a:t>
            </a:r>
            <a:r>
              <a:rPr lang="ja-JP" altLang="en-US" sz="2263" b="1" dirty="0"/>
              <a:t>：</a:t>
            </a:r>
            <a:r>
              <a:rPr lang="en-US" altLang="ja-JP" sz="2263" b="1" dirty="0"/>
              <a:t>Y</a:t>
            </a:r>
            <a:r>
              <a:rPr lang="ja-JP" altLang="en-US" sz="2263" b="1" dirty="0"/>
              <a:t>軸方向をプラスに移動</a:t>
            </a:r>
            <a:r>
              <a:rPr lang="en-US" altLang="ja-JP" sz="2263" b="1" dirty="0"/>
              <a:t>(</a:t>
            </a:r>
            <a:r>
              <a:rPr lang="ja-JP" altLang="en-US" sz="2263" b="1" dirty="0"/>
              <a:t>今回は</a:t>
            </a:r>
            <a:r>
              <a:rPr lang="ja-JP" altLang="en-US" sz="2263" b="1" dirty="0">
                <a:solidFill>
                  <a:srgbClr val="FF0000"/>
                </a:solidFill>
              </a:rPr>
              <a:t>上移動</a:t>
            </a:r>
            <a:r>
              <a:rPr lang="ja-JP" altLang="en-US" sz="2263" b="1" dirty="0"/>
              <a:t>に見える</a:t>
            </a:r>
            <a:r>
              <a:rPr lang="en-US" altLang="ja-JP" sz="2263" b="1" dirty="0"/>
              <a:t>)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0000FF"/>
                </a:solidFill>
              </a:rPr>
              <a:t>シフト＋下矢印</a:t>
            </a:r>
            <a:r>
              <a:rPr lang="ja-JP" altLang="en-US" sz="2263" b="1" dirty="0"/>
              <a:t>：</a:t>
            </a:r>
            <a:r>
              <a:rPr lang="en-US" altLang="ja-JP" sz="2263" b="1" dirty="0"/>
              <a:t>Y</a:t>
            </a:r>
            <a:r>
              <a:rPr lang="ja-JP" altLang="en-US" sz="2263" b="1" dirty="0"/>
              <a:t>軸方向をマイナスに移動</a:t>
            </a:r>
            <a:r>
              <a:rPr lang="en-US" altLang="ja-JP" sz="2263" b="1" dirty="0"/>
              <a:t>(</a:t>
            </a:r>
            <a:r>
              <a:rPr lang="ja-JP" altLang="en-US" sz="2263" b="1" dirty="0"/>
              <a:t>今回は</a:t>
            </a:r>
            <a:r>
              <a:rPr lang="ja-JP" altLang="en-US" sz="2263" b="1" dirty="0">
                <a:solidFill>
                  <a:srgbClr val="FF0000"/>
                </a:solidFill>
              </a:rPr>
              <a:t>下移動</a:t>
            </a:r>
            <a:r>
              <a:rPr lang="ja-JP" altLang="en-US" sz="2263" b="1" dirty="0"/>
              <a:t>に見える</a:t>
            </a:r>
            <a:r>
              <a:rPr lang="en-US" altLang="ja-JP" sz="2263" b="1" dirty="0"/>
              <a:t>)</a:t>
            </a:r>
            <a:endParaRPr lang="ja-JP" altLang="en-US" sz="2263" b="1" dirty="0"/>
          </a:p>
        </p:txBody>
      </p:sp>
    </p:spTree>
    <p:extLst>
      <p:ext uri="{BB962C8B-B14F-4D97-AF65-F5344CB8AC3E}">
        <p14:creationId xmlns:p14="http://schemas.microsoft.com/office/powerpoint/2010/main" val="813474001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15531</TotalTime>
  <Words>985</Words>
  <Application>Microsoft Office PowerPoint</Application>
  <PresentationFormat>画面に合わせる (4:3)</PresentationFormat>
  <Paragraphs>59</Paragraphs>
  <Slides>14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0" baseType="lpstr">
      <vt:lpstr>HGS創英角ﾎﾟｯﾌﾟ体</vt:lpstr>
      <vt:lpstr>ＭＳ Ｐゴシック</vt:lpstr>
      <vt:lpstr>Arial</vt:lpstr>
      <vt:lpstr>Calibri</vt:lpstr>
      <vt:lpstr>標準デザイン</vt:lpstr>
      <vt:lpstr>Image</vt:lpstr>
      <vt:lpstr>この単元の目標</vt:lpstr>
      <vt:lpstr>1 3Dモデルの移動と表示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570</cp:revision>
  <dcterms:created xsi:type="dcterms:W3CDTF">2013-04-19T02:46:48Z</dcterms:created>
  <dcterms:modified xsi:type="dcterms:W3CDTF">2026-04-01T06:10:01Z</dcterms:modified>
</cp:coreProperties>
</file>